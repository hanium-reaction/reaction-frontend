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849a4da923434e" /><Relationship Type="http://schemas.openxmlformats.org/officeDocument/2006/relationships/extended-properties" Target="/docProps/app.xml" Id="R7929f6ed7e4e4d33" /><Relationship Type="http://schemas.openxmlformats.org/officeDocument/2006/relationships/officeDocument" Target="/ppt/presentation.xml" Id="R60442cc2a2d84e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516dd26f384334"/>
  </p:sldMasterIdLst>
  <p:notesMasterIdLst>
    <p:notesMasterId xmlns:r="http://schemas.openxmlformats.org/officeDocument/2006/relationships" r:id="R2a483712d8d74a93"/>
  </p:notesMasterIdLst>
  <p:sldIdLst>
    <p:sldId xmlns:r="http://schemas.openxmlformats.org/officeDocument/2006/relationships" id="256" r:id="Rd8891a4c0f7249a5"/>
    <p:sldId xmlns:r="http://schemas.openxmlformats.org/officeDocument/2006/relationships" id="257" r:id="R3cc92fa21ffa40ea"/>
    <p:sldId xmlns:r="http://schemas.openxmlformats.org/officeDocument/2006/relationships" id="258" r:id="Rabf9f7c85a0b4e15"/>
    <p:sldId xmlns:r="http://schemas.openxmlformats.org/officeDocument/2006/relationships" id="259" r:id="R39cd152bcf4445c9"/>
    <p:sldId xmlns:r="http://schemas.openxmlformats.org/officeDocument/2006/relationships" id="260" r:id="R89e6d8b0f83d4114"/>
    <p:sldId xmlns:r="http://schemas.openxmlformats.org/officeDocument/2006/relationships" id="261" r:id="Rc5af7fe267eb4a29"/>
    <p:sldId xmlns:r="http://schemas.openxmlformats.org/officeDocument/2006/relationships" id="262" r:id="Rf370113d8b5945dc"/>
    <p:sldId xmlns:r="http://schemas.openxmlformats.org/officeDocument/2006/relationships" id="263" r:id="R5004a4187b094648"/>
    <p:sldId xmlns:r="http://schemas.openxmlformats.org/officeDocument/2006/relationships" id="264" r:id="Rcce77a5716d5430c"/>
    <p:sldId xmlns:r="http://schemas.openxmlformats.org/officeDocument/2006/relationships" id="265" r:id="R408f927897fb465b"/>
    <p:sldId xmlns:r="http://schemas.openxmlformats.org/officeDocument/2006/relationships" id="266" r:id="R38b7f3b70a2f42d9"/>
    <p:sldId xmlns:r="http://schemas.openxmlformats.org/officeDocument/2006/relationships" id="267" r:id="R592bca559b264918"/>
    <p:sldId xmlns:r="http://schemas.openxmlformats.org/officeDocument/2006/relationships" id="268" r:id="R00daf28d843540af"/>
    <p:sldId xmlns:r="http://schemas.openxmlformats.org/officeDocument/2006/relationships" id="269" r:id="Rf804994690624689"/>
  </p:sldIdLst>
  <p:sldSz cx="9144000" cy="6858000"/>
  <p:notesSz cx="6858000" cy="9144000"/>
</p:presentation>
</file>

<file path=ppt/authors.xml><?xml version="1.0" encoding="utf-8"?>
<p188:authorLst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74b2ed821040bf" /><Relationship Type="http://schemas.openxmlformats.org/officeDocument/2006/relationships/slideMaster" Target="/ppt/slideMasters/slideMaster1.xml" Id="Rc2516dd26f384334" /><Relationship Type="http://schemas.openxmlformats.org/officeDocument/2006/relationships/notesMaster" Target="/ppt/notesMasters/notesMaster1.xml" Id="R2a483712d8d74a93" /><Relationship Type="http://schemas.openxmlformats.org/officeDocument/2006/relationships/presProps" Target="/ppt/presProps.xml" Id="R920e3de62a2640c7" /><Relationship Type="http://schemas.openxmlformats.org/officeDocument/2006/relationships/viewProps" Target="/ppt/viewProps.xml" Id="R20a296bcea17478d" /><Relationship Type="http://schemas.openxmlformats.org/officeDocument/2006/relationships/tableStyles" Target="/ppt/tableStyles.xml" Id="R6da9920d39164612" /><Relationship Type="http://schemas.microsoft.com/office/2018/10/relationships/authors" Target="/ppt/authors.xml" Id="R7944a099f5b04b68" /><Relationship Type="http://schemas.openxmlformats.org/officeDocument/2006/relationships/slide" Target="/ppt/slides/slide1.xml" Id="Rd8891a4c0f7249a5" /><Relationship Type="http://schemas.openxmlformats.org/officeDocument/2006/relationships/slide" Target="/ppt/slides/slide2.xml" Id="R3cc92fa21ffa40ea" /><Relationship Type="http://schemas.openxmlformats.org/officeDocument/2006/relationships/slide" Target="/ppt/slides/slide3.xml" Id="Rabf9f7c85a0b4e15" /><Relationship Type="http://schemas.openxmlformats.org/officeDocument/2006/relationships/slide" Target="/ppt/slides/slide4.xml" Id="R39cd152bcf4445c9" /><Relationship Type="http://schemas.openxmlformats.org/officeDocument/2006/relationships/slide" Target="/ppt/slides/slide5.xml" Id="R89e6d8b0f83d4114" /><Relationship Type="http://schemas.openxmlformats.org/officeDocument/2006/relationships/slide" Target="/ppt/slides/slide6.xml" Id="Rc5af7fe267eb4a29" /><Relationship Type="http://schemas.openxmlformats.org/officeDocument/2006/relationships/slide" Target="/ppt/slides/slide7.xml" Id="Rf370113d8b5945dc" /><Relationship Type="http://schemas.openxmlformats.org/officeDocument/2006/relationships/slide" Target="/ppt/slides/slide8.xml" Id="R5004a4187b094648" /><Relationship Type="http://schemas.openxmlformats.org/officeDocument/2006/relationships/slide" Target="/ppt/slides/slide9.xml" Id="Rcce77a5716d5430c" /><Relationship Type="http://schemas.openxmlformats.org/officeDocument/2006/relationships/slide" Target="/ppt/slides/slide10.xml" Id="R408f927897fb465b" /><Relationship Type="http://schemas.openxmlformats.org/officeDocument/2006/relationships/slide" Target="/ppt/slides/slide11.xml" Id="R38b7f3b70a2f42d9" /><Relationship Type="http://schemas.openxmlformats.org/officeDocument/2006/relationships/slide" Target="/ppt/slides/slide12.xml" Id="R592bca559b264918" /><Relationship Type="http://schemas.openxmlformats.org/officeDocument/2006/relationships/slide" Target="/ppt/slides/slide13.xml" Id="R00daf28d843540af" /><Relationship Type="http://schemas.openxmlformats.org/officeDocument/2006/relationships/slide" Target="/ppt/slides/slide14.xml" Id="Rf8049946906246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141c6ec90546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17d3fc25ea4735" /><Relationship Type="http://schemas.openxmlformats.org/officeDocument/2006/relationships/notesMaster" Target="/ppt/notesMasters/notesMaster1.xml" Id="Rcba971301f4048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942cb8b2ad43a3" /><Relationship Type="http://schemas.openxmlformats.org/officeDocument/2006/relationships/notesMaster" Target="/ppt/notesMasters/notesMaster1.xml" Id="R268c71321fdb4a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276d27c33742de" /><Relationship Type="http://schemas.openxmlformats.org/officeDocument/2006/relationships/notesMaster" Target="/ppt/notesMasters/notesMaster1.xml" Id="R0e2a841cd07449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8cd0ce4a834dbd" /><Relationship Type="http://schemas.openxmlformats.org/officeDocument/2006/relationships/notesMaster" Target="/ppt/notesMasters/notesMaster1.xml" Id="R1a275859466c4b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17f0344caa4e9d" /><Relationship Type="http://schemas.openxmlformats.org/officeDocument/2006/relationships/notesMaster" Target="/ppt/notesMasters/notesMaster1.xml" Id="R0491a2fe77cc49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4d21f4ba934794" /><Relationship Type="http://schemas.openxmlformats.org/officeDocument/2006/relationships/notesMaster" Target="/ppt/notesMasters/notesMaster1.xml" Id="R8f210edc637947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ef74d27a094500" /><Relationship Type="http://schemas.openxmlformats.org/officeDocument/2006/relationships/notesMaster" Target="/ppt/notesMasters/notesMaster1.xml" Id="Rb0468e1731f649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50e9cd3a3845db" /><Relationship Type="http://schemas.openxmlformats.org/officeDocument/2006/relationships/notesMaster" Target="/ppt/notesMasters/notesMaster1.xml" Id="R3f28551e255a42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abc19981ad4e48" /><Relationship Type="http://schemas.openxmlformats.org/officeDocument/2006/relationships/notesMaster" Target="/ppt/notesMasters/notesMaster1.xml" Id="R8624a0615c894b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c228d283084cd7" /><Relationship Type="http://schemas.openxmlformats.org/officeDocument/2006/relationships/notesMaster" Target="/ppt/notesMasters/notesMaster1.xml" Id="R851478e863a041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06025dd29b421c" /><Relationship Type="http://schemas.openxmlformats.org/officeDocument/2006/relationships/notesMaster" Target="/ppt/notesMasters/notesMaster1.xml" Id="R2a0d62ca1c4b45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d2094cc5634631" /><Relationship Type="http://schemas.openxmlformats.org/officeDocument/2006/relationships/notesMaster" Target="/ppt/notesMasters/notesMaster1.xml" Id="Rd9c46616f6ca42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e9b97dc9a24311" /><Relationship Type="http://schemas.openxmlformats.org/officeDocument/2006/relationships/notesMaster" Target="/ppt/notesMasters/notesMaster1.xml" Id="R9c822489b7a84d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1edcffdd534c87" /><Relationship Type="http://schemas.openxmlformats.org/officeDocument/2006/relationships/notesMaster" Target="/ppt/notesMasters/notesMaster1.xml" Id="R2f0a6e5ad3fb41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범위: 프론트엔드의 화면과 사용자 동작, 입력과 실행 기록 처리.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화면의 일정과 수치는 시연용 예시이며 실제 사용자 개인정보를 포함하지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유즈케이스: UC-01 실행 계획, UC-02 궁극적 목표와 만다라트, UC-03 집중과 회복, UC-04 주간 일정과 리뷰, UC-05 인박스 전환. 화면 설명 위치: UC-01은 6~7쪽, UC-03은 8~11쪽, UC-04는 12쪽, UC-02와 UC-05는 13쪽.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https://github.com/hanium-reaction/reaction-frontend/blob/9d02ef2/src/screens/RecoveredScreen.tsx</a:t>
            </a:r>
          </a:p>
          <a:p xmlns:a="http://schemas.openxmlformats.org/drawingml/2006/main">
            <a:r>
              <a:t>기존 유즈케이스 번호와 표의 순서를 유지한다. UC-03에서 새 회복 할 일이 생긴 선택은 변경 확인과 승인을 거친다. 단순 시간 변경은 주간 계획에서 직접 고치며, 보류는 새 일정을 만들지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https://github.com/hanium-reaction/reaction-frontend/blob/9d02ef2/capacitor.config.ts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https://github.com/hanium-reaction/reaction-frontend/blob/9d02ef2/src/screens/RecoveredScreen.tsx</a:t>
            </a:r>
          </a:p>
          <a:p xmlns:a="http://schemas.openxmlformats.org/drawingml/2006/main">
            <a:r>
              <a:t>https://github.com/hanium-reaction/reaction-backend/blob/4053c0f301953d461901aa83f096aee7ed23a6b9/src/reaction_backend/api/routes/recovery.py</a:t>
            </a:r>
          </a:p>
          <a:p xmlns:a="http://schemas.openxmlformats.org/drawingml/2006/main">
            <a:r>
              <a:t>Android/iOS 설치형 앱을 제공하는 방향이며, 현재 React 화면을 Capacitor 네이티브 컨테이너에 포함한다. 모든 화면을 플랫폼 고유 UI 위젯으로 다시 구현했다는 뜻은 아니다. 도식의 리플랜은 새 회복 할 일을 만든 경우다. 시간 변경과 보류는 10쪽에 구분한다. 남은 가용 시간 직접 반영과 현재 구현의 차이는 14쪽에 명시한다.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https://github.com/hanium-reaction/reaction-frontend/blob/9d02ef2/src/screens/TodayScreen.tsx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앱의 하단 탭과 오늘의 더보기 메뉴 관계를 편집 가능한 도형과 연결선으로 표현했다. 메뉴 자체의 명칭과 기능 설명의 순번은 별개다.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https://github.com/hanium-reaction/reaction-frontend/blob/9d02ef2/src/screens/GoalIntakeScreen.tsx</a:t>
            </a:r>
          </a:p>
          <a:p xmlns:a="http://schemas.openxmlformats.org/drawingml/2006/main">
            <a:r>
              <a:t>https://github.com/hanium-reaction/reaction-frontend/blob/9d02ef2/src/screens/GoalClassificationScreen.tsx</a:t>
            </a:r>
          </a:p>
          <a:p xmlns:a="http://schemas.openxmlformats.org/drawingml/2006/main">
            <a:r>
              <a:t>실제 UI, 시연용 예시 데이터. 인터뷰는 답변에서 빠진 필드를 추가 질문으로 받고 목표 후보를 만든다. 집중/유지/보류 분류는 사용자가 확인하며, 보류 목표는 계획에서 제외한다. UC-01.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https://github.com/hanium-reaction/reaction-frontend/blob/9d02ef2/src/screens/SetupScreen.tsx</a:t>
            </a:r>
          </a:p>
          <a:p xmlns:a="http://schemas.openxmlformats.org/drawingml/2006/main">
            <a:r>
              <a:t>https://github.com/hanium-reaction/reaction-frontend/blob/9d02ef2/src/screens/MaterialsSearchScreen.tsx</a:t>
            </a:r>
          </a:p>
          <a:p xmlns:a="http://schemas.openxmlformats.org/drawingml/2006/main">
            <a:r>
              <a:t>https://github.com/hanium-reaction/reaction-frontend/blob/9d02ef2/src/screens/WeeklyPlanGenerationScreen.tsx</a:t>
            </a:r>
          </a:p>
          <a:p xmlns:a="http://schemas.openxmlformats.org/drawingml/2006/main">
            <a:r>
              <a:t>실제 UI, 시연용 예시 데이터. 초안 생성과 사용자 승인을 분리한다. UC-01.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https://github.com/hanium-reaction/reaction-frontend/blob/9d02ef2/src/screens/TodayScreen.tsx</a:t>
            </a:r>
          </a:p>
          <a:p xmlns:a="http://schemas.openxmlformats.org/drawingml/2006/main">
            <a:r>
              <a:t>https://github.com/hanium-reaction/reaction-frontend/blob/9d02ef2/src/screens/FocusScreen.tsx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9d02ef2 실제 UI, API 응답은 시연용 가상 데이터. 일시정지와 실패를 구분한다. UC-03.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https://github.com/hanium-reaction/reaction-frontend/blob/9d02ef2/src/screens/FocusScreen.tsx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https://github.com/hanium-reaction/reaction-backend/blob/4053c0f301953d461901aa83f096aee7ed23a6b9/src/reaction_backend/api/routes/recovery.py</a:t>
            </a:r>
          </a:p>
          <a:p xmlns:a="http://schemas.openxmlformats.org/drawingml/2006/main">
            <a:r>
              <a:t>9d02ef2 실제 UI, API 시연용 가상 응답. 실패 사유 1~2개, 메모 최대 300자. 부담 정도 입력 UI가 있으나 현재 백엔드 회복 전략 선택에서 overwhelm_level은 사용하지 않는다. 실패 사유는 전략 선택에 사용한다. UC-03.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https://github.com/hanium-reaction/reaction-frontend/blob/9d02ef2/src/screens/RecoveryScreen.tsx</a:t>
            </a:r>
          </a:p>
          <a:p xmlns:a="http://schemas.openxmlformats.org/drawingml/2006/main">
            <a:r>
              <a:t>https://github.com/hanium-reaction/reaction-frontend/blob/9d02ef2/src/lib/api.ts</a:t>
            </a:r>
          </a:p>
          <a:p xmlns:a="http://schemas.openxmlformats.org/drawingml/2006/main">
            <a:r>
              <a:t>https://github.com/hanium-reaction/reaction-backend/blob/4053c0f301953d461901aa83f096aee7ed23a6b9/src/reaction_backend/api/routes/recovery.py</a:t>
            </a:r>
          </a:p>
          <a:p xmlns:a="http://schemas.openxmlformats.org/drawingml/2006/main">
            <a:r>
              <a:t>https://github.com/hanium-reaction/reaction-backend/blob/4053c0f301953d461901aa83f096aee7ed23a6b9/src/reaction_backend/orchestrator/recovery.py</a:t>
            </a:r>
          </a:p>
          <a:p xmlns:a="http://schemas.openxmlformats.org/drawingml/2006/main">
            <a:r>
              <a:t>9d02ef2 실제 UI, API 시연용 예시 데이터. 회복 카드는 상황에 따라 2~4개다. 규칙이 실패 사유와 반복 실패 단계로 전략을 선택한다. AI는 선두 카드의 작업 문구를 구체화하며 오류 시 기본 문구를 사용한다. DOWNSCOPE/CARRY_OVER는 새 할 일을 만들고 RESCHEDULE/PARK는 만들지 않는다. UC-03.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https://github.com/hanium-reaction/reaction-frontend/blob/9d02ef2/src/screens/RecoveredScreen.tsx</a:t>
            </a:r>
          </a:p>
          <a:p xmlns:a="http://schemas.openxmlformats.org/drawingml/2006/main">
            <a:r>
              <a:t>https://github.com/hanium-reaction/reaction-frontend/blob/9d02ef2/src/screens/RecoveryScreen.tsx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https://github.com/hanium-reaction/reaction-backend/blob/4053c0f301953d461901aa83f096aee7ed23a6b9/src/reaction_backend/api/routes/recovery.py</a:t>
            </a:r>
          </a:p>
          <a:p xmlns:a="http://schemas.openxmlformats.org/drawingml/2006/main">
            <a:r>
              <a:t>9d02ef2 실제 UI, 시연용 예시 데이터. 예시의 작업명과 10:30~10:45는 화면에 나타난 가상 값이며 성과 수치가 아니다. 새 회복 ActionItem이 있는 경우 GET /replan/{executionId}를 통해 before/after를 받고, 사용자 승인 POST 성공 후 scheduled_block 배치 결과를 확인한다. 선택과 일정 승인은 별도 단계다. UC-03.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https://github.com/hanium-reaction/reaction-frontend/blob/9d02ef2/src/screens/WeeklyCalendarScreen.tsx</a:t>
            </a:r>
          </a:p>
          <a:p xmlns:a="http://schemas.openxmlformats.org/drawingml/2006/main">
            <a:r>
              <a:t>https://github.com/hanium-reaction/reaction-frontend/blob/9d02ef2/src/screens/WeeklyReviewScreen.tsx</a:t>
            </a:r>
          </a:p>
          <a:p xmlns:a="http://schemas.openxmlformats.org/drawingml/2006/main">
            <a:r>
              <a:t>실제 UI, 시연용 예시 데이터. 실행 및 회복 지표, 최근 3주 습관 기록과 횟수 제안을 확인한다. openNextCycle은 이전 인터뷰/마일스톤 상태를 비우고 주간 초안 화면으로 이동한다. UC-04.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https://github.com/hanium-reaction/reaction-frontend/blob/9d02ef2/src/screens/InboxScreen.tsx</a:t>
            </a:r>
          </a:p>
          <a:p xmlns:a="http://schemas.openxmlformats.org/drawingml/2006/main">
            <a:r>
              <a:t>https://github.com/hanium-reaction/reaction-frontend/blob/9d02ef2/src/screens/UltimateGoalInterviewScreen.tsx</a:t>
            </a:r>
          </a:p>
          <a:p xmlns:a="http://schemas.openxmlformats.org/drawingml/2006/main">
            <a:r>
              <a:t>https://github.com/hanium-reaction/reaction-frontend/blob/9d02ef2/src/screens/MandalaScreen.tsx</a:t>
            </a:r>
          </a:p>
          <a:p xmlns:a="http://schemas.openxmlformats.org/drawingml/2006/main">
            <a:r>
              <a:t>기존 실제 UI 캡처를 유지했다. 데이터는 시연용 예시다. 궁극적 목표 인터뷰는 UC-02, 인박스 전환은 UC-05다. 중심 목표 1개, 하위 8개 영역, 영역당 최대 8개 행동이다.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https://github.com/hanium-reaction/reaction-frontend/blob/9d02ef2/capacitor.config.ts</a:t>
            </a:r>
          </a:p>
          <a:p xmlns:a="http://schemas.openxmlformats.org/drawingml/2006/main">
            <a:r>
              <a:t>https://github.com/hanium-reaction/reaction-frontend/blob/9d02ef2/src/lib/native.ts</a:t>
            </a:r>
          </a:p>
          <a:p xmlns:a="http://schemas.openxmlformats.org/drawingml/2006/main">
            <a:r>
              <a:t>https://github.com/hanium-reaction/reaction-frontend/blob/9d02ef2/src/lib/platform.ts</a:t>
            </a:r>
          </a:p>
          <a:p xmlns:a="http://schemas.openxmlformats.org/drawingml/2006/main">
            <a:r>
              <a:t>https://github.com/hanium-reaction/reaction-frontend/blob/9d02ef2/.github/workflows/android-release.yml</a:t>
            </a:r>
          </a:p>
          <a:p xmlns:a="http://schemas.openxmlformats.org/drawingml/2006/main">
            <a:r>
              <a:t>https://github.com/hanium-reaction/reaction-frontend/blob/9d02ef2/docs/android-release.md</a:t>
            </a:r>
          </a:p>
          <a:p xmlns:a="http://schemas.openxmlformats.org/drawingml/2006/main">
            <a:r>
              <a:t>https://github.com/hanium-reaction/reaction-frontend/blob/9d02ef2/src/screens/SetupScreen.tsx</a:t>
            </a:r>
          </a:p>
          <a:p xmlns:a="http://schemas.openxmlformats.org/drawingml/2006/main">
            <a:r>
              <a:t>https://github.com/hanium-reaction/reaction-backend/blob/4053c0f301953d461901aa83f096aee7ed23a6b9/src/reaction_backend/api/routes/recovery.py</a:t>
            </a:r>
          </a:p>
          <a:p xmlns:a="http://schemas.openxmlformats.org/drawingml/2006/main">
            <a:r>
              <a:t>https://github.com/hanium-reaction/reaction-backend/blob/4053c0f301953d461901aa83f096aee7ed23a6b9/src/reaction_backend/orchestrator/recovery.py</a:t>
            </a:r>
          </a:p>
          <a:p xmlns:a="http://schemas.openxmlformats.org/drawingml/2006/main">
            <a:r>
              <a:t>제품 제공 방향은 Android/iOS 설치형 네이티브 앱이다. 구현은 React 화면을 Capacitor로 패키징하는 하이브리드 구조이며 플랫폼 고유 UI로 전면 재작성한 앱으로 표현하지 않는다. Android 서명 AAB 생성 워크플로가 있으며 스토어 출시/심사 완료를 의미하지 않는다. nativePushReady는 false, Google 캘린더 버튼은 준비 중 안내를 띄운다. 회복안은 failure_tags/반복 단계로 선택하고, 선택 후 원본 예상 시간 및 현재 시각으로 시간을 보정한다. 남은 가용 시간 직접 반영은 미구현 범위로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2ad17b2bc4e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cda537a5f45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c2368e4ab4e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41ff0361b42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b3715450a4a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42eb8b430455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b53e4fdca42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cf8f90b0f451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4bd347907420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854ab82ad41e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6fc300b554096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B058B98-E26F-45C4-AD54-2282023DE2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16FD5AB0-9968-49DA-B73D-6D8FB51FB6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40FDD0BA-5770-435D-AE91-C8B47BAFD8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F08C18-F846-4F83-9E4A-EF96E909B73F}" type="datetime1">
              <a:t>2026-09-06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C399C6C-648C-4AA5-B332-4DFAC71A4E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897A017-1FDC-4CDD-BD7E-7FF90C17B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7EC41F90-E110-4DB3-A5D2-B08C06574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866B3717-F937-4171-8ADF-7B28F0FC8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3630CC2-A88D-49D9-8161-C83BAE5A83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3DBE8A-08A0-4AE2-B806-C9B9A473B0ED}" type="datetime1">
              <a:t>2026-09-06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67AE01E-2A0E-4503-B51A-A0748CC155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5CB21DF-7229-4A34-A7B4-38F44D5B74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617245"/>
            <a:ext cx="2133600" cy="19613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6B28905-715B-4C0E-A430-AE6A161A7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442D429-631F-43A3-9F09-E98AF6A64A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05FF06AD-0418-4150-B773-9EA794541F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E13E15-7006-4370-B5F6-60D7104AE3B4}" type="datetime1">
              <a:t>2026-09-06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9562A13-CD99-4CB5-83E2-CF3530042F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B0D75F4-86E2-48C0-B6FD-50054E583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9E9AA3-5851-4BDC-AF03-1950F26E7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9977436A-125E-4DA2-86BD-6C1BA90319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37337566-314F-45B9-A81F-CB385C94BE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F681BA63-5B35-46D6-9474-985FA16F0C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D10D11-2C95-44F2-9DFC-D0C737CB5390}" type="datetime1">
              <a:t>2026-09-06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540C3A13-C943-41EA-8AD8-18B080F006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3CB917B-0DA6-4668-B466-0B0001A5E0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68E0910-7169-46FA-9B0F-9C1001F12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1B213A7-0AEB-42CE-94A5-5C344DB326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EA2E6E3E-E08E-457D-8985-1DF1EA35A3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3FAECCE1-9EC8-4C17-85FA-A93FEC81C15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9033FE23-C0C5-4ADD-B2B5-38029CB7E3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3980AE80-6D44-41E3-BE2A-5FE60B1B43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35845-0C4F-469E-8726-3EBFD71077A7}" type="datetime1">
              <a:t>2026-09-06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7CD01B1C-8511-4CCA-92D4-6FA80C873E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B4643395-E6E9-4042-AD4B-F28264A80E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F7BD5-C0B3-43B6-92A8-B325534BB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07AB2A5D-0D48-4FBB-83C3-39EF70656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0FC019-3CDA-4483-987D-B12D1EB4D233}" type="datetime1">
              <a:t>2026-09-06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C9C76022-8F01-40D2-9129-2569CDCD51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21F8534D-DAC1-445F-8274-65C7B2818C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0C5F4DFE-A88C-440D-B611-3C3259CAE3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936E48-2907-481B-8F8C-35E94B4338B9}" type="datetime1">
              <a:t>2026-09-06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73F3C8DA-B84E-4E1A-A2F5-954B340EEC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CD8593F4-7A67-44CB-A658-C297355DF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BC0864-0027-49C8-B0C2-D6805F153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7EBEBA95-1739-40A1-95B3-2CF5EBE493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2F776F4F-6FBB-4B5E-9629-6E73D1CF56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19E93325-AB57-455E-9550-3109A2D172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D1E666-04C9-40C3-88DF-F7C22C7A6172}" type="datetime1">
              <a:t>2026-09-06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9AC30FE3-A212-479D-808D-DE8C95471B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191731E1-408D-4F8E-8B7B-0556923FEB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B59D4B2-A015-44A0-8C2E-90853C308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06C564D9-5731-41BB-9A40-00A26755750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EF3BDB84-AC51-4C27-99D4-CB3A402CA9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D1CC2E4D-4A98-46B5-BEE9-7AC89720E4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D27B48-006F-4BC1-BDC8-3C8CA726AC13}" type="datetime1">
              <a:t>2026-09-06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8A901FAA-4401-4549-9FB9-A94771858D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50CE4E39-FABE-4B2A-B020-E25BCD5F57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695D5C8-159C-45E4-8A78-130CA297C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2FE8E52-747A-45EA-916D-2DC1F4FD1B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CC91281-7798-4DF9-B80D-DE7E0C0DBB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22DE9A-8BD0-4588-90EC-B8326F0668FE}" type="datetime1">
              <a:t>2026-09-06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41046F2-E688-4FC3-AE67-105DABA049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48CBBC4-BACC-45CB-A96C-36F8498A50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0AF13A5C-CC02-4240-BE7E-D45735008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E29E3F2-5CC0-4AAC-9C3B-F3766BEC5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B2119A9-D711-4C46-B146-FEE05016FD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F8B5EE-9957-45ED-8881-249F27AAE9BD}" type="datetime1">
              <a:t>2026-09-06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7B9FF057-95E0-49AC-9809-73422CFFA9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3C8B054-9EFC-4404-AEF6-56800CAB2B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8a2406c79f47a9" /><Relationship Type="http://schemas.openxmlformats.org/officeDocument/2006/relationships/slideLayout" Target="/ppt/slideLayouts/slideLayout1.xml" Id="R813dd45a89c04c54" /><Relationship Type="http://schemas.openxmlformats.org/officeDocument/2006/relationships/slideLayout" Target="/ppt/slideLayouts/slideLayout2.xml" Id="Rf69b00e0b1e64edf" /><Relationship Type="http://schemas.openxmlformats.org/officeDocument/2006/relationships/slideLayout" Target="/ppt/slideLayouts/slideLayout3.xml" Id="R671d6132d5144342" /><Relationship Type="http://schemas.openxmlformats.org/officeDocument/2006/relationships/slideLayout" Target="/ppt/slideLayouts/slideLayout4.xml" Id="Rf23f4f2114b64691" /><Relationship Type="http://schemas.openxmlformats.org/officeDocument/2006/relationships/slideLayout" Target="/ppt/slideLayouts/slideLayout5.xml" Id="R10e82e7071bb44e2" /><Relationship Type="http://schemas.openxmlformats.org/officeDocument/2006/relationships/slideLayout" Target="/ppt/slideLayouts/slideLayout6.xml" Id="Rf257a060312b4e1b" /><Relationship Type="http://schemas.openxmlformats.org/officeDocument/2006/relationships/slideLayout" Target="/ppt/slideLayouts/slideLayout7.xml" Id="R0c4f50d3ed9a4719" /><Relationship Type="http://schemas.openxmlformats.org/officeDocument/2006/relationships/slideLayout" Target="/ppt/slideLayouts/slideLayout8.xml" Id="Ra510409113e24514" /><Relationship Type="http://schemas.openxmlformats.org/officeDocument/2006/relationships/slideLayout" Target="/ppt/slideLayouts/slideLayout9.xml" Id="R6b9d518a9cee4011" /><Relationship Type="http://schemas.openxmlformats.org/officeDocument/2006/relationships/slideLayout" Target="/ppt/slideLayouts/slideLayout10.xml" Id="R2624601715324adc" /><Relationship Type="http://schemas.openxmlformats.org/officeDocument/2006/relationships/slideLayout" Target="/ppt/slideLayouts/slideLayout11.xml" Id="R1ccd74a3522b4f0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5222677E-F595-41DE-901C-E9946DD27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21CDBBE-061D-43D1-BA2A-14F2DB5C9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2271BB6-B75A-4B0D-9469-A71BA8FD783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26EC2E-D34C-4476-B4C7-64731BF56572}" type="datetime1">
              <a:t>2026-09-06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088A60C-94D7-4815-A625-646827715A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08CC7DD-ED11-4EB4-99CA-698879F384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3dd45a89c04c54"/>
    <p:sldLayoutId xmlns:r="http://schemas.openxmlformats.org/officeDocument/2006/relationships" id="2147483650" r:id="Rf69b00e0b1e64edf"/>
    <p:sldLayoutId xmlns:r="http://schemas.openxmlformats.org/officeDocument/2006/relationships" id="2147483651" r:id="R671d6132d5144342"/>
    <p:sldLayoutId xmlns:r="http://schemas.openxmlformats.org/officeDocument/2006/relationships" id="2147483652" r:id="Rf23f4f2114b64691"/>
    <p:sldLayoutId xmlns:r="http://schemas.openxmlformats.org/officeDocument/2006/relationships" id="2147483653" r:id="R10e82e7071bb44e2"/>
    <p:sldLayoutId xmlns:r="http://schemas.openxmlformats.org/officeDocument/2006/relationships" id="2147483654" r:id="Rf257a060312b4e1b"/>
    <p:sldLayoutId xmlns:r="http://schemas.openxmlformats.org/officeDocument/2006/relationships" id="2147483655" r:id="R0c4f50d3ed9a4719"/>
    <p:sldLayoutId xmlns:r="http://schemas.openxmlformats.org/officeDocument/2006/relationships" id="2147483656" r:id="Ra510409113e24514"/>
    <p:sldLayoutId xmlns:r="http://schemas.openxmlformats.org/officeDocument/2006/relationships" id="2147483657" r:id="R6b9d518a9cee4011"/>
    <p:sldLayoutId xmlns:r="http://schemas.openxmlformats.org/officeDocument/2006/relationships" id="2147483658" r:id="R2624601715324adc"/>
    <p:sldLayoutId xmlns:r="http://schemas.openxmlformats.org/officeDocument/2006/relationships" id="2147483659" r:id="R1ccd74a3522b4f0a"/>
  </p:sldLayoutIdLst>
  <p:hf sldNum="0" hd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fdc47687f4e2c" /><Relationship Type="http://schemas.openxmlformats.org/officeDocument/2006/relationships/image" Target="/ppt/media/image.png" Id="R36ad552ffed0411b" /><Relationship Type="http://schemas.openxmlformats.org/officeDocument/2006/relationships/image" Target="/ppt/media/image2.png" Id="Raf06f869ddb2435d" /><Relationship Type="http://schemas.openxmlformats.org/officeDocument/2006/relationships/notesSlide" Target="/ppt/notesSlides/notesSlide1.xml" Id="Rfbb5de57865445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10da8e25b54796" /><Relationship Type="http://schemas.openxmlformats.org/officeDocument/2006/relationships/image" Target="/ppt/media/image3.png" Id="R01655628b63d41f3" /><Relationship Type="http://schemas.openxmlformats.org/officeDocument/2006/relationships/notesSlide" Target="/ppt/notesSlides/notesSlide2.xml" Id="R3f0999e56a0147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c153585b444ae9" /><Relationship Type="http://schemas.openxmlformats.org/officeDocument/2006/relationships/image" Target="/ppt/media/image3.png" Id="R83976f1a8c2c4182" /><Relationship Type="http://schemas.openxmlformats.org/officeDocument/2006/relationships/notesSlide" Target="/ppt/notesSlides/notesSlide3.xml" Id="Rd04ca32ee6e647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a9d39c77964099" /><Relationship Type="http://schemas.openxmlformats.org/officeDocument/2006/relationships/image" Target="/ppt/media/image3.png" Id="R66c7a65100d24f39" /><Relationship Type="http://schemas.openxmlformats.org/officeDocument/2006/relationships/notesSlide" Target="/ppt/notesSlides/notesSlide4.xml" Id="R2852424db8e541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96338b8c4e4a00" /><Relationship Type="http://schemas.openxmlformats.org/officeDocument/2006/relationships/image" Target="/ppt/media/image3.png" Id="R0f8a319ce1a14b8b" /><Relationship Type="http://schemas.openxmlformats.org/officeDocument/2006/relationships/notesSlide" Target="/ppt/notesSlides/notesSlide5.xml" Id="Rbee91c3c2cff4c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5b82de3702411e" /><Relationship Type="http://schemas.openxmlformats.org/officeDocument/2006/relationships/image" Target="/ppt/media/image3.png" Id="Re0541596eb104ff1" /><Relationship Type="http://schemas.openxmlformats.org/officeDocument/2006/relationships/image" Target="/ppt/media/image4.png" Id="Rcfc17c1c97f04356" /><Relationship Type="http://schemas.openxmlformats.org/officeDocument/2006/relationships/image" Target="/ppt/media/image5.png" Id="R9468686d1a6144a5" /><Relationship Type="http://schemas.openxmlformats.org/officeDocument/2006/relationships/notesSlide" Target="/ppt/notesSlides/notesSlide6.xml" Id="Rf5b28afbf61145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f74d88a80f438a" /><Relationship Type="http://schemas.openxmlformats.org/officeDocument/2006/relationships/image" Target="/ppt/media/image3.png" Id="R07c7cd30ba994207" /><Relationship Type="http://schemas.openxmlformats.org/officeDocument/2006/relationships/image" Target="/ppt/media/image6.png" Id="Rc38eb9733aac490d" /><Relationship Type="http://schemas.openxmlformats.org/officeDocument/2006/relationships/notesSlide" Target="/ppt/notesSlides/notesSlide7.xml" Id="Rdf9d16008bcb44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2d80465a8940b9" /><Relationship Type="http://schemas.openxmlformats.org/officeDocument/2006/relationships/image" Target="/ppt/media/image3.png" Id="Rc09811eeb85b44bc" /><Relationship Type="http://schemas.openxmlformats.org/officeDocument/2006/relationships/image" Target="/ppt/media/image7.png" Id="R14ba2e31793447f4" /><Relationship Type="http://schemas.openxmlformats.org/officeDocument/2006/relationships/image" Target="/ppt/media/image8.png" Id="Rc0afa37f630243c3" /><Relationship Type="http://schemas.openxmlformats.org/officeDocument/2006/relationships/notesSlide" Target="/ppt/notesSlides/notesSlide8.xml" Id="Rc9206d5d74c243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2e050ba2294b8b" /><Relationship Type="http://schemas.openxmlformats.org/officeDocument/2006/relationships/image" Target="/ppt/media/image3.png" Id="R152e9f33b74f40d1" /><Relationship Type="http://schemas.openxmlformats.org/officeDocument/2006/relationships/image" Target="/ppt/media/image9.png" Id="Raf3427ce359844b7" /><Relationship Type="http://schemas.openxmlformats.org/officeDocument/2006/relationships/image" Target="/ppt/media/image10.png" Id="R59ac6c18648842de" /><Relationship Type="http://schemas.openxmlformats.org/officeDocument/2006/relationships/notesSlide" Target="/ppt/notesSlides/notesSlide9.xml" Id="R55900e95a2794c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1b35fab3da474e" /><Relationship Type="http://schemas.openxmlformats.org/officeDocument/2006/relationships/image" Target="/ppt/media/image3.png" Id="Rc1bde921119949c9" /><Relationship Type="http://schemas.openxmlformats.org/officeDocument/2006/relationships/image" Target="/ppt/media/image11.png" Id="R9d5a2d95bb5d41de" /><Relationship Type="http://schemas.openxmlformats.org/officeDocument/2006/relationships/notesSlide" Target="/ppt/notesSlides/notesSlide10.xml" Id="R8a50db8bf57943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d1a88b72f44fc1" /><Relationship Type="http://schemas.openxmlformats.org/officeDocument/2006/relationships/image" Target="/ppt/media/image3.png" Id="Rc126c51f59ff4a3e" /><Relationship Type="http://schemas.openxmlformats.org/officeDocument/2006/relationships/image" Target="/ppt/media/image12.png" Id="Rdf556045cd4344b7" /><Relationship Type="http://schemas.openxmlformats.org/officeDocument/2006/relationships/notesSlide" Target="/ppt/notesSlides/notesSlide11.xml" Id="Rc47f1576216f40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a7ed4800904232" /><Relationship Type="http://schemas.openxmlformats.org/officeDocument/2006/relationships/image" Target="/ppt/media/image3.png" Id="R6594fd104ba04514" /><Relationship Type="http://schemas.openxmlformats.org/officeDocument/2006/relationships/image" Target="/ppt/media/image13.png" Id="R71586bd2e68a452f" /><Relationship Type="http://schemas.openxmlformats.org/officeDocument/2006/relationships/image" Target="/ppt/media/image14.png" Id="Re83aa9e92f6e4467" /><Relationship Type="http://schemas.openxmlformats.org/officeDocument/2006/relationships/notesSlide" Target="/ppt/notesSlides/notesSlide12.xml" Id="R28868bb3f4f34f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7ec2fe8fd94616" /><Relationship Type="http://schemas.openxmlformats.org/officeDocument/2006/relationships/image" Target="/ppt/media/image3.png" Id="Rd3fd8d8065be4ea3" /><Relationship Type="http://schemas.openxmlformats.org/officeDocument/2006/relationships/image" Target="/ppt/media/image15.png" Id="R95b5392196894b8c" /><Relationship Type="http://schemas.openxmlformats.org/officeDocument/2006/relationships/image" Target="/ppt/media/image16.png" Id="Rf1e03f50181548ca" /><Relationship Type="http://schemas.openxmlformats.org/officeDocument/2006/relationships/image" Target="/ppt/media/image17.png" Id="Rc1973e32fefa4abc" /><Relationship Type="http://schemas.openxmlformats.org/officeDocument/2006/relationships/notesSlide" Target="/ppt/notesSlides/notesSlide13.xml" Id="R004d54d80de043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11f195217745ad" /><Relationship Type="http://schemas.openxmlformats.org/officeDocument/2006/relationships/image" Target="/ppt/media/image3.png" Id="Rf510d6b00e3e4d33" /><Relationship Type="http://schemas.openxmlformats.org/officeDocument/2006/relationships/notesSlide" Target="/ppt/notesSlides/notesSlide14.xml" Id="Rd45cc904e8aa44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F2A6B4A0-DDF5-4F46-B14B-0A3A8567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09120"/>
            <a:ext cx="9144000" cy="234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pic>
        <p:nvPicPr>
          <p:cNvPr id="41" name="Picture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ad552ffed0411b"/>
          <a:srcRect xmlns:a="http://schemas.openxmlformats.org/drawingml/2006/main" l="1036" t="0" r="0" b="0"/>
          <a:stretch xmlns:a="http://schemas.openxmlformats.org/drawingml/2006/main"/>
        </p:blipFill>
        <p:spPr>
          <a:xfrm xmlns:a="http://schemas.openxmlformats.org/drawingml/2006/main" rot="21600000">
            <a:off x="0" y="764704"/>
            <a:ext cx="4716016" cy="35243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6f869ddb2435d"/>
          <a:srcRect xmlns:a="http://schemas.openxmlformats.org/drawingml/2006/main" l="21956" t="40516" r="21023" b="44641"/>
          <a:stretch xmlns:a="http://schemas.openxmlformats.org/drawingml/2006/main"/>
        </p:blipFill>
        <p:spPr>
          <a:xfrm xmlns:a="http://schemas.openxmlformats.org/drawingml/2006/main">
            <a:off x="7528235" y="98344"/>
            <a:ext cx="1498208" cy="347199"/>
          </a:xfrm>
          <a:prstGeom xmlns:a="http://schemas.openxmlformats.org/drawingml/2006/main" prst="rect">
            <a:avLst/>
          </a:prstGeom>
        </p:spPr>
      </p:pic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C838B818-4722-41D6-9999-FF5BF372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7315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3675" b="1" lang="ko-KR">
                <a:solidFill>
                  <a:srgbClr val="9A3535"/>
                </a:solidFill>
                <a:latin typeface="맑은 고딕"/>
                <a:ea typeface="맑은 고딕"/>
                <a:cs typeface="맑은 고딕"/>
              </a:defRPr>
            </a:pPr>
            <a:r>
              <a:rPr sz="3675" b="1" lang="ko-KR">
                <a:solidFill>
                  <a:srgbClr val="9A3535"/>
                </a:solidFill>
                <a:latin typeface="맑은 고딕"/>
                <a:ea typeface="맑은 고딕"/>
                <a:cs typeface="맑은 고딕"/>
              </a:rPr>
              <a:t>응용소프트웨어 제작설계서</a:t>
            </a:r>
          </a:p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87AD1061-17E8-466C-B723-EFB59BE3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86200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2400" b="1" lang="ko-KR">
                <a:solidFill>
                  <a:srgbClr val="77787A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1" lang="ko-KR">
                <a:solidFill>
                  <a:srgbClr val="77787A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20D12458-C72B-4807-9B2D-D568ACD8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9650"/>
            <a:ext cx="5581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1950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rPr>
              <a:t>계획, 실행, 회복과 재계획</a:t>
            </a:r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03F00555-8D46-42A9-8560-52F269D8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530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1725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rPr>
              <a:t>2026. 09. 06</a:t>
            </a:r>
          </a:p>
        </p:txBody>
      </p:sp>
    </p:spTree>
    <p:extLst>
      <p:ext uri="{BB962C8B-B14F-4D97-AF65-F5344CB8AC3E}">
        <p14:creationId xmlns:p14="http://schemas.microsoft.com/office/powerpoint/2010/main" val="3389256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7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55628b63d41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9FE50F3F-71C9-4FA1-8008-8A6D76BD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사용자와 주요 사용 목적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29ED21C8-A5D5-4F2C-8CB4-E1A3192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기능 정의 / 사용자와 사용 목적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8BDF2A46-962C-445F-A8F6-5BD37D88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3D0E5E44-B9CE-457B-9322-5A9DAEDB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58197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D34F7935-3C52-49DC-893E-A1268255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75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465126D4-4CBE-4778-A5BE-3D0F8EC8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276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9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</p:txBody>
      </p:sp>
      <p:sp>
        <p:nvSpPr>
          <p:cNvPr id="93" name="타원 92">
            <a:extLst xmlns:a="http://schemas.openxmlformats.org/drawingml/2006/main">
              <a:ext uri="{FF2B5EF4-FFF2-40B4-BE49-F238E27FC236}">
                <a16:creationId xmlns:a16="http://schemas.microsoft.com/office/drawing/2014/main" id="{78432A2C-3BE1-4C87-844F-3205C1E7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UC-01  목표별 실행 계획 만들기</a:t>
            </a:r>
          </a:p>
        </p:txBody>
      </p:sp>
      <p:cxnSp>
        <p:nvCxnSpPr>
          <p:cNvPr id="185" name="직선 화살표 연결선 115"/>
          <p:cNvCxnSpPr>
            <a:stCxn xmlns:a="http://schemas.openxmlformats.org/drawingml/2006/main" id="92" idx="3"/>
            <a:endCxn xmlns:a="http://schemas.openxmlformats.org/drawingml/2006/main" id="93" idx="2"/>
          </p:cNvCxnSpPr>
          <p:nvPr/>
        </p:nvCxnSpPr>
        <p:spPr>
          <a:xfrm xmlns:a="http://schemas.openxmlformats.org/drawingml/2006/main" flipV="1">
            <a:off x="1733550" y="2624138"/>
            <a:ext cx="1733550" cy="135731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5" name="타원 94">
            <a:extLst xmlns:a="http://schemas.openxmlformats.org/drawingml/2006/main">
              <a:ext uri="{FF2B5EF4-FFF2-40B4-BE49-F238E27FC236}">
                <a16:creationId xmlns:a16="http://schemas.microsoft.com/office/drawing/2014/main" id="{EF73DD45-40F7-4220-A0E2-2844A40E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7657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UC-02  궁극적 목표와 만다라트</a:t>
            </a:r>
          </a:p>
        </p:txBody>
      </p:sp>
      <p:cxnSp>
        <p:nvCxnSpPr>
          <p:cNvPr id="187" name="직선 화살표 연결선 117"/>
          <p:cNvCxnSpPr>
            <a:stCxn xmlns:a="http://schemas.openxmlformats.org/drawingml/2006/main" id="92" idx="3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1733550" y="3367088"/>
            <a:ext cx="1733550" cy="6143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7" name="타원 96">
            <a:extLst xmlns:a="http://schemas.openxmlformats.org/drawingml/2006/main">
              <a:ext uri="{FF2B5EF4-FFF2-40B4-BE49-F238E27FC236}">
                <a16:creationId xmlns:a16="http://schemas.microsoft.com/office/drawing/2014/main" id="{6BC701CF-46AA-4C52-89CD-BB0E5D51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95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UC-03  집중과 회복 기록</a:t>
            </a:r>
          </a:p>
        </p:txBody>
      </p:sp>
      <p:cxnSp>
        <p:nvCxnSpPr>
          <p:cNvPr id="189" name="직선 화살표 연결선 119"/>
          <p:cNvCxnSpPr>
            <a:stCxn xmlns:a="http://schemas.openxmlformats.org/drawingml/2006/main" id="92" idx="3"/>
            <a:endCxn xmlns:a="http://schemas.openxmlformats.org/drawingml/2006/main" id="97" idx="2"/>
          </p:cNvCxnSpPr>
          <p:nvPr/>
        </p:nvCxnSpPr>
        <p:spPr>
          <a:xfrm xmlns:a="http://schemas.openxmlformats.org/drawingml/2006/main">
            <a:off x="1733550" y="3981450"/>
            <a:ext cx="1733550" cy="1285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9" name="타원 98">
            <a:extLst xmlns:a="http://schemas.openxmlformats.org/drawingml/2006/main">
              <a:ext uri="{FF2B5EF4-FFF2-40B4-BE49-F238E27FC236}">
                <a16:creationId xmlns:a16="http://schemas.microsoft.com/office/drawing/2014/main" id="{C77C3EDF-A544-4D71-85DA-3D4DA0B6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6247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UC-04  주간 일정과 리뷰</a:t>
            </a:r>
          </a:p>
        </p:txBody>
      </p:sp>
      <p:cxnSp>
        <p:nvCxnSpPr>
          <p:cNvPr id="191" name="직선 화살표 연결선 121"/>
          <p:cNvCxnSpPr>
            <a:stCxn xmlns:a="http://schemas.openxmlformats.org/drawingml/2006/main" id="92" idx="3"/>
            <a:endCxn xmlns:a="http://schemas.openxmlformats.org/drawingml/2006/main" id="99" idx="2"/>
          </p:cNvCxnSpPr>
          <p:nvPr/>
        </p:nvCxnSpPr>
        <p:spPr>
          <a:xfrm xmlns:a="http://schemas.openxmlformats.org/drawingml/2006/main">
            <a:off x="1733550" y="3981450"/>
            <a:ext cx="1733550" cy="87153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101" name="타원 100">
            <a:extLst xmlns:a="http://schemas.openxmlformats.org/drawingml/2006/main">
              <a:ext uri="{FF2B5EF4-FFF2-40B4-BE49-F238E27FC236}">
                <a16:creationId xmlns:a16="http://schemas.microsoft.com/office/drawing/2014/main" id="{79DB7F9B-0D94-452D-9C45-344312DC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054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UC-05  메모를 목표와 할 일로 전환</a:t>
            </a:r>
          </a:p>
        </p:txBody>
      </p:sp>
      <p:cxnSp>
        <p:nvCxnSpPr>
          <p:cNvPr id="193" name="직선 화살표 연결선 123"/>
          <p:cNvCxnSpPr>
            <a:stCxn xmlns:a="http://schemas.openxmlformats.org/drawingml/2006/main" id="92" idx="3"/>
            <a:endCxn xmlns:a="http://schemas.openxmlformats.org/drawingml/2006/main" id="101" idx="2"/>
          </p:cNvCxnSpPr>
          <p:nvPr/>
        </p:nvCxnSpPr>
        <p:spPr>
          <a:xfrm xmlns:a="http://schemas.openxmlformats.org/drawingml/2006/main">
            <a:off x="1733550" y="3981450"/>
            <a:ext cx="1733550" cy="16144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76f1a8c2c41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B34EB077-2A1E-4205-BB08-321D287C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시작 조건과 완료 결과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735EBCC0-6F37-48AB-BD3B-E890C654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기능 정의 / 시작 조건과 결과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5470A2A5-C3CC-4E75-AFEF-A60C3911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graphicFrame>
        <p:nvGraphicFramePr>
          <p:cNvPr id="103" name="표 100"/>
          <p:cNvGraphicFramePr/>
          <p:nvPr/>
        </p:nvGraphicFramePr>
        <p:xfrm>
          <a:off xmlns:a="http://schemas.openxmlformats.org/drawingml/2006/main" x="419100" y="1857375"/>
          <a:ext xmlns:a="http://schemas.openxmlformats.org/drawingml/2006/main" cx="8305800" cy="4191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600"/>
                <a:gridCol w="2790825"/>
                <a:gridCol w="3762375"/>
              </a:tblGrid>
              <a:tr h="381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목적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 조건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결과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UC-01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계획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목표를 입력하거나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미계획 목표를 선택한다.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수정하고 승인한 할 일이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오늘과 주간 일정에 표시된다.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UC-02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만다라트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관리에서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궁극적 목표를 만든다.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 목표, 하위 8개 영역,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영역별 행동을 관리한다.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UC-03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실행과 회복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할 일을 시작한다.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못한 경우 원인을 남긴다.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결과를 기록한다. 회복 선택에 따라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변경을 승인하거나 일정을 직접 고친다.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UC-04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일정과 리뷰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계획이나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리뷰를 연다.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수정 결과와 실행 기록,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습관 조정 제안을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UC-05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전환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생각이나 자료를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인박스에 적어둔다.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원문을 남긴 채 목표, 할 일로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옮기거나 자료 단계를 채택한다.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951BB04B-C7B9-4DEA-A345-C87036A5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공통 조건: 로그인한 사용자. 저장하지 못한 경우에는 완료로 처리하지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 개요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2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7a65100d24f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24D1E2BC-51CC-4B56-AAAC-9076DC19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계획부터 실패 후 다시 실행하기까지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0D0C55DC-EBD7-4090-A629-E22B7E13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CDE6A9A-9722-4FBE-B95F-D23E859C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84" name="직사각형 183">
            <a:extLst xmlns:a="http://schemas.openxmlformats.org/drawingml/2006/main">
              <a:ext uri="{FF2B5EF4-FFF2-40B4-BE49-F238E27FC236}">
                <a16:creationId xmlns:a16="http://schemas.microsoft.com/office/drawing/2014/main" id="{11BF3DB2-83A1-458E-BB56-8C9DA0C8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830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계획이 어긋났을 때 다시 실행할 방법을 찾는 네이티브 앱이다.</a:t>
            </a:r>
          </a:p>
        </p:txBody>
      </p:sp>
      <p:sp>
        <p:nvSpPr>
          <p:cNvPr id="185" name="직사각형 184">
            <a:extLst xmlns:a="http://schemas.openxmlformats.org/drawingml/2006/main">
              <a:ext uri="{FF2B5EF4-FFF2-40B4-BE49-F238E27FC236}">
                <a16:creationId xmlns:a16="http://schemas.microsoft.com/office/drawing/2014/main" id="{4B8D6C30-ABD6-4BC0-A1F8-97B4862E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90800"/>
            <a:ext cx="2476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딥 인터뷰와 계획 생성</a:t>
            </a:r>
          </a:p>
        </p:txBody>
      </p:sp>
      <p:sp>
        <p:nvSpPr>
          <p:cNvPr id="186" name="직사각형 185">
            <a:extLst xmlns:a="http://schemas.openxmlformats.org/drawingml/2006/main">
              <a:ext uri="{FF2B5EF4-FFF2-40B4-BE49-F238E27FC236}">
                <a16:creationId xmlns:a16="http://schemas.microsoft.com/office/drawing/2014/main" id="{4F53859F-5F3E-4F86-9839-6CB024D9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0800"/>
            <a:ext cx="2476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할 일과 집중</a:t>
            </a:r>
          </a:p>
        </p:txBody>
      </p:sp>
      <p:sp>
        <p:nvSpPr>
          <p:cNvPr id="187" name="직사각형 186">
            <a:extLst xmlns:a="http://schemas.openxmlformats.org/drawingml/2006/main">
              <a:ext uri="{FF2B5EF4-FFF2-40B4-BE49-F238E27FC236}">
                <a16:creationId xmlns:a16="http://schemas.microsoft.com/office/drawing/2014/main" id="{601EBA7D-1D60-4017-B87E-16410434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90800"/>
            <a:ext cx="2476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9E472F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실패 기록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실행 결과와 원인</a:t>
            </a:r>
          </a:p>
        </p:txBody>
      </p:sp>
      <p:sp>
        <p:nvSpPr>
          <p:cNvPr id="188" name="직사각형 187">
            <a:extLst xmlns:a="http://schemas.openxmlformats.org/drawingml/2006/main">
              <a:ext uri="{FF2B5EF4-FFF2-40B4-BE49-F238E27FC236}">
                <a16:creationId xmlns:a16="http://schemas.microsoft.com/office/drawing/2014/main" id="{13133D48-85F5-433B-8EE1-37BD0BC2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43375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9E472F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회복안 선택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다시 할 분량과 방법</a:t>
            </a:r>
          </a:p>
        </p:txBody>
      </p:sp>
      <p:sp>
        <p:nvSpPr>
          <p:cNvPr id="189" name="직사각형 188">
            <a:extLst xmlns:a="http://schemas.openxmlformats.org/drawingml/2006/main">
              <a:ext uri="{FF2B5EF4-FFF2-40B4-BE49-F238E27FC236}">
                <a16:creationId xmlns:a16="http://schemas.microsoft.com/office/drawing/2014/main" id="{3A8F3FF3-5A49-46EE-A45F-349F6126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9E472F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리플랜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변경 전후 확인과 승인</a:t>
            </a:r>
          </a:p>
        </p:txBody>
      </p:sp>
      <p:sp>
        <p:nvSpPr>
          <p:cNvPr id="190" name="직사각형 189">
            <a:extLst xmlns:a="http://schemas.openxmlformats.org/drawingml/2006/main">
              <a:ext uri="{FF2B5EF4-FFF2-40B4-BE49-F238E27FC236}">
                <a16:creationId xmlns:a16="http://schemas.microsoft.com/office/drawing/2014/main" id="{ECEC9005-2757-4CBD-A9F8-7AD4793D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43375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다시 실행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바뀐 할 일 시작하기</a:t>
            </a:r>
          </a:p>
        </p:txBody>
      </p:sp>
      <p:cxnSp>
        <p:nvCxnSpPr>
          <p:cNvPr id="240" name="직선 화살표 연결선 216"/>
          <p:cNvCxnSpPr>
            <a:stCxn xmlns:a="http://schemas.openxmlformats.org/drawingml/2006/main" id="185" idx="3"/>
            <a:endCxn xmlns:a="http://schemas.openxmlformats.org/drawingml/2006/main" id="186" idx="1"/>
          </p:cNvCxnSpPr>
          <p:nvPr/>
        </p:nvCxnSpPr>
        <p:spPr>
          <a:xfrm xmlns:a="http://schemas.openxmlformats.org/drawingml/2006/main">
            <a:off x="2895600" y="29860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cxnSp>
        <p:nvCxnSpPr>
          <p:cNvPr id="241" name="직선 화살표 연결선 217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5810250" y="29860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cxnSp>
        <p:nvCxnSpPr>
          <p:cNvPr id="242" name="직선 화살표 연결선 218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7486650" y="338137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cxnSp>
        <p:nvCxnSpPr>
          <p:cNvPr id="243" name="직선 화살표 연결선 219"/>
          <p:cNvCxnSpPr>
            <a:stCxn xmlns:a="http://schemas.openxmlformats.org/drawingml/2006/main" id="188" idx="1"/>
            <a:endCxn xmlns:a="http://schemas.openxmlformats.org/drawingml/2006/main" id="189" idx="3"/>
          </p:cNvCxnSpPr>
          <p:nvPr/>
        </p:nvCxnSpPr>
        <p:spPr>
          <a:xfrm xmlns:a="http://schemas.openxmlformats.org/drawingml/2006/main" flipH="1">
            <a:off x="5810250" y="45624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cxnSp>
        <p:nvCxnSpPr>
          <p:cNvPr id="244" name="직선 화살표 연결선 220"/>
          <p:cNvCxnSpPr>
            <a:stCxn xmlns:a="http://schemas.openxmlformats.org/drawingml/2006/main" id="189" idx="1"/>
            <a:endCxn xmlns:a="http://schemas.openxmlformats.org/drawingml/2006/main" id="190" idx="3"/>
          </p:cNvCxnSpPr>
          <p:nvPr/>
        </p:nvCxnSpPr>
        <p:spPr>
          <a:xfrm xmlns:a="http://schemas.openxmlformats.org/drawingml/2006/main" flipH="1">
            <a:off x="2895600" y="45624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cxnSp>
        <p:nvCxnSpPr>
          <p:cNvPr id="245" name="연결선: 꺾임 221"/>
          <p:cNvCxnSpPr>
            <a:stCxn xmlns:a="http://schemas.openxmlformats.org/drawingml/2006/main" id="190" idx="0"/>
            <a:endCxn xmlns:a="http://schemas.openxmlformats.org/drawingml/2006/main" id="186" idx="2"/>
          </p:cNvCxnSpPr>
          <p:nvPr/>
        </p:nvCxnSpPr>
        <p:spPr>
          <a:xfrm xmlns:a="http://schemas.openxmlformats.org/drawingml/2006/main" flipV="1">
            <a:off x="1657350" y="3381375"/>
            <a:ext cx="291465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sp>
        <p:nvSpPr>
          <p:cNvPr id="197" name="직사각형 196">
            <a:extLst xmlns:a="http://schemas.openxmlformats.org/drawingml/2006/main">
              <a:ext uri="{FF2B5EF4-FFF2-40B4-BE49-F238E27FC236}">
                <a16:creationId xmlns:a16="http://schemas.microsoft.com/office/drawing/2014/main" id="{6543ECA6-63A6-4CF7-BC41-C5852E15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275" b="0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다음 실행으로 반복</a:t>
            </a:r>
          </a:p>
        </p:txBody>
      </p:sp>
      <p:sp>
        <p:nvSpPr>
          <p:cNvPr id="198" name="직사각형 197">
            <a:extLst xmlns:a="http://schemas.openxmlformats.org/drawingml/2006/main">
              <a:ext uri="{FF2B5EF4-FFF2-40B4-BE49-F238E27FC236}">
                <a16:creationId xmlns:a16="http://schemas.microsoft.com/office/drawing/2014/main" id="{091E735D-D929-458E-BB44-4942BDC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149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리뷰</a:t>
            </a:r>
          </a:p>
        </p:txBody>
      </p:sp>
      <p:sp>
        <p:nvSpPr>
          <p:cNvPr id="199" name="직사각형 198">
            <a:extLst xmlns:a="http://schemas.openxmlformats.org/drawingml/2006/main">
              <a:ext uri="{FF2B5EF4-FFF2-40B4-BE49-F238E27FC236}">
                <a16:creationId xmlns:a16="http://schemas.microsoft.com/office/drawing/2014/main" id="{86115A18-462D-48AA-B326-0376715F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67350"/>
            <a:ext cx="539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한 주의 실행과 회복 기록을 보고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다음 계획의 분량과 시간을 조정한다.</a:t>
            </a:r>
          </a:p>
        </p:txBody>
      </p:sp>
      <p:sp>
        <p:nvSpPr>
          <p:cNvPr id="200" name="직사각형 199">
            <a:extLst xmlns:a="http://schemas.openxmlformats.org/drawingml/2006/main">
              <a:ext uri="{FF2B5EF4-FFF2-40B4-BE49-F238E27FC236}">
                <a16:creationId xmlns:a16="http://schemas.microsoft.com/office/drawing/2014/main" id="{51B6D1E6-2E48-40CF-A1CB-55D6881C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81725"/>
            <a:ext cx="830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보조 기능: 인박스, 궁극적 목표와 만다라트, 설정.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메뉴 구성도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44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a319ce1a14b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86192D7-02EE-4793-9464-85B92A03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주요 메뉴와 핵심 화면의 위치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7B520D46-E900-4769-843B-CCCC028B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31900F6-1EA1-4A72-9EDA-89EFF5A7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22" name="직사각형 121">
            <a:extLst xmlns:a="http://schemas.openxmlformats.org/drawingml/2006/main">
              <a:ext uri="{FF2B5EF4-FFF2-40B4-BE49-F238E27FC236}">
                <a16:creationId xmlns:a16="http://schemas.microsoft.com/office/drawing/2014/main" id="{EE7782FE-B288-45C7-94BD-0BFD15EB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81175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8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123" name="직사각형 122">
            <a:extLst xmlns:a="http://schemas.openxmlformats.org/drawingml/2006/main">
              <a:ext uri="{FF2B5EF4-FFF2-40B4-BE49-F238E27FC236}">
                <a16:creationId xmlns:a16="http://schemas.microsoft.com/office/drawing/2014/main" id="{EB93F882-4177-4706-8E43-CA5EEF7A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233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24" name="직사각형 123">
            <a:extLst xmlns:a="http://schemas.openxmlformats.org/drawingml/2006/main">
              <a:ext uri="{FF2B5EF4-FFF2-40B4-BE49-F238E27FC236}">
                <a16:creationId xmlns:a16="http://schemas.microsoft.com/office/drawing/2014/main" id="{92BBB24C-1B86-40EE-B26A-3CF39293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51" name="직선 화살표 연결선 342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4572001" y="2243138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26" name="직사각형 125">
            <a:extLst xmlns:a="http://schemas.openxmlformats.org/drawingml/2006/main">
              <a:ext uri="{FF2B5EF4-FFF2-40B4-BE49-F238E27FC236}">
                <a16:creationId xmlns:a16="http://schemas.microsoft.com/office/drawing/2014/main" id="{73F538CF-8F38-4F48-907F-5DC633ED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27" name="직사각형 126">
            <a:extLst xmlns:a="http://schemas.openxmlformats.org/drawingml/2006/main">
              <a:ext uri="{FF2B5EF4-FFF2-40B4-BE49-F238E27FC236}">
                <a16:creationId xmlns:a16="http://schemas.microsoft.com/office/drawing/2014/main" id="{5104C312-EDA1-4B46-8A59-E644BCDF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54" name="직선 화살표 연결선 345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1662113" y="2476501"/>
            <a:ext cx="58197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29" name="직사각형 128">
            <a:extLst xmlns:a="http://schemas.openxmlformats.org/drawingml/2006/main">
              <a:ext uri="{FF2B5EF4-FFF2-40B4-BE49-F238E27FC236}">
                <a16:creationId xmlns:a16="http://schemas.microsoft.com/office/drawing/2014/main" id="{B10C529B-612E-48CC-A0CB-60842240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30" name="직사각형 129">
            <a:extLst xmlns:a="http://schemas.openxmlformats.org/drawingml/2006/main">
              <a:ext uri="{FF2B5EF4-FFF2-40B4-BE49-F238E27FC236}">
                <a16:creationId xmlns:a16="http://schemas.microsoft.com/office/drawing/2014/main" id="{A25007E0-984A-4323-9236-8D94D871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2719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57" name="직선 화살표 연결선 348"/>
          <p:cNvCxnSpPr>
            <a:stCxn xmlns:a="http://schemas.openxmlformats.org/drawingml/2006/main" id="129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1657351" y="2481263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32" name="직사각형 131">
            <a:extLst xmlns:a="http://schemas.openxmlformats.org/drawingml/2006/main">
              <a:ext uri="{FF2B5EF4-FFF2-40B4-BE49-F238E27FC236}">
                <a16:creationId xmlns:a16="http://schemas.microsoft.com/office/drawing/2014/main" id="{107001F2-1A2E-49AE-8034-09AB10C2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실행</a:t>
            </a:r>
          </a:p>
        </p:txBody>
      </p:sp>
      <p:sp>
        <p:nvSpPr>
          <p:cNvPr id="133" name="직사각형 132">
            <a:extLst xmlns:a="http://schemas.openxmlformats.org/drawingml/2006/main">
              <a:ext uri="{FF2B5EF4-FFF2-40B4-BE49-F238E27FC236}">
                <a16:creationId xmlns:a16="http://schemas.microsoft.com/office/drawing/2014/main" id="{06907F02-06DD-466C-96B4-7E1EB8AB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34" name="직사각형 133">
            <a:extLst xmlns:a="http://schemas.openxmlformats.org/drawingml/2006/main">
              <a:ext uri="{FF2B5EF4-FFF2-40B4-BE49-F238E27FC236}">
                <a16:creationId xmlns:a16="http://schemas.microsoft.com/office/drawing/2014/main" id="{55605F09-D2C8-420F-A8BB-1EE6945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719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61" name="직선 화살표 연결선 352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4572001" y="2481263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36" name="직사각형 135">
            <a:extLst xmlns:a="http://schemas.openxmlformats.org/drawingml/2006/main">
              <a:ext uri="{FF2B5EF4-FFF2-40B4-BE49-F238E27FC236}">
                <a16:creationId xmlns:a16="http://schemas.microsoft.com/office/drawing/2014/main" id="{498F286C-0D02-4976-B19D-1D13F017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계획</a:t>
            </a:r>
          </a:p>
        </p:txBody>
      </p:sp>
      <p:sp>
        <p:nvSpPr>
          <p:cNvPr id="137" name="직사각형 136">
            <a:extLst xmlns:a="http://schemas.openxmlformats.org/drawingml/2006/main">
              <a:ext uri="{FF2B5EF4-FFF2-40B4-BE49-F238E27FC236}">
                <a16:creationId xmlns:a16="http://schemas.microsoft.com/office/drawing/2014/main" id="{9F24C4B8-929F-430D-976A-833C7690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38" name="직사각형 137">
            <a:extLst xmlns:a="http://schemas.openxmlformats.org/drawingml/2006/main">
              <a:ext uri="{FF2B5EF4-FFF2-40B4-BE49-F238E27FC236}">
                <a16:creationId xmlns:a16="http://schemas.microsoft.com/office/drawing/2014/main" id="{7EA2493B-0C40-459E-9535-07D8977B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719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65" name="직선 화살표 연결선 356"/>
          <p:cNvCxnSpPr>
            <a:stCxn xmlns:a="http://schemas.openxmlformats.org/drawingml/2006/main" id="137" idx="2"/>
            <a:endCxn xmlns:a="http://schemas.openxmlformats.org/drawingml/2006/main" id="138" idx="0"/>
          </p:cNvCxnSpPr>
          <p:nvPr/>
        </p:nvCxnSpPr>
        <p:spPr>
          <a:xfrm xmlns:a="http://schemas.openxmlformats.org/drawingml/2006/main">
            <a:off x="7486651" y="2481263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40" name="직사각형 139">
            <a:extLst xmlns:a="http://schemas.openxmlformats.org/drawingml/2006/main">
              <a:ext uri="{FF2B5EF4-FFF2-40B4-BE49-F238E27FC236}">
                <a16:creationId xmlns:a16="http://schemas.microsoft.com/office/drawing/2014/main" id="{59CC7D51-0920-4485-A345-E9156901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인박스</a:t>
            </a:r>
          </a:p>
        </p:txBody>
      </p:sp>
      <p:sp>
        <p:nvSpPr>
          <p:cNvPr id="141" name="직사각형 140">
            <a:extLst xmlns:a="http://schemas.openxmlformats.org/drawingml/2006/main">
              <a:ext uri="{FF2B5EF4-FFF2-40B4-BE49-F238E27FC236}">
                <a16:creationId xmlns:a16="http://schemas.microsoft.com/office/drawing/2014/main" id="{BE445C04-7688-4C8B-879A-854A649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214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42" name="직사각형 141">
            <a:extLst xmlns:a="http://schemas.openxmlformats.org/drawingml/2006/main">
              <a:ext uri="{FF2B5EF4-FFF2-40B4-BE49-F238E27FC236}">
                <a16:creationId xmlns:a16="http://schemas.microsoft.com/office/drawing/2014/main" id="{2F49A99A-5D0F-4179-AF33-747AC7A0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69" name="직선 화살표 연결선 360"/>
          <p:cNvCxnSpPr>
            <a:stCxn xmlns:a="http://schemas.openxmlformats.org/drawingml/2006/main" id="141" idx="2"/>
            <a:endCxn xmlns:a="http://schemas.openxmlformats.org/drawingml/2006/main" id="142" idx="0"/>
          </p:cNvCxnSpPr>
          <p:nvPr/>
        </p:nvCxnSpPr>
        <p:spPr>
          <a:xfrm xmlns:a="http://schemas.openxmlformats.org/drawingml/2006/main">
            <a:off x="1657351" y="3224213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44" name="직사각형 143">
            <a:extLst xmlns:a="http://schemas.openxmlformats.org/drawingml/2006/main">
              <a:ext uri="{FF2B5EF4-FFF2-40B4-BE49-F238E27FC236}">
                <a16:creationId xmlns:a16="http://schemas.microsoft.com/office/drawing/2014/main" id="{C715FBE5-C064-4033-977B-C77B1801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45" name="직사각형 144">
            <a:extLst xmlns:a="http://schemas.openxmlformats.org/drawingml/2006/main">
              <a:ext uri="{FF2B5EF4-FFF2-40B4-BE49-F238E27FC236}">
                <a16:creationId xmlns:a16="http://schemas.microsoft.com/office/drawing/2014/main" id="{2C09EF3D-850C-4C5C-8780-21842E04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72" name="직선 화살표 연결선 363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538163" y="3381376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47" name="직사각형 146">
            <a:extLst xmlns:a="http://schemas.openxmlformats.org/drawingml/2006/main">
              <a:ext uri="{FF2B5EF4-FFF2-40B4-BE49-F238E27FC236}">
                <a16:creationId xmlns:a16="http://schemas.microsoft.com/office/drawing/2014/main" id="{70D4D9DA-5FC7-4008-8AE2-ABEEE827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48" name="직사각형 147">
            <a:extLst xmlns:a="http://schemas.openxmlformats.org/drawingml/2006/main">
              <a:ext uri="{FF2B5EF4-FFF2-40B4-BE49-F238E27FC236}">
                <a16:creationId xmlns:a16="http://schemas.microsoft.com/office/drawing/2014/main" id="{CDA08EB8-6D66-4456-A99C-6575E04A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75" name="직선 화살표 연결선 366"/>
          <p:cNvCxnSpPr>
            <a:stCxn xmlns:a="http://schemas.openxmlformats.org/drawingml/2006/main" id="147" idx="2"/>
            <a:endCxn xmlns:a="http://schemas.openxmlformats.org/drawingml/2006/main" id="148" idx="0"/>
          </p:cNvCxnSpPr>
          <p:nvPr/>
        </p:nvCxnSpPr>
        <p:spPr>
          <a:xfrm xmlns:a="http://schemas.openxmlformats.org/drawingml/2006/main">
            <a:off x="533401" y="3386138"/>
            <a:ext cx="0" cy="19907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50" name="직사각형 149">
            <a:extLst xmlns:a="http://schemas.openxmlformats.org/drawingml/2006/main">
              <a:ext uri="{FF2B5EF4-FFF2-40B4-BE49-F238E27FC236}">
                <a16:creationId xmlns:a16="http://schemas.microsoft.com/office/drawing/2014/main" id="{A4B0C120-1825-4794-96BE-50AF8169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51" name="직사각형 150">
            <a:extLst xmlns:a="http://schemas.openxmlformats.org/drawingml/2006/main">
              <a:ext uri="{FF2B5EF4-FFF2-40B4-BE49-F238E27FC236}">
                <a16:creationId xmlns:a16="http://schemas.microsoft.com/office/drawing/2014/main" id="{260AC3D1-5FE3-4104-BF6D-33FEA41D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78" name="직선 화살표 연결선 369"/>
          <p:cNvCxnSpPr>
            <a:stCxn xmlns:a="http://schemas.openxmlformats.org/drawingml/2006/main" id="150" idx="3"/>
            <a:endCxn xmlns:a="http://schemas.openxmlformats.org/drawingml/2006/main" id="151" idx="1"/>
          </p:cNvCxnSpPr>
          <p:nvPr/>
        </p:nvCxnSpPr>
        <p:spPr>
          <a:xfrm xmlns:a="http://schemas.openxmlformats.org/drawingml/2006/main">
            <a:off x="538163" y="381000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53" name="직사각형 152">
            <a:extLst xmlns:a="http://schemas.openxmlformats.org/drawingml/2006/main">
              <a:ext uri="{FF2B5EF4-FFF2-40B4-BE49-F238E27FC236}">
                <a16:creationId xmlns:a16="http://schemas.microsoft.com/office/drawing/2014/main" id="{0ED60789-E569-4178-B133-0F747108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집중과 결과 기록</a:t>
            </a:r>
          </a:p>
        </p:txBody>
      </p:sp>
      <p:sp>
        <p:nvSpPr>
          <p:cNvPr id="154" name="직사각형 153">
            <a:extLst xmlns:a="http://schemas.openxmlformats.org/drawingml/2006/main">
              <a:ext uri="{FF2B5EF4-FFF2-40B4-BE49-F238E27FC236}">
                <a16:creationId xmlns:a16="http://schemas.microsoft.com/office/drawing/2014/main" id="{53DE7B18-1401-44FE-ACB1-AE7347F9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55" name="직사각형 154">
            <a:extLst xmlns:a="http://schemas.openxmlformats.org/drawingml/2006/main">
              <a:ext uri="{FF2B5EF4-FFF2-40B4-BE49-F238E27FC236}">
                <a16:creationId xmlns:a16="http://schemas.microsoft.com/office/drawing/2014/main" id="{A4AE6A52-A294-4231-BA86-14EED507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82" name="직선 화살표 연결선 373"/>
          <p:cNvCxnSpPr>
            <a:stCxn xmlns:a="http://schemas.openxmlformats.org/drawingml/2006/main" id="154" idx="3"/>
            <a:endCxn xmlns:a="http://schemas.openxmlformats.org/drawingml/2006/main" id="155" idx="1"/>
          </p:cNvCxnSpPr>
          <p:nvPr/>
        </p:nvCxnSpPr>
        <p:spPr>
          <a:xfrm xmlns:a="http://schemas.openxmlformats.org/drawingml/2006/main">
            <a:off x="538163" y="433387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57" name="직사각형 156">
            <a:extLst xmlns:a="http://schemas.openxmlformats.org/drawingml/2006/main">
              <a:ext uri="{FF2B5EF4-FFF2-40B4-BE49-F238E27FC236}">
                <a16:creationId xmlns:a16="http://schemas.microsoft.com/office/drawing/2014/main" id="{E030BFBE-9A03-4411-A92F-0AA742AC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회복안 선택과 리플랜</a:t>
            </a:r>
          </a:p>
        </p:txBody>
      </p:sp>
      <p:sp>
        <p:nvSpPr>
          <p:cNvPr id="158" name="직사각형 157">
            <a:extLst xmlns:a="http://schemas.openxmlformats.org/drawingml/2006/main">
              <a:ext uri="{FF2B5EF4-FFF2-40B4-BE49-F238E27FC236}">
                <a16:creationId xmlns:a16="http://schemas.microsoft.com/office/drawing/2014/main" id="{418F6F3D-6257-4C24-9BC3-3DC0A5AA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48529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59" name="직사각형 158">
            <a:extLst xmlns:a="http://schemas.openxmlformats.org/drawingml/2006/main">
              <a:ext uri="{FF2B5EF4-FFF2-40B4-BE49-F238E27FC236}">
                <a16:creationId xmlns:a16="http://schemas.microsoft.com/office/drawing/2014/main" id="{0B50E604-DA99-4FD6-9701-798DCA1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48529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86" name="직선 화살표 연결선 377"/>
          <p:cNvCxnSpPr>
            <a:stCxn xmlns:a="http://schemas.openxmlformats.org/drawingml/2006/main" id="158" idx="3"/>
            <a:endCxn xmlns:a="http://schemas.openxmlformats.org/drawingml/2006/main" id="159" idx="1"/>
          </p:cNvCxnSpPr>
          <p:nvPr/>
        </p:nvCxnSpPr>
        <p:spPr>
          <a:xfrm xmlns:a="http://schemas.openxmlformats.org/drawingml/2006/main">
            <a:off x="538163" y="485775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61" name="직사각형 160">
            <a:extLst xmlns:a="http://schemas.openxmlformats.org/drawingml/2006/main">
              <a:ext uri="{FF2B5EF4-FFF2-40B4-BE49-F238E27FC236}">
                <a16:creationId xmlns:a16="http://schemas.microsoft.com/office/drawing/2014/main" id="{8909D9B4-93C8-4C66-A4E7-057F1756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저녁 체크인</a:t>
            </a:r>
          </a:p>
        </p:txBody>
      </p:sp>
      <p:sp>
        <p:nvSpPr>
          <p:cNvPr id="162" name="직사각형 161">
            <a:extLst xmlns:a="http://schemas.openxmlformats.org/drawingml/2006/main">
              <a:ext uri="{FF2B5EF4-FFF2-40B4-BE49-F238E27FC236}">
                <a16:creationId xmlns:a16="http://schemas.microsoft.com/office/drawing/2014/main" id="{65E758C5-0825-495A-A298-2CF5DBFF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63" name="직사각형 162">
            <a:extLst xmlns:a="http://schemas.openxmlformats.org/drawingml/2006/main">
              <a:ext uri="{FF2B5EF4-FFF2-40B4-BE49-F238E27FC236}">
                <a16:creationId xmlns:a16="http://schemas.microsoft.com/office/drawing/2014/main" id="{5A1CCB10-B1BA-4ED0-8A97-07F5FC09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90" name="직선 화살표 연결선 381"/>
          <p:cNvCxnSpPr>
            <a:stCxn xmlns:a="http://schemas.openxmlformats.org/drawingml/2006/main" id="162" idx="3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538163" y="538162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65" name="직사각형 164">
            <a:extLst xmlns:a="http://schemas.openxmlformats.org/drawingml/2006/main">
              <a:ext uri="{FF2B5EF4-FFF2-40B4-BE49-F238E27FC236}">
                <a16:creationId xmlns:a16="http://schemas.microsoft.com/office/drawing/2014/main" id="{90BC54FB-E433-4495-8894-439532E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더보기</a:t>
            </a:r>
          </a:p>
        </p:txBody>
      </p:sp>
      <p:sp>
        <p:nvSpPr>
          <p:cNvPr id="166" name="직사각형 165">
            <a:extLst xmlns:a="http://schemas.openxmlformats.org/drawingml/2006/main">
              <a:ext uri="{FF2B5EF4-FFF2-40B4-BE49-F238E27FC236}">
                <a16:creationId xmlns:a16="http://schemas.microsoft.com/office/drawing/2014/main" id="{56D7E93F-B5E5-4799-8DC6-A8346E7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3214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67" name="직사각형 166">
            <a:extLst xmlns:a="http://schemas.openxmlformats.org/drawingml/2006/main">
              <a:ext uri="{FF2B5EF4-FFF2-40B4-BE49-F238E27FC236}">
                <a16:creationId xmlns:a16="http://schemas.microsoft.com/office/drawing/2014/main" id="{01DAF988-6284-41D1-BB7A-4B231D7A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94" name="직선 화살표 연결선 385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4572001" y="3224213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69" name="직사각형 168">
            <a:extLst xmlns:a="http://schemas.openxmlformats.org/drawingml/2006/main">
              <a:ext uri="{FF2B5EF4-FFF2-40B4-BE49-F238E27FC236}">
                <a16:creationId xmlns:a16="http://schemas.microsoft.com/office/drawing/2014/main" id="{3DBFCB83-AC7D-49E4-A0BC-E22E2199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70" name="직사각형 169">
            <a:extLst xmlns:a="http://schemas.openxmlformats.org/drawingml/2006/main">
              <a:ext uri="{FF2B5EF4-FFF2-40B4-BE49-F238E27FC236}">
                <a16:creationId xmlns:a16="http://schemas.microsoft.com/office/drawing/2014/main" id="{7AE531A9-B760-40E6-BE6E-39CE3512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497" name="직선 화살표 연결선 388"/>
          <p:cNvCxnSpPr>
            <a:stCxn xmlns:a="http://schemas.openxmlformats.org/drawingml/2006/main" id="169" idx="3"/>
            <a:endCxn xmlns:a="http://schemas.openxmlformats.org/drawingml/2006/main" id="170" idx="1"/>
          </p:cNvCxnSpPr>
          <p:nvPr/>
        </p:nvCxnSpPr>
        <p:spPr>
          <a:xfrm xmlns:a="http://schemas.openxmlformats.org/drawingml/2006/main">
            <a:off x="3452813" y="3381376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72" name="직사각형 171">
            <a:extLst xmlns:a="http://schemas.openxmlformats.org/drawingml/2006/main">
              <a:ext uri="{FF2B5EF4-FFF2-40B4-BE49-F238E27FC236}">
                <a16:creationId xmlns:a16="http://schemas.microsoft.com/office/drawing/2014/main" id="{4D525DBC-4191-4A02-BB2D-C8132D06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73" name="직사각형 172">
            <a:extLst xmlns:a="http://schemas.openxmlformats.org/drawingml/2006/main">
              <a:ext uri="{FF2B5EF4-FFF2-40B4-BE49-F238E27FC236}">
                <a16:creationId xmlns:a16="http://schemas.microsoft.com/office/drawing/2014/main" id="{62E9F525-53E3-4DDF-81C0-293F3B20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00" name="직선 화살표 연결선 391"/>
          <p:cNvCxnSpPr>
            <a:stCxn xmlns:a="http://schemas.openxmlformats.org/drawingml/2006/main" id="172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>
            <a:off x="3448051" y="3386138"/>
            <a:ext cx="0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75" name="직사각형 174">
            <a:extLst xmlns:a="http://schemas.openxmlformats.org/drawingml/2006/main">
              <a:ext uri="{FF2B5EF4-FFF2-40B4-BE49-F238E27FC236}">
                <a16:creationId xmlns:a16="http://schemas.microsoft.com/office/drawing/2014/main" id="{C9F98595-289E-4BBE-854C-7C06C6F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76" name="직사각형 175">
            <a:extLst xmlns:a="http://schemas.openxmlformats.org/drawingml/2006/main">
              <a:ext uri="{FF2B5EF4-FFF2-40B4-BE49-F238E27FC236}">
                <a16:creationId xmlns:a16="http://schemas.microsoft.com/office/drawing/2014/main" id="{86C9E469-8E48-4A17-8944-7792021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03" name="직선 화살표 연결선 394"/>
          <p:cNvCxnSpPr>
            <a:stCxn xmlns:a="http://schemas.openxmlformats.org/drawingml/2006/main" id="175" idx="3"/>
            <a:endCxn xmlns:a="http://schemas.openxmlformats.org/drawingml/2006/main" id="176" idx="1"/>
          </p:cNvCxnSpPr>
          <p:nvPr/>
        </p:nvCxnSpPr>
        <p:spPr>
          <a:xfrm xmlns:a="http://schemas.openxmlformats.org/drawingml/2006/main">
            <a:off x="3452813" y="381000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78" name="직사각형 177">
            <a:extLst xmlns:a="http://schemas.openxmlformats.org/drawingml/2006/main">
              <a:ext uri="{FF2B5EF4-FFF2-40B4-BE49-F238E27FC236}">
                <a16:creationId xmlns:a16="http://schemas.microsoft.com/office/drawing/2014/main" id="{BB0093D9-C000-4F38-B1E8-EA96A9E4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997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달력과 일정 수정</a:t>
            </a:r>
          </a:p>
        </p:txBody>
      </p:sp>
      <p:sp>
        <p:nvSpPr>
          <p:cNvPr id="179" name="직사각형 178">
            <a:extLst xmlns:a="http://schemas.openxmlformats.org/drawingml/2006/main">
              <a:ext uri="{FF2B5EF4-FFF2-40B4-BE49-F238E27FC236}">
                <a16:creationId xmlns:a16="http://schemas.microsoft.com/office/drawing/2014/main" id="{B19FEDF1-75B6-4EB5-9917-BE029215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80" name="직사각형 179">
            <a:extLst xmlns:a="http://schemas.openxmlformats.org/drawingml/2006/main">
              <a:ext uri="{FF2B5EF4-FFF2-40B4-BE49-F238E27FC236}">
                <a16:creationId xmlns:a16="http://schemas.microsoft.com/office/drawing/2014/main" id="{F97142D8-8606-4185-A988-1295A258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07" name="직선 화살표 연결선 398"/>
          <p:cNvCxnSpPr>
            <a:stCxn xmlns:a="http://schemas.openxmlformats.org/drawingml/2006/main" id="179" idx="3"/>
            <a:endCxn xmlns:a="http://schemas.openxmlformats.org/drawingml/2006/main" id="180" idx="1"/>
          </p:cNvCxnSpPr>
          <p:nvPr/>
        </p:nvCxnSpPr>
        <p:spPr>
          <a:xfrm xmlns:a="http://schemas.openxmlformats.org/drawingml/2006/main">
            <a:off x="3452813" y="433387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82" name="직사각형 181">
            <a:extLst xmlns:a="http://schemas.openxmlformats.org/drawingml/2006/main">
              <a:ext uri="{FF2B5EF4-FFF2-40B4-BE49-F238E27FC236}">
                <a16:creationId xmlns:a16="http://schemas.microsoft.com/office/drawing/2014/main" id="{83D9B100-680E-49F6-9DC4-71758E6B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리뷰와 습관 조정</a:t>
            </a:r>
          </a:p>
        </p:txBody>
      </p:sp>
      <p:sp>
        <p:nvSpPr>
          <p:cNvPr id="183" name="직사각형 182">
            <a:extLst xmlns:a="http://schemas.openxmlformats.org/drawingml/2006/main">
              <a:ext uri="{FF2B5EF4-FFF2-40B4-BE49-F238E27FC236}">
                <a16:creationId xmlns:a16="http://schemas.microsoft.com/office/drawing/2014/main" id="{F36A2544-8891-4EA7-9951-7841CE1E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3214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84" name="직사각형 183">
            <a:extLst xmlns:a="http://schemas.openxmlformats.org/drawingml/2006/main">
              <a:ext uri="{FF2B5EF4-FFF2-40B4-BE49-F238E27FC236}">
                <a16:creationId xmlns:a16="http://schemas.microsoft.com/office/drawing/2014/main" id="{C3F63552-9226-441D-84EE-33C23912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11" name="직선 화살표 연결선 402"/>
          <p:cNvCxnSpPr>
            <a:stCxn xmlns:a="http://schemas.openxmlformats.org/drawingml/2006/main" id="183" idx="2"/>
            <a:endCxn xmlns:a="http://schemas.openxmlformats.org/drawingml/2006/main" id="184" idx="0"/>
          </p:cNvCxnSpPr>
          <p:nvPr/>
        </p:nvCxnSpPr>
        <p:spPr>
          <a:xfrm xmlns:a="http://schemas.openxmlformats.org/drawingml/2006/main">
            <a:off x="7486651" y="3224213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86" name="직사각형 185">
            <a:extLst xmlns:a="http://schemas.openxmlformats.org/drawingml/2006/main">
              <a:ext uri="{FF2B5EF4-FFF2-40B4-BE49-F238E27FC236}">
                <a16:creationId xmlns:a16="http://schemas.microsoft.com/office/drawing/2014/main" id="{A26545AC-F05E-478B-AB26-7819CE4C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87" name="직사각형 186">
            <a:extLst xmlns:a="http://schemas.openxmlformats.org/drawingml/2006/main">
              <a:ext uri="{FF2B5EF4-FFF2-40B4-BE49-F238E27FC236}">
                <a16:creationId xmlns:a16="http://schemas.microsoft.com/office/drawing/2014/main" id="{F6820826-E7B9-40ED-84E3-5CE6F0DC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14" name="직선 화살표 연결선 405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6367463" y="3381376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89" name="직사각형 188">
            <a:extLst xmlns:a="http://schemas.openxmlformats.org/drawingml/2006/main">
              <a:ext uri="{FF2B5EF4-FFF2-40B4-BE49-F238E27FC236}">
                <a16:creationId xmlns:a16="http://schemas.microsoft.com/office/drawing/2014/main" id="{B434660A-C7E9-492D-A5F8-CA6F68DB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90" name="직사각형 189">
            <a:extLst xmlns:a="http://schemas.openxmlformats.org/drawingml/2006/main">
              <a:ext uri="{FF2B5EF4-FFF2-40B4-BE49-F238E27FC236}">
                <a16:creationId xmlns:a16="http://schemas.microsoft.com/office/drawing/2014/main" id="{989A4DE6-A8DE-421F-B0D4-70FC18FD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17" name="직선 화살표 연결선 408"/>
          <p:cNvCxnSpPr>
            <a:stCxn xmlns:a="http://schemas.openxmlformats.org/drawingml/2006/main" id="189" idx="2"/>
            <a:endCxn xmlns:a="http://schemas.openxmlformats.org/drawingml/2006/main" id="190" idx="0"/>
          </p:cNvCxnSpPr>
          <p:nvPr/>
        </p:nvCxnSpPr>
        <p:spPr>
          <a:xfrm xmlns:a="http://schemas.openxmlformats.org/drawingml/2006/main">
            <a:off x="6362701" y="3386138"/>
            <a:ext cx="0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92" name="직사각형 191">
            <a:extLst xmlns:a="http://schemas.openxmlformats.org/drawingml/2006/main">
              <a:ext uri="{FF2B5EF4-FFF2-40B4-BE49-F238E27FC236}">
                <a16:creationId xmlns:a16="http://schemas.microsoft.com/office/drawing/2014/main" id="{514F9CFC-9C3C-4F5E-AC01-205F6D00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93" name="직사각형 192">
            <a:extLst xmlns:a="http://schemas.openxmlformats.org/drawingml/2006/main">
              <a:ext uri="{FF2B5EF4-FFF2-40B4-BE49-F238E27FC236}">
                <a16:creationId xmlns:a16="http://schemas.microsoft.com/office/drawing/2014/main" id="{9D2590DA-6235-4FBB-9DCB-E0214CAA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20" name="직선 화살표 연결선 411"/>
          <p:cNvCxnSpPr>
            <a:stCxn xmlns:a="http://schemas.openxmlformats.org/drawingml/2006/main" id="192" idx="3"/>
            <a:endCxn xmlns:a="http://schemas.openxmlformats.org/drawingml/2006/main" id="193" idx="1"/>
          </p:cNvCxnSpPr>
          <p:nvPr/>
        </p:nvCxnSpPr>
        <p:spPr>
          <a:xfrm xmlns:a="http://schemas.openxmlformats.org/drawingml/2006/main">
            <a:off x="6367463" y="381000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95" name="직사각형 194">
            <a:extLst xmlns:a="http://schemas.openxmlformats.org/drawingml/2006/main">
              <a:ext uri="{FF2B5EF4-FFF2-40B4-BE49-F238E27FC236}">
                <a16:creationId xmlns:a16="http://schemas.microsoft.com/office/drawing/2014/main" id="{908E59C0-6925-411A-B555-C11485A3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997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기록과 자료 상세</a:t>
            </a:r>
          </a:p>
        </p:txBody>
      </p:sp>
      <p:sp>
        <p:nvSpPr>
          <p:cNvPr id="196" name="직사각형 195">
            <a:extLst xmlns:a="http://schemas.openxmlformats.org/drawingml/2006/main">
              <a:ext uri="{FF2B5EF4-FFF2-40B4-BE49-F238E27FC236}">
                <a16:creationId xmlns:a16="http://schemas.microsoft.com/office/drawing/2014/main" id="{3B4702BE-890E-413E-9294-0167A0B3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197" name="직사각형 196">
            <a:extLst xmlns:a="http://schemas.openxmlformats.org/drawingml/2006/main">
              <a:ext uri="{FF2B5EF4-FFF2-40B4-BE49-F238E27FC236}">
                <a16:creationId xmlns:a16="http://schemas.microsoft.com/office/drawing/2014/main" id="{B23C978D-D828-4135-A9B8-AB973D94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24" name="직선 화살표 연결선 415"/>
          <p:cNvCxnSpPr>
            <a:stCxn xmlns:a="http://schemas.openxmlformats.org/drawingml/2006/main" id="196" idx="3"/>
            <a:endCxn xmlns:a="http://schemas.openxmlformats.org/drawingml/2006/main" id="197" idx="1"/>
          </p:cNvCxnSpPr>
          <p:nvPr/>
        </p:nvCxnSpPr>
        <p:spPr>
          <a:xfrm xmlns:a="http://schemas.openxmlformats.org/drawingml/2006/main">
            <a:off x="6367463" y="433387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99" name="직사각형 198">
            <a:extLst xmlns:a="http://schemas.openxmlformats.org/drawingml/2006/main">
              <a:ext uri="{FF2B5EF4-FFF2-40B4-BE49-F238E27FC236}">
                <a16:creationId xmlns:a16="http://schemas.microsoft.com/office/drawing/2014/main" id="{10A2B345-6305-446C-9405-F10FA559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목표와 할 일 전환</a:t>
            </a:r>
          </a:p>
        </p:txBody>
      </p:sp>
      <p:sp>
        <p:nvSpPr>
          <p:cNvPr id="200" name="직사각형 199">
            <a:extLst xmlns:a="http://schemas.openxmlformats.org/drawingml/2006/main">
              <a:ext uri="{FF2B5EF4-FFF2-40B4-BE49-F238E27FC236}">
                <a16:creationId xmlns:a16="http://schemas.microsoft.com/office/drawing/2014/main" id="{CC15D4F8-232A-4EE6-943E-E982ACD0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01" name="직사각형 200">
            <a:extLst xmlns:a="http://schemas.openxmlformats.org/drawingml/2006/main">
              <a:ext uri="{FF2B5EF4-FFF2-40B4-BE49-F238E27FC236}">
                <a16:creationId xmlns:a16="http://schemas.microsoft.com/office/drawing/2014/main" id="{7338A9B3-98F6-4C05-B262-3D27B91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28" name="직선 화살표 연결선 419"/>
          <p:cNvCxnSpPr>
            <a:stCxn xmlns:a="http://schemas.openxmlformats.org/drawingml/2006/main" id="200" idx="3"/>
            <a:endCxn xmlns:a="http://schemas.openxmlformats.org/drawingml/2006/main" id="201" idx="1"/>
          </p:cNvCxnSpPr>
          <p:nvPr/>
        </p:nvCxnSpPr>
        <p:spPr>
          <a:xfrm xmlns:a="http://schemas.openxmlformats.org/drawingml/2006/main">
            <a:off x="2900363" y="5381626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03" name="직사각형 202">
            <a:extLst xmlns:a="http://schemas.openxmlformats.org/drawingml/2006/main">
              <a:ext uri="{FF2B5EF4-FFF2-40B4-BE49-F238E27FC236}">
                <a16:creationId xmlns:a16="http://schemas.microsoft.com/office/drawing/2014/main" id="{98F20C1A-1080-4C39-AF7E-1F2E105D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04" name="직사각형 203">
            <a:extLst xmlns:a="http://schemas.openxmlformats.org/drawingml/2006/main">
              <a:ext uri="{FF2B5EF4-FFF2-40B4-BE49-F238E27FC236}">
                <a16:creationId xmlns:a16="http://schemas.microsoft.com/office/drawing/2014/main" id="{D0A8DF23-C261-470F-ACE4-91782E22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31" name="직선 화살표 연결선 422"/>
          <p:cNvCxnSpPr>
            <a:stCxn xmlns:a="http://schemas.openxmlformats.org/drawingml/2006/main" id="203" idx="2"/>
            <a:endCxn xmlns:a="http://schemas.openxmlformats.org/drawingml/2006/main" id="204" idx="0"/>
          </p:cNvCxnSpPr>
          <p:nvPr/>
        </p:nvCxnSpPr>
        <p:spPr>
          <a:xfrm xmlns:a="http://schemas.openxmlformats.org/drawingml/2006/main">
            <a:off x="3171826" y="5386388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06" name="직사각형 205">
            <a:extLst xmlns:a="http://schemas.openxmlformats.org/drawingml/2006/main">
              <a:ext uri="{FF2B5EF4-FFF2-40B4-BE49-F238E27FC236}">
                <a16:creationId xmlns:a16="http://schemas.microsoft.com/office/drawing/2014/main" id="{3A07FE5F-2AD3-47A9-B1CC-3D3565E2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07" name="직사각형 206">
            <a:extLst xmlns:a="http://schemas.openxmlformats.org/drawingml/2006/main">
              <a:ext uri="{FF2B5EF4-FFF2-40B4-BE49-F238E27FC236}">
                <a16:creationId xmlns:a16="http://schemas.microsoft.com/office/drawing/2014/main" id="{E93628AB-F2CB-4392-9B88-3859E145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34" name="직선 화살표 연결선 425"/>
          <p:cNvCxnSpPr>
            <a:stCxn xmlns:a="http://schemas.openxmlformats.org/drawingml/2006/main" id="206" idx="3"/>
            <a:endCxn xmlns:a="http://schemas.openxmlformats.org/drawingml/2006/main" id="207" idx="1"/>
          </p:cNvCxnSpPr>
          <p:nvPr/>
        </p:nvCxnSpPr>
        <p:spPr>
          <a:xfrm xmlns:a="http://schemas.openxmlformats.org/drawingml/2006/main">
            <a:off x="3176588" y="5381626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09" name="직사각형 208">
            <a:extLst xmlns:a="http://schemas.openxmlformats.org/drawingml/2006/main">
              <a:ext uri="{FF2B5EF4-FFF2-40B4-BE49-F238E27FC236}">
                <a16:creationId xmlns:a16="http://schemas.microsoft.com/office/drawing/2014/main" id="{7B9ED193-58C7-482B-916F-EE7491E5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10" name="직사각형 209">
            <a:extLst xmlns:a="http://schemas.openxmlformats.org/drawingml/2006/main">
              <a:ext uri="{FF2B5EF4-FFF2-40B4-BE49-F238E27FC236}">
                <a16:creationId xmlns:a16="http://schemas.microsoft.com/office/drawing/2014/main" id="{9ABE8D2D-E463-458C-B95F-B057DA3A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37" name="직선 화살표 연결선 428"/>
          <p:cNvCxnSpPr>
            <a:stCxn xmlns:a="http://schemas.openxmlformats.org/drawingml/2006/main" id="209" idx="3"/>
            <a:endCxn xmlns:a="http://schemas.openxmlformats.org/drawingml/2006/main" id="210" idx="1"/>
          </p:cNvCxnSpPr>
          <p:nvPr/>
        </p:nvCxnSpPr>
        <p:spPr>
          <a:xfrm xmlns:a="http://schemas.openxmlformats.org/drawingml/2006/main">
            <a:off x="3176588" y="5934076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12" name="직사각형 211">
            <a:extLst xmlns:a="http://schemas.openxmlformats.org/drawingml/2006/main">
              <a:ext uri="{FF2B5EF4-FFF2-40B4-BE49-F238E27FC236}">
                <a16:creationId xmlns:a16="http://schemas.microsoft.com/office/drawing/2014/main" id="{62B62EBF-945D-4268-9A14-8ADC0EDB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816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0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관리</a:t>
            </a:r>
          </a:p>
        </p:txBody>
      </p:sp>
      <p:sp>
        <p:nvSpPr>
          <p:cNvPr id="213" name="직사각형 212">
            <a:extLst xmlns:a="http://schemas.openxmlformats.org/drawingml/2006/main">
              <a:ext uri="{FF2B5EF4-FFF2-40B4-BE49-F238E27FC236}">
                <a16:creationId xmlns:a16="http://schemas.microsoft.com/office/drawing/2014/main" id="{5C8E0935-ACCE-4459-9701-6A578B95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34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설정</a:t>
            </a:r>
          </a:p>
        </p:txBody>
      </p:sp>
      <p:sp>
        <p:nvSpPr>
          <p:cNvPr id="214" name="직사각형 213">
            <a:extLst xmlns:a="http://schemas.openxmlformats.org/drawingml/2006/main">
              <a:ext uri="{FF2B5EF4-FFF2-40B4-BE49-F238E27FC236}">
                <a16:creationId xmlns:a16="http://schemas.microsoft.com/office/drawing/2014/main" id="{449AB5A0-A76E-4A4A-B7E4-02F1D47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15" name="직사각형 214">
            <a:extLst xmlns:a="http://schemas.openxmlformats.org/drawingml/2006/main">
              <a:ext uri="{FF2B5EF4-FFF2-40B4-BE49-F238E27FC236}">
                <a16:creationId xmlns:a16="http://schemas.microsoft.com/office/drawing/2014/main" id="{EB6F980B-42E8-4A59-94ED-8678548B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61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42" name="직선 화살표 연결선 433"/>
          <p:cNvCxnSpPr>
            <a:stCxn xmlns:a="http://schemas.openxmlformats.org/drawingml/2006/main" id="214" idx="3"/>
            <a:endCxn xmlns:a="http://schemas.openxmlformats.org/drawingml/2006/main" id="215" idx="1"/>
          </p:cNvCxnSpPr>
          <p:nvPr/>
        </p:nvCxnSpPr>
        <p:spPr>
          <a:xfrm xmlns:a="http://schemas.openxmlformats.org/drawingml/2006/main">
            <a:off x="5319713" y="5381626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17" name="직사각형 216">
            <a:extLst xmlns:a="http://schemas.openxmlformats.org/drawingml/2006/main">
              <a:ext uri="{FF2B5EF4-FFF2-40B4-BE49-F238E27FC236}">
                <a16:creationId xmlns:a16="http://schemas.microsoft.com/office/drawing/2014/main" id="{008D5A9C-021D-49C5-BD5E-E47F56B2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18" name="직사각형 217">
            <a:extLst xmlns:a="http://schemas.openxmlformats.org/drawingml/2006/main">
              <a:ext uri="{FF2B5EF4-FFF2-40B4-BE49-F238E27FC236}">
                <a16:creationId xmlns:a16="http://schemas.microsoft.com/office/drawing/2014/main" id="{9AFC54AA-3EDC-4235-9872-9897F0FA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613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cxnSp>
        <p:nvCxnSpPr>
          <p:cNvPr id="545" name="직선 화살표 연결선 436"/>
          <p:cNvCxnSpPr>
            <a:stCxn xmlns:a="http://schemas.openxmlformats.org/drawingml/2006/main" id="217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5319713" y="5934076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20" name="직사각형 219">
            <a:extLst xmlns:a="http://schemas.openxmlformats.org/drawingml/2006/main">
              <a:ext uri="{FF2B5EF4-FFF2-40B4-BE49-F238E27FC236}">
                <a16:creationId xmlns:a16="http://schemas.microsoft.com/office/drawing/2014/main" id="{FB29CD11-5180-4055-9553-0B7753A7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95875"/>
            <a:ext cx="3057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재인터뷰, 궁극적 목표와 만다라트</a:t>
            </a:r>
          </a:p>
        </p:txBody>
      </p:sp>
      <p:sp>
        <p:nvSpPr>
          <p:cNvPr id="221" name="직사각형 220">
            <a:extLst xmlns:a="http://schemas.openxmlformats.org/drawingml/2006/main">
              <a:ext uri="{FF2B5EF4-FFF2-40B4-BE49-F238E27FC236}">
                <a16:creationId xmlns:a16="http://schemas.microsoft.com/office/drawing/2014/main" id="{56C9C8BE-B136-4AED-B3FC-69B73BAA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734050"/>
            <a:ext cx="3057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내 정보, 동의와 알림 설정</a:t>
            </a:r>
          </a:p>
        </p:txBody>
      </p:sp>
      <p:sp>
        <p:nvSpPr>
          <p:cNvPr id="222" name="직사각형 221">
            <a:extLst xmlns:a="http://schemas.openxmlformats.org/drawingml/2006/main">
              <a:ext uri="{FF2B5EF4-FFF2-40B4-BE49-F238E27FC236}">
                <a16:creationId xmlns:a16="http://schemas.microsoft.com/office/drawing/2014/main" id="{056F4BFD-29CC-48D4-A143-749F40A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10300"/>
            <a:ext cx="830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1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앱 하단에는 오늘 실행, 주간 계획, 인박스가 있다. 목표 관리와 설정은 오늘 상단 더보기에서 연다.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41596eb104f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9897B39-756D-4067-87CA-EDF14F99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딥 인터뷰와 목표 분류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4228C868-2B8E-4C65-B708-29284981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B8FB3295-BE1D-40BE-8873-E95B3058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pic>
        <p:nvPicPr>
          <p:cNvPr id="133" name="그림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17c1c97f04356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34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8686d1a6144a5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14" name="직사각형 113">
            <a:extLst xmlns:a="http://schemas.openxmlformats.org/drawingml/2006/main">
              <a:ext uri="{FF2B5EF4-FFF2-40B4-BE49-F238E27FC236}">
                <a16:creationId xmlns:a16="http://schemas.microsoft.com/office/drawing/2014/main" id="{7DCBFC98-0F1E-478E-9DFF-63E52E3D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① 목표와 실행 조건에 답하기</a:t>
            </a:r>
          </a:p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5AAE924F-5ABF-4819-BF36-C01E0B45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717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목표와 기한, 가능한 시간을 대화로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입력한다. 답변에 필요한 조건이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빠져 있으면 추가 질문이 이어진다.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A92B499D-FDFA-4B2E-815F-F95EFEAC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62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② 이번 주에 집중할 목표 고르기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6D7EE3A7-25D5-419F-A4C5-15285B26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81500"/>
            <a:ext cx="3714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집중할 목표와 계속 유지할 목표를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구분한다. 당장 진행하지 않을 목표는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보류로 옮겨 일정에서 제외한다.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분류 결과는 직접 바꿀 수 있다.</a:t>
            </a:r>
          </a:p>
        </p:txBody>
      </p:sp>
      <p:sp>
        <p:nvSpPr>
          <p:cNvPr id="118" name="직사각형 117">
            <a:extLst xmlns:a="http://schemas.openxmlformats.org/drawingml/2006/main">
              <a:ext uri="{FF2B5EF4-FFF2-40B4-BE49-F238E27FC236}">
                <a16:creationId xmlns:a16="http://schemas.microsoft.com/office/drawing/2014/main" id="{C762D992-F2D9-4B10-849C-2228CA2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목표 인터뷰</a:t>
            </a:r>
          </a:p>
        </p:txBody>
      </p:sp>
      <p:sp>
        <p:nvSpPr>
          <p:cNvPr id="119" name="직사각형 118">
            <a:extLst xmlns:a="http://schemas.openxmlformats.org/drawingml/2006/main">
              <a:ext uri="{FF2B5EF4-FFF2-40B4-BE49-F238E27FC236}">
                <a16:creationId xmlns:a16="http://schemas.microsoft.com/office/drawing/2014/main" id="{84B79035-9A1A-43BC-9806-694D5DF4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집중, 유지, 보류 분류</a:t>
            </a:r>
          </a:p>
        </p:txBody>
      </p:sp>
      <p:sp>
        <p:nvSpPr>
          <p:cNvPr id="120" name="직사각형 119">
            <a:extLst xmlns:a="http://schemas.openxmlformats.org/drawingml/2006/main">
              <a:ext uri="{FF2B5EF4-FFF2-40B4-BE49-F238E27FC236}">
                <a16:creationId xmlns:a16="http://schemas.microsoft.com/office/drawing/2014/main" id="{DBF47181-2EEA-43AD-8798-B29FE450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2960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7cd30ba9942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CFFE5139-0005-4B54-9D32-A7942BD5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AI 주간 계획 생성과 승인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8E7AF5B6-BBB1-44CA-AB6D-ECF9DDC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D6FBA6AC-12E2-46A7-A820-A34FEB71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pic>
        <p:nvPicPr>
          <p:cNvPr id="121" name="그림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eb9733aac490d"/>
          <a:stretch xmlns:a="http://schemas.openxmlformats.org/drawingml/2006/main"/>
        </p:blipFill>
        <p:spPr>
          <a:xfrm xmlns:a="http://schemas.openxmlformats.org/drawingml/2006/main">
            <a:off x="594455" y="1800225"/>
            <a:ext cx="2068640" cy="4476750"/>
          </a:xfrm>
          <a:prstGeom xmlns:a="http://schemas.openxmlformats.org/drawingml/2006/main" prst="rect">
            <a:avLst/>
          </a:prstGeom>
        </p:spPr>
      </p:pic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3002618A-D656-4F53-BE3E-EAF29C44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85950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① 계획에 쓸 시간과 자료 확인하기</a:t>
            </a:r>
          </a:p>
        </p:txBody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6DF81ED0-C600-43BD-955C-61BF6D60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05050"/>
            <a:ext cx="5400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고정 일정과 가능한 시간을 정하고, 목표를 진행할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단계와 참고 자료를 확인한다. 자료가 없으면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건너뛰고 주간 초안을 만들 수 있다.</a:t>
            </a:r>
          </a:p>
        </p:txBody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8E88D576-8E14-4234-8ACC-B6503358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457575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② 시간표에서 할 일과 분량 고치기</a:t>
            </a:r>
          </a:p>
        </p:txBody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9BDE08F4-8905-4D35-90B3-38D4E966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76675"/>
            <a:ext cx="54006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제안된 할 일을 주간 시간표에서 확인한다.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블록을 누르면 내용을 고치고, 끌면 15분 단위로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시간을 옮긴다. 필요한 할 일은 직접 추가한다.</a:t>
            </a:r>
          </a:p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C86E45DD-7172-4848-BAEE-F1EA77C5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181600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③ 계획 승인하고 실행하기</a:t>
            </a:r>
          </a:p>
        </p:txBody>
      </p:sp>
      <p:sp>
        <p:nvSpPr>
          <p:cNvPr id="107" name="직사각형 106">
            <a:extLst xmlns:a="http://schemas.openxmlformats.org/drawingml/2006/main">
              <a:ext uri="{FF2B5EF4-FFF2-40B4-BE49-F238E27FC236}">
                <a16:creationId xmlns:a16="http://schemas.microsoft.com/office/drawing/2014/main" id="{373E26FF-03F1-43B0-A2B3-F1AC00CB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00700"/>
            <a:ext cx="5400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한 주에 할 분량을 확인하고 ‘이대로 시작’을 누른다.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승인한 계획의 첫 작업을 오늘 실행에서 시작한다.</a:t>
            </a:r>
          </a:p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B67F0D23-6B7F-4597-813A-46C8119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AI 주간 계획 초안</a:t>
            </a:r>
          </a:p>
        </p:txBody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65B325B3-1B98-4E81-82C3-4B5A18B5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296025"/>
            <a:ext cx="5400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811eeb85b44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A7099BE-5337-4C25-B6DA-E30B4FB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할 일 실행과 집중 기록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952162EC-1F53-4DD9-BA29-C7F9DAF3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74D95D1B-EC2B-45F6-8954-9952619B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pic>
        <p:nvPicPr>
          <p:cNvPr id="133" name="그림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a2e31793447f4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34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fa37f630243c3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14" name="직사각형 113">
            <a:extLst xmlns:a="http://schemas.openxmlformats.org/drawingml/2006/main">
              <a:ext uri="{FF2B5EF4-FFF2-40B4-BE49-F238E27FC236}">
                <a16:creationId xmlns:a16="http://schemas.microsoft.com/office/drawing/2014/main" id="{E642C710-E859-4936-8BC3-EAB4B4B2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① 지금 할 작업 고르기</a:t>
            </a:r>
          </a:p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DA39E627-F435-4F1F-9167-C0493C6E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71725"/>
            <a:ext cx="3714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진행 중인 작업을 먼저 보여준다.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없으면 우선순위와 시작 시간을 보고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다음 할 일을 제시한다. 카드에서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작업 내용과 예상 시간을 확인한다.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4A021FA8-582B-4FEF-A8B2-D8A7344F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② 집중한 뒤 결과 남기기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295048F5-63CB-445B-8EB5-2B27F40A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3714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 시간을 재며 작업하고, 잠시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멈췄다가 이어 할 수 있다. 작업을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마칠 때 완료, 일부 완료, 실패를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구분한다. 못한 경우에는 원인을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남기는 화면으로 이어진다.</a:t>
            </a:r>
          </a:p>
        </p:txBody>
      </p:sp>
      <p:sp>
        <p:nvSpPr>
          <p:cNvPr id="118" name="직사각형 117">
            <a:extLst xmlns:a="http://schemas.openxmlformats.org/drawingml/2006/main">
              <a:ext uri="{FF2B5EF4-FFF2-40B4-BE49-F238E27FC236}">
                <a16:creationId xmlns:a16="http://schemas.microsoft.com/office/drawing/2014/main" id="{EC79D916-5033-4130-A2C5-8A455154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오늘 할 일과 남은 일정</a:t>
            </a:r>
          </a:p>
        </p:txBody>
      </p:sp>
      <p:sp>
        <p:nvSpPr>
          <p:cNvPr id="119" name="직사각형 118">
            <a:extLst xmlns:a="http://schemas.openxmlformats.org/drawingml/2006/main">
              <a:ext uri="{FF2B5EF4-FFF2-40B4-BE49-F238E27FC236}">
                <a16:creationId xmlns:a16="http://schemas.microsoft.com/office/drawing/2014/main" id="{DDE10836-80B3-45F4-B3FE-C3AE166D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집중 시간과 실행 결과</a:t>
            </a:r>
          </a:p>
        </p:txBody>
      </p:sp>
      <p:sp>
        <p:nvSpPr>
          <p:cNvPr id="120" name="직사각형 119">
            <a:extLst xmlns:a="http://schemas.openxmlformats.org/drawingml/2006/main">
              <a:ext uri="{FF2B5EF4-FFF2-40B4-BE49-F238E27FC236}">
                <a16:creationId xmlns:a16="http://schemas.microsoft.com/office/drawing/2014/main" id="{9C98EA4C-FD63-4C6C-9890-7164E2AB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2960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5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e9f33b74f40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36E26F35-ECAB-4F8B-A652-2326B365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실패 결과와 원인 기록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25FCFA80-C1F6-4CBF-871A-E0F11251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34931A9D-B750-4556-A72F-2380470F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pic>
        <p:nvPicPr>
          <p:cNvPr id="162" name="그림 1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427ce359844b7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63" name="그림 1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c6c18648842de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43" name="직사각형 142">
            <a:extLst xmlns:a="http://schemas.openxmlformats.org/drawingml/2006/main">
              <a:ext uri="{FF2B5EF4-FFF2-40B4-BE49-F238E27FC236}">
                <a16:creationId xmlns:a16="http://schemas.microsoft.com/office/drawing/2014/main" id="{AB63FF9F-BFF9-46B4-9D92-D41A2573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① 작업을 멈춘 결과 선택하기</a:t>
            </a:r>
          </a:p>
        </p:txBody>
      </p:sp>
      <p:sp>
        <p:nvSpPr>
          <p:cNvPr id="144" name="직사각형 143">
            <a:extLst xmlns:a="http://schemas.openxmlformats.org/drawingml/2006/main">
              <a:ext uri="{FF2B5EF4-FFF2-40B4-BE49-F238E27FC236}">
                <a16:creationId xmlns:a16="http://schemas.microsoft.com/office/drawing/2014/main" id="{CD868A36-1E73-436D-BCE1-B921A56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71725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‘일부만 했어요’ 또는 ‘잘 안됐어요’를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골라 작업 결과를 남긴다. 잠시 쉬는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경우는 ‘잠시 멈추고 나갈게요’를 골라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실패 기록과 구분한다.</a:t>
            </a:r>
          </a:p>
        </p:txBody>
      </p:sp>
      <p:sp>
        <p:nvSpPr>
          <p:cNvPr id="145" name="직사각형 144">
            <a:extLst xmlns:a="http://schemas.openxmlformats.org/drawingml/2006/main">
              <a:ext uri="{FF2B5EF4-FFF2-40B4-BE49-F238E27FC236}">
                <a16:creationId xmlns:a16="http://schemas.microsoft.com/office/drawing/2014/main" id="{7027A051-056F-4BF8-A342-A299F6B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② 못한 이유 남기기</a:t>
            </a:r>
          </a:p>
        </p:txBody>
      </p:sp>
      <p:sp>
        <p:nvSpPr>
          <p:cNvPr id="146" name="직사각형 145">
            <a:extLst xmlns:a="http://schemas.openxmlformats.org/drawingml/2006/main">
              <a:ext uri="{FF2B5EF4-FFF2-40B4-BE49-F238E27FC236}">
                <a16:creationId xmlns:a16="http://schemas.microsoft.com/office/drawing/2014/main" id="{0CB6B1F7-EADE-4D14-84ED-A5739C43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3714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시간 부족, 에너지 부족처럼 해당하는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원인을 1~2개 고른다. 부담 정도와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추가 설명도 남길 수 있다. 이 기록을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바탕으로 다음 화면에서 회복안을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제안한다.</a:t>
            </a:r>
          </a:p>
        </p:txBody>
      </p:sp>
      <p:sp>
        <p:nvSpPr>
          <p:cNvPr id="147" name="직사각형 146">
            <a:extLst xmlns:a="http://schemas.openxmlformats.org/drawingml/2006/main">
              <a:ext uri="{FF2B5EF4-FFF2-40B4-BE49-F238E27FC236}">
                <a16:creationId xmlns:a16="http://schemas.microsoft.com/office/drawing/2014/main" id="{BB52EE82-4D50-490E-829E-2AF6BC47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실패 발생</a:t>
            </a:r>
          </a:p>
        </p:txBody>
      </p:sp>
      <p:sp>
        <p:nvSpPr>
          <p:cNvPr id="148" name="직사각형 147">
            <a:extLst xmlns:a="http://schemas.openxmlformats.org/drawingml/2006/main">
              <a:ext uri="{FF2B5EF4-FFF2-40B4-BE49-F238E27FC236}">
                <a16:creationId xmlns:a16="http://schemas.microsoft.com/office/drawing/2014/main" id="{A5BAE8D3-13DB-4E29-A9CC-CFD2970E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실패 원인 선택</a:t>
            </a:r>
          </a:p>
        </p:txBody>
      </p:sp>
      <p:sp>
        <p:nvSpPr>
          <p:cNvPr id="149" name="직사각형 148">
            <a:extLst xmlns:a="http://schemas.openxmlformats.org/drawingml/2006/main">
              <a:ext uri="{FF2B5EF4-FFF2-40B4-BE49-F238E27FC236}">
                <a16:creationId xmlns:a16="http://schemas.microsoft.com/office/drawing/2014/main" id="{060A133D-FD51-4133-936E-F093A3BE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2960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de921119949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D4A559E-A123-4AC4-A17C-3F5E9966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회복안 비교와 선택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CE89B624-4193-42E5-BB5E-35D81B79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9056B695-78B3-4BFA-BEA1-AE11EEE2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132" name="그림 1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a2d95bb5d41de"/>
          <a:stretch xmlns:a="http://schemas.openxmlformats.org/drawingml/2006/main"/>
        </p:blipFill>
        <p:spPr>
          <a:xfrm xmlns:a="http://schemas.openxmlformats.org/drawingml/2006/main">
            <a:off x="607659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13" name="직사각형 112">
            <a:extLst xmlns:a="http://schemas.openxmlformats.org/drawingml/2006/main">
              <a:ext uri="{FF2B5EF4-FFF2-40B4-BE49-F238E27FC236}">
                <a16:creationId xmlns:a16="http://schemas.microsoft.com/office/drawing/2014/main" id="{CACB04AC-3017-46B5-96CA-EA6D4A34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85950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③ 지금 시도할 회복안 고르기</a:t>
            </a:r>
          </a:p>
        </p:txBody>
      </p:sp>
      <p:sp>
        <p:nvSpPr>
          <p:cNvPr id="114" name="직사각형 113">
            <a:extLst xmlns:a="http://schemas.openxmlformats.org/drawingml/2006/main">
              <a:ext uri="{FF2B5EF4-FFF2-40B4-BE49-F238E27FC236}">
                <a16:creationId xmlns:a16="http://schemas.microsoft.com/office/drawing/2014/main" id="{1ECCC6FC-E2A5-4214-81BA-D1F0F2E2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05050"/>
            <a:ext cx="54006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분량을 줄일지, 시점을 옮길지, 이번 주에는 보류할지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비교한다. 제안은 기록한 실패 사유와 작업 내용에 따라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달라진다. 방법을 고른 뒤 ‘이 방법으로’를 누른다.</a:t>
            </a:r>
          </a:p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3075056A-28F4-4E48-AE5B-D99F042E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86175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분량 줄이기, 내일 이어 하기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F8B016BB-9F76-449B-8419-2D9A2B71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05275"/>
            <a:ext cx="5400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작업 범위를 줄이거나 다음 날에 이어 할 작업을 만든다.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선택한 뒤에는 바뀔 작업과 시간을 확인하는 화면으로 간다.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1E4B8F19-089B-4E4D-8E5D-6C39C91B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191125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시간 변경, 보류</a:t>
            </a:r>
          </a:p>
        </p:txBody>
      </p:sp>
      <p:sp>
        <p:nvSpPr>
          <p:cNvPr id="118" name="직사각형 117">
            <a:extLst xmlns:a="http://schemas.openxmlformats.org/drawingml/2006/main">
              <a:ext uri="{FF2B5EF4-FFF2-40B4-BE49-F238E27FC236}">
                <a16:creationId xmlns:a16="http://schemas.microsoft.com/office/drawing/2014/main" id="{57C5E801-3C97-47A8-BFE9-572AF08E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10225"/>
            <a:ext cx="54006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시간 변경을 고르면 주간 계획에서 실행 시점을 직접 고친다.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보류는 이번 일정에 새 작업을 넣지 않고 선택만 남긴다.</a:t>
            </a:r>
          </a:p>
        </p:txBody>
      </p:sp>
      <p:sp>
        <p:nvSpPr>
          <p:cNvPr id="119" name="직사각형 118">
            <a:extLst xmlns:a="http://schemas.openxmlformats.org/drawingml/2006/main">
              <a:ext uri="{FF2B5EF4-FFF2-40B4-BE49-F238E27FC236}">
                <a16:creationId xmlns:a16="http://schemas.microsoft.com/office/drawing/2014/main" id="{243FA571-1EB3-4122-9B85-C2FA977C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③ 회복안 제안</a:t>
            </a:r>
          </a:p>
        </p:txBody>
      </p:sp>
      <p:sp>
        <p:nvSpPr>
          <p:cNvPr id="120" name="직사각형 119">
            <a:extLst xmlns:a="http://schemas.openxmlformats.org/drawingml/2006/main">
              <a:ext uri="{FF2B5EF4-FFF2-40B4-BE49-F238E27FC236}">
                <a16:creationId xmlns:a16="http://schemas.microsoft.com/office/drawing/2014/main" id="{1FF6FF10-03D6-4A9E-80DF-B48C4945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296025"/>
            <a:ext cx="5400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4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6c51f59ff4a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9EB52429-89D2-42F7-92B5-2F10CE0D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리플랜 변경 확인과 승인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F156CEF2-7B92-45B5-96B9-4294C606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75DE86DD-2929-4843-A1B2-44EF531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153" name="그림 1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56045cd4344b7"/>
          <a:stretch xmlns:a="http://schemas.openxmlformats.org/drawingml/2006/main"/>
        </p:blipFill>
        <p:spPr>
          <a:xfrm xmlns:a="http://schemas.openxmlformats.org/drawingml/2006/main">
            <a:off x="607659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36" name="직사각형 135">
            <a:extLst xmlns:a="http://schemas.openxmlformats.org/drawingml/2006/main">
              <a:ext uri="{FF2B5EF4-FFF2-40B4-BE49-F238E27FC236}">
                <a16:creationId xmlns:a16="http://schemas.microsoft.com/office/drawing/2014/main" id="{C66244A7-ECB1-4FD3-B4E1-E9B39BB9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00250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④ 기존 계획과 바뀔 계획 비교하기</a:t>
            </a:r>
          </a:p>
        </p:txBody>
      </p:sp>
      <p:sp>
        <p:nvSpPr>
          <p:cNvPr id="137" name="직사각형 136">
            <a:extLst xmlns:a="http://schemas.openxmlformats.org/drawingml/2006/main">
              <a:ext uri="{FF2B5EF4-FFF2-40B4-BE49-F238E27FC236}">
                <a16:creationId xmlns:a16="http://schemas.microsoft.com/office/drawing/2014/main" id="{9A9CE6B2-3848-4663-87FE-FC537791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19350"/>
            <a:ext cx="54006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기존 할 일과 새로 할 일을 비교한다. 왼쪽 예시는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발표 화면 전체 작업을 버튼 배치 수정으로 줄이고,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10:30~10:45에 진행하도록 바꾼 경우다.</a:t>
            </a:r>
          </a:p>
        </p:txBody>
      </p:sp>
      <p:sp>
        <p:nvSpPr>
          <p:cNvPr id="138" name="직사각형 137">
            <a:extLst xmlns:a="http://schemas.openxmlformats.org/drawingml/2006/main">
              <a:ext uri="{FF2B5EF4-FFF2-40B4-BE49-F238E27FC236}">
                <a16:creationId xmlns:a16="http://schemas.microsoft.com/office/drawing/2014/main" id="{2BEC767A-8390-4F03-B34B-74AE5D06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76700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‘일정 반영하기’를 눌러 승인하기</a:t>
            </a:r>
          </a:p>
        </p:txBody>
      </p:sp>
      <p:sp>
        <p:nvSpPr>
          <p:cNvPr id="139" name="직사각형 138">
            <a:extLst xmlns:a="http://schemas.openxmlformats.org/drawingml/2006/main">
              <a:ext uri="{FF2B5EF4-FFF2-40B4-BE49-F238E27FC236}">
                <a16:creationId xmlns:a16="http://schemas.microsoft.com/office/drawing/2014/main" id="{CEF6BE65-A431-4C47-BD4C-470E7CDC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95800"/>
            <a:ext cx="54006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회복안을 선택한 것만으로 시간표를 바꾸지 않는다.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이 화면에서 사용자가 승인해야 바뀐 계획을 일정에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추가한다. 승인 후 오늘 화면에서 새 할 일을 시작한다.</a:t>
            </a:r>
          </a:p>
        </p:txBody>
      </p:sp>
      <p:sp>
        <p:nvSpPr>
          <p:cNvPr id="140" name="직사각형 139">
            <a:extLst xmlns:a="http://schemas.openxmlformats.org/drawingml/2006/main">
              <a:ext uri="{FF2B5EF4-FFF2-40B4-BE49-F238E27FC236}">
                <a16:creationId xmlns:a16="http://schemas.microsoft.com/office/drawing/2014/main" id="{4A40D776-71C8-45AF-8852-BF469686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④ 변경된 계획 확인</a:t>
            </a:r>
          </a:p>
        </p:txBody>
      </p:sp>
      <p:sp>
        <p:nvSpPr>
          <p:cNvPr id="141" name="직사각형 140">
            <a:extLst xmlns:a="http://schemas.openxmlformats.org/drawingml/2006/main">
              <a:ext uri="{FF2B5EF4-FFF2-40B4-BE49-F238E27FC236}">
                <a16:creationId xmlns:a16="http://schemas.microsoft.com/office/drawing/2014/main" id="{35C345E3-C5E9-42AF-BCFD-D8EB6EB7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296025"/>
            <a:ext cx="5400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4fd104ba045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15AF68F7-7968-435A-9D43-698CF3F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리뷰와 다음 계획 조정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F428410A-4EAD-420E-B052-1A5DBD77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5A7F444D-BE81-476D-97B7-F97EFB5E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133" name="그림 1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86bd2e68a452f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34" name="그림 1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aa9e92f6e4467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14" name="직사각형 113">
            <a:extLst xmlns:a="http://schemas.openxmlformats.org/drawingml/2006/main">
              <a:ext uri="{FF2B5EF4-FFF2-40B4-BE49-F238E27FC236}">
                <a16:creationId xmlns:a16="http://schemas.microsoft.com/office/drawing/2014/main" id="{60BDE542-F8FD-4A31-B857-99B3E4BF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① 한 주의 실행과 회복 돌아보기</a:t>
            </a:r>
          </a:p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2B2CA2B0-C0E4-4477-85CB-628EA205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71725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일정을 얼마나 지켰는지, 멈춘 뒤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얼마나 다시 시작했는지 확인한다.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최근 3주 동안의 습관 기록을 보고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횟수 조정 제안도 함께 확인한다.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B5F1C14A-717A-4FBD-A036-B08767A1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② 다음 주에 할 분량 조정하기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7DB61C51-C47C-46C8-8368-AB7DE68C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시간표에서 블록을 눌러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할 일과 시간을 고친다. 다음 주기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제안이 있으면 주간 초안을 열어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분량을 확인한 뒤 승인한다.</a:t>
            </a:r>
          </a:p>
        </p:txBody>
      </p:sp>
      <p:sp>
        <p:nvSpPr>
          <p:cNvPr id="118" name="직사각형 117">
            <a:extLst xmlns:a="http://schemas.openxmlformats.org/drawingml/2006/main">
              <a:ext uri="{FF2B5EF4-FFF2-40B4-BE49-F238E27FC236}">
                <a16:creationId xmlns:a16="http://schemas.microsoft.com/office/drawing/2014/main" id="{E6119726-142A-40F5-9F45-D176DA1C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실행, 회복과 습관 기록</a:t>
            </a:r>
          </a:p>
        </p:txBody>
      </p:sp>
      <p:sp>
        <p:nvSpPr>
          <p:cNvPr id="119" name="직사각형 118">
            <a:extLst xmlns:a="http://schemas.openxmlformats.org/drawingml/2006/main">
              <a:ext uri="{FF2B5EF4-FFF2-40B4-BE49-F238E27FC236}">
                <a16:creationId xmlns:a16="http://schemas.microsoft.com/office/drawing/2014/main" id="{9C3EA149-EC48-4B5A-BD02-C8B4A2A1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주간 시간표 수정</a:t>
            </a:r>
          </a:p>
        </p:txBody>
      </p:sp>
      <p:sp>
        <p:nvSpPr>
          <p:cNvPr id="120" name="직사각형 119">
            <a:extLst xmlns:a="http://schemas.openxmlformats.org/drawingml/2006/main">
              <a:ext uri="{FF2B5EF4-FFF2-40B4-BE49-F238E27FC236}">
                <a16:creationId xmlns:a16="http://schemas.microsoft.com/office/drawing/2014/main" id="{56B2B049-88AF-403C-BC49-E7C416A7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2960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보조 기능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d8d8065be4e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4EC6B063-9A88-44E0-9FF3-09B7ABEE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인박스와 장기 목표 관리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5E3D4E5C-70D1-4718-8244-7FC83D0F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실제 UI, 시연용 예시 데이터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A7E6031E-9598-4DC1-BFD8-20273EF0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112" name="직사각형 111">
            <a:extLst xmlns:a="http://schemas.openxmlformats.org/drawingml/2006/main">
              <a:ext uri="{FF2B5EF4-FFF2-40B4-BE49-F238E27FC236}">
                <a16:creationId xmlns:a16="http://schemas.microsoft.com/office/drawing/2014/main" id="{87C9DA9A-38F0-42DD-9AF9-E334505F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383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인박스</a:t>
            </a:r>
          </a:p>
        </p:txBody>
      </p:sp>
      <p:pic>
        <p:nvPicPr>
          <p:cNvPr id="135" name="그림 1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5392196894b8c"/>
          <a:stretch xmlns:a="http://schemas.openxmlformats.org/drawingml/2006/main"/>
        </p:blipFill>
        <p:spPr>
          <a:xfrm xmlns:a="http://schemas.openxmlformats.org/drawingml/2006/main">
            <a:off x="887064" y="2219325"/>
            <a:ext cx="1540477" cy="3333750"/>
          </a:xfrm>
          <a:prstGeom xmlns:a="http://schemas.openxmlformats.org/drawingml/2006/main" prst="rect">
            <a:avLst/>
          </a:prstGeom>
        </p:spPr>
      </p:pic>
      <p:sp>
        <p:nvSpPr>
          <p:cNvPr id="114" name="직사각형 113">
            <a:extLst xmlns:a="http://schemas.openxmlformats.org/drawingml/2006/main">
              <a:ext uri="{FF2B5EF4-FFF2-40B4-BE49-F238E27FC236}">
                <a16:creationId xmlns:a16="http://schemas.microsoft.com/office/drawing/2014/main" id="{F2257357-B7F9-43A6-95DF-9179385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6737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메모와 자료를 모아두고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필요한 내용을 목표나 할 일로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전환한다. 원문은 함께 남긴다.</a:t>
            </a:r>
          </a:p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926A1987-52A5-48CB-8AF8-75578BBD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383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궁극적 목표 인터뷰</a:t>
            </a:r>
          </a:p>
        </p:txBody>
      </p:sp>
      <p:pic>
        <p:nvPicPr>
          <p:cNvPr id="138" name="그림 1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03f50181548ca"/>
          <a:stretch xmlns:a="http://schemas.openxmlformats.org/drawingml/2006/main"/>
        </p:blipFill>
        <p:spPr>
          <a:xfrm xmlns:a="http://schemas.openxmlformats.org/drawingml/2006/main">
            <a:off x="3801714" y="2219325"/>
            <a:ext cx="1540477" cy="3333750"/>
          </a:xfrm>
          <a:prstGeom xmlns:a="http://schemas.openxmlformats.org/drawingml/2006/main" prst="rect">
            <a:avLst/>
          </a:prstGeom>
        </p:spPr>
      </p:pic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8A434787-9DB7-4D28-A088-45FCAAF9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6737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이루고 싶은 결과에 답한다.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답변을 중심 목표로 정리하고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만다라트에서 행동으로 나눈다.</a:t>
            </a:r>
          </a:p>
        </p:txBody>
      </p:sp>
      <p:sp>
        <p:nvSpPr>
          <p:cNvPr id="118" name="직사각형 117">
            <a:extLst xmlns:a="http://schemas.openxmlformats.org/drawingml/2006/main">
              <a:ext uri="{FF2B5EF4-FFF2-40B4-BE49-F238E27FC236}">
                <a16:creationId xmlns:a16="http://schemas.microsoft.com/office/drawing/2014/main" id="{43576451-7F08-432D-8F1F-040A48DF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383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만다라트</a:t>
            </a:r>
          </a:p>
        </p:txBody>
      </p:sp>
      <p:pic>
        <p:nvPicPr>
          <p:cNvPr id="141" name="그림 1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73e32fefa4abc"/>
          <a:stretch xmlns:a="http://schemas.openxmlformats.org/drawingml/2006/main"/>
        </p:blipFill>
        <p:spPr>
          <a:xfrm xmlns:a="http://schemas.openxmlformats.org/drawingml/2006/main">
            <a:off x="6716364" y="2219325"/>
            <a:ext cx="1540477" cy="3333750"/>
          </a:xfrm>
          <a:prstGeom xmlns:a="http://schemas.openxmlformats.org/drawingml/2006/main" prst="rect">
            <a:avLst/>
          </a:prstGeom>
        </p:spPr>
      </p:pic>
      <p:sp>
        <p:nvSpPr>
          <p:cNvPr id="120" name="직사각형 119">
            <a:extLst xmlns:a="http://schemas.openxmlformats.org/drawingml/2006/main">
              <a:ext uri="{FF2B5EF4-FFF2-40B4-BE49-F238E27FC236}">
                <a16:creationId xmlns:a16="http://schemas.microsoft.com/office/drawing/2014/main" id="{4A1E5492-518C-474F-89B0-86F95525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6737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목표를 8개 영역으로 나눈다.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영역별 최대 8개 행동을 정하고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각 행동의 진행 상태를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프론트엔드 설계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0d6b00e3e4d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DB8ABB9-2581-400D-8258-3EEBD1C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네이티브 앱 구성과 지원 범위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DB38DE3F-D1A5-46DA-8585-2F31ACFB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B67EB88F-E8D6-4094-A798-922F5D5B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EEDDC744-EB24-450D-834C-799BB980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5950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Android, iOS 설치형 앱</a:t>
            </a:r>
          </a:p>
        </p:txBody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0ADE8D2C-5E84-4786-A257-D9A5F489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05050"/>
            <a:ext cx="8305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React 화면을 앱에 포함하는 도구인 Capacitor를 사용한다. Android와 iOS가 같은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화면 코드를 쓰며, Android는 스토어 제출용 파일(AAB)을 만드는 절차도 갖췄다.</a:t>
            </a:r>
          </a:p>
        </p:txBody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EC233E82-7296-42B3-B279-B901BE4B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09950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앱 알림과 캘린더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2D6DDD28-D798-4F9D-BD3E-E5AE2BC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29050"/>
            <a:ext cx="8305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앱 알림은 기기별 수신 정보를 서버에 등록하는 기능이 남아 있다.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Google 캘린더 자동 가져오기도 준비 중이므로 고정 일정은 직접 입력한다.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1D6FB890-C701-4C45-8B8E-11ACCB88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회복안에 반영하는 시간 조건</a:t>
            </a:r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EF179DCF-557D-47A1-B7B1-8D121BBA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53050"/>
            <a:ext cx="8305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현재는 실패 사유로 회복 전략을 고르고, 기존 작업 시간과 현재 시각으로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새 일정을 계산한다. 남은 가용 시간을 </a:t>
            </a: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회복안</a:t>
            </a: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 생성에 직접 반영하는 것은</a:t>
            </a: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앞으로 </a:t>
            </a: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구현해야한</a:t>
            </a: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다</a:t>
            </a: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2026-09-06T04:47:22.3350000Z</dcterms:created>
  <dcterms:modified xsi:type="dcterms:W3CDTF">2026-09-06T04:47:22.3350000Z</dcterms:modified>
</coreProperties>
</file>