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d8168f11a6412c" /><Relationship Type="http://schemas.openxmlformats.org/officeDocument/2006/relationships/extended-properties" Target="/docProps/app.xml" Id="R81fe38b84d9e40e0" /><Relationship Type="http://schemas.openxmlformats.org/officeDocument/2006/relationships/officeDocument" Target="/ppt/presentation.xml" Id="R2357286a6c41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c01acbfcb4b7a"/>
  </p:sldMasterIdLst>
  <p:notesMasterIdLst>
    <p:notesMasterId xmlns:r="http://schemas.openxmlformats.org/officeDocument/2006/relationships" r:id="Rfe6dc968bb1a45f3"/>
  </p:notesMasterIdLst>
  <p:sldIdLst>
    <p:sldId xmlns:r="http://schemas.openxmlformats.org/officeDocument/2006/relationships" id="256" r:id="Rc6c72dc06e2d4d47"/>
    <p:sldId xmlns:r="http://schemas.openxmlformats.org/officeDocument/2006/relationships" id="257" r:id="R30dbb82e7a0c4197"/>
    <p:sldId xmlns:r="http://schemas.openxmlformats.org/officeDocument/2006/relationships" id="258" r:id="R5a3377e9b5154ec3"/>
    <p:sldId xmlns:r="http://schemas.openxmlformats.org/officeDocument/2006/relationships" id="259" r:id="R0f4de441a73242d2"/>
    <p:sldId xmlns:r="http://schemas.openxmlformats.org/officeDocument/2006/relationships" id="260" r:id="Rac594fd882934731"/>
    <p:sldId xmlns:r="http://schemas.openxmlformats.org/officeDocument/2006/relationships" id="261" r:id="R234f69b95aa84054"/>
    <p:sldId xmlns:r="http://schemas.openxmlformats.org/officeDocument/2006/relationships" id="262" r:id="R44e8e38c1aa74bd9"/>
    <p:sldId xmlns:r="http://schemas.openxmlformats.org/officeDocument/2006/relationships" id="263" r:id="R3f6beac30aee421e"/>
    <p:sldId xmlns:r="http://schemas.openxmlformats.org/officeDocument/2006/relationships" id="264" r:id="R9248209445f94efa"/>
    <p:sldId xmlns:r="http://schemas.openxmlformats.org/officeDocument/2006/relationships" id="265" r:id="R79d06cb45c244691"/>
    <p:sldId xmlns:r="http://schemas.openxmlformats.org/officeDocument/2006/relationships" id="266" r:id="Rcfb962fe3eba4dc9"/>
    <p:sldId xmlns:r="http://schemas.openxmlformats.org/officeDocument/2006/relationships" id="267" r:id="R03ad5c6685a04780"/>
    <p:sldId xmlns:r="http://schemas.openxmlformats.org/officeDocument/2006/relationships" id="268" r:id="Re3cdfb9de42442a3"/>
    <p:sldId xmlns:r="http://schemas.openxmlformats.org/officeDocument/2006/relationships" id="269" r:id="R18c211814fb946bd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35f2ec2b804b19" /><Relationship Type="http://schemas.openxmlformats.org/officeDocument/2006/relationships/slideMaster" Target="/ppt/slideMasters/slideMaster1.xml" Id="R079c01acbfcb4b7a" /><Relationship Type="http://schemas.openxmlformats.org/officeDocument/2006/relationships/notesMaster" Target="/ppt/notesMasters/notesMaster1.xml" Id="Rfe6dc968bb1a45f3" /><Relationship Type="http://schemas.openxmlformats.org/officeDocument/2006/relationships/presProps" Target="/ppt/presProps.xml" Id="R4e5a977d8caa418f" /><Relationship Type="http://schemas.openxmlformats.org/officeDocument/2006/relationships/viewProps" Target="/ppt/viewProps.xml" Id="R5ba1126d9fa44c96" /><Relationship Type="http://schemas.openxmlformats.org/officeDocument/2006/relationships/tableStyles" Target="/ppt/tableStyles.xml" Id="R4a6983c35f944948" /><Relationship Type="http://schemas.microsoft.com/office/2018/10/relationships/authors" Target="/ppt/authors.xml" Id="R12caf52aaa44443c" /><Relationship Type="http://schemas.openxmlformats.org/officeDocument/2006/relationships/slide" Target="/ppt/slides/slide1.xml" Id="Rc6c72dc06e2d4d47" /><Relationship Type="http://schemas.openxmlformats.org/officeDocument/2006/relationships/slide" Target="/ppt/slides/slide2.xml" Id="R30dbb82e7a0c4197" /><Relationship Type="http://schemas.openxmlformats.org/officeDocument/2006/relationships/slide" Target="/ppt/slides/slide3.xml" Id="R5a3377e9b5154ec3" /><Relationship Type="http://schemas.openxmlformats.org/officeDocument/2006/relationships/slide" Target="/ppt/slides/slide4.xml" Id="R0f4de441a73242d2" /><Relationship Type="http://schemas.openxmlformats.org/officeDocument/2006/relationships/slide" Target="/ppt/slides/slide5.xml" Id="Rac594fd882934731" /><Relationship Type="http://schemas.openxmlformats.org/officeDocument/2006/relationships/slide" Target="/ppt/slides/slide6.xml" Id="R234f69b95aa84054" /><Relationship Type="http://schemas.openxmlformats.org/officeDocument/2006/relationships/slide" Target="/ppt/slides/slide7.xml" Id="R44e8e38c1aa74bd9" /><Relationship Type="http://schemas.openxmlformats.org/officeDocument/2006/relationships/slide" Target="/ppt/slides/slide8.xml" Id="R3f6beac30aee421e" /><Relationship Type="http://schemas.openxmlformats.org/officeDocument/2006/relationships/slide" Target="/ppt/slides/slide9.xml" Id="R9248209445f94efa" /><Relationship Type="http://schemas.openxmlformats.org/officeDocument/2006/relationships/slide" Target="/ppt/slides/slide10.xml" Id="R79d06cb45c244691" /><Relationship Type="http://schemas.openxmlformats.org/officeDocument/2006/relationships/slide" Target="/ppt/slides/slide11.xml" Id="Rcfb962fe3eba4dc9" /><Relationship Type="http://schemas.openxmlformats.org/officeDocument/2006/relationships/slide" Target="/ppt/slides/slide12.xml" Id="R03ad5c6685a04780" /><Relationship Type="http://schemas.openxmlformats.org/officeDocument/2006/relationships/slide" Target="/ppt/slides/slide13.xml" Id="Re3cdfb9de42442a3" /><Relationship Type="http://schemas.openxmlformats.org/officeDocument/2006/relationships/slide" Target="/ppt/slides/slide14.xml" Id="R18c211814fb9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34055a6a1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bf3301d8d4c0d" /><Relationship Type="http://schemas.openxmlformats.org/officeDocument/2006/relationships/notesMaster" Target="/ppt/notesMasters/notesMaster1.xml" Id="R5f2ecbb9059a4e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66df86ed304e19" /><Relationship Type="http://schemas.openxmlformats.org/officeDocument/2006/relationships/notesMaster" Target="/ppt/notesMasters/notesMaster1.xml" Id="Rb57487e4881c44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5e89ee9844443" /><Relationship Type="http://schemas.openxmlformats.org/officeDocument/2006/relationships/notesMaster" Target="/ppt/notesMasters/notesMaster1.xml" Id="R4b9d500a7f74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9ab4b1c4f4139" /><Relationship Type="http://schemas.openxmlformats.org/officeDocument/2006/relationships/notesMaster" Target="/ppt/notesMasters/notesMaster1.xml" Id="Ra4e4c20e942e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4ad79f9294a77" /><Relationship Type="http://schemas.openxmlformats.org/officeDocument/2006/relationships/notesMaster" Target="/ppt/notesMasters/notesMaster1.xml" Id="R02ca6d682ff0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77f80680049da" /><Relationship Type="http://schemas.openxmlformats.org/officeDocument/2006/relationships/notesMaster" Target="/ppt/notesMasters/notesMaster1.xml" Id="R649a3d28a91242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87ff0d0a1040b0" /><Relationship Type="http://schemas.openxmlformats.org/officeDocument/2006/relationships/notesMaster" Target="/ppt/notesMasters/notesMaster1.xml" Id="R01690d7677ba4a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c9ddad85164078" /><Relationship Type="http://schemas.openxmlformats.org/officeDocument/2006/relationships/notesMaster" Target="/ppt/notesMasters/notesMaster1.xml" Id="R82e217eab8af4e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5209170044365" /><Relationship Type="http://schemas.openxmlformats.org/officeDocument/2006/relationships/notesMaster" Target="/ppt/notesMasters/notesMaster1.xml" Id="R785ccf7ca05f4c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d08ecf31b24d2d" /><Relationship Type="http://schemas.openxmlformats.org/officeDocument/2006/relationships/notesMaster" Target="/ppt/notesMasters/notesMaster1.xml" Id="Ra3afce6bea2447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665da4eab84372" /><Relationship Type="http://schemas.openxmlformats.org/officeDocument/2006/relationships/notesMaster" Target="/ppt/notesMasters/notesMaster1.xml" Id="R046b92c9b10542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dc8c4ce8ac4369" /><Relationship Type="http://schemas.openxmlformats.org/officeDocument/2006/relationships/notesMaster" Target="/ppt/notesMasters/notesMaster1.xml" Id="R17f22588e47f41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9c05765a4347e3" /><Relationship Type="http://schemas.openxmlformats.org/officeDocument/2006/relationships/notesMaster" Target="/ppt/notesMasters/notesMaster1.xml" Id="R0f325da8795846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bd3f65ea0449bd" /><Relationship Type="http://schemas.openxmlformats.org/officeDocument/2006/relationships/notesMaster" Target="/ppt/notesMasters/notesMaster1.xml" Id="Rfe8c3c3e572d4b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화면의 일정과 수치는 시연용 예시이며 실제 사용자 개인정보를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대표 사용 흐름이다. 주간 리뷰는 매 실행 직후의 필수 단계가 아니라 한 주를 돌아볼 때 이용한다. 일시정지는 실패 기록이 아니다. 회복 선택으로 새 할 일이 생기면 변경 내용을 승인한다. 새 할 일이 생기지 않는 시간 변경은 주간 계획에서 직접 마무리하고 보류는 선택만 저장한다.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https://github.com/hanium-reaction/reaction-frontend/blob/9d02ef2/src/app/DesktopSidebar.tsx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선은 메뉴와 하위 화면의 관계를 나타낸다. 모바일의 목표 관리와 설정은 오늘 상단 더보기에서 접근한다. 저녁 체크인은 오늘 화면의 독립 동작이다. 주간 리뷰는 주간 탭 안의 전환 화면이다. 하위 화면에서 발생하는 결과 화면은 주요 메뉴의 소속 기능으로 묶었다. 실제 앱 색상과 캡처는 각 사용 흐름 페이지에서 확인한다.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https://github.com/hanium-reaction/reaction-frontend/blob/9407c9d/src/screens/GoalIntakeScreen.tsx</a:t>
            </a:r>
          </a:p>
          <a:p xmlns:a="http://schemas.openxmlformats.org/drawingml/2006/main">
            <a:r>
              <a:t>https://github.com/hanium-reaction/reaction-frontend/blob/9407c9d/src/screens/GoalClassificationScreen.tsx</a:t>
            </a:r>
          </a:p>
          <a:p xmlns:a="http://schemas.openxmlformats.org/drawingml/2006/main">
            <a:r>
              <a:t>UC-01. 답변을 보내면 서버가 반환하는 추가 질문과 목표 후보를 화면에 반영한다. 현재 코드의 실제 UI에 시연용 응답을 사용한 캡처다. AI 목표 추출 로직 자체는 프론트엔드가 아닌 서버 영역이다.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https://github.com/hanium-reaction/reaction-frontend/blob/9407c9d/src/screens/WeeklyPlanGenerationScreen.tsx</a:t>
            </a:r>
          </a:p>
          <a:p xmlns:a="http://schemas.openxmlformats.org/drawingml/2006/main">
            <a:r>
              <a:t>https://github.com/hanium-reaction/reaction-frontend/blob/9407c9d/src/screens/MilestoneConfirmScreen.tsx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UC-01. 실제 UI, 시연용 예시 데이터. 입력 확인 → draft 생성 → 편집 → approve. 참고 자료 화면의 현재 구현은 검색어와 본문 검토이며 별도 도서/영상 선택 과정은 14쪽에서 미완료로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https://github.com/hanium-reaction/reaction-frontend/blob/9d02ef2/src/screens/FocusScreen.tsx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UC-03. 9d02ef2의 실제 UI를 390×844 크기로 실행해 캡처했다. API 응답은 시연용 가상 데이터다. 같은 작업을 시작하고 실패 원인을 기록한 흐름의 캡처를 사용한다. 일시정지, 일부 완료, 실패를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UC-03. 9d02ef2 실제 UI, API 시연용 가상 응답. resultingActionItemId가 있으면 변경 전후를 조회하고 승인한다. 없으면 새 일정이 자동으로 생겼다고 표시하지 않는다. RESCHEDULE은 주간 계획 열기로 직접 수정하고, PARK는 선택 저장 후 오늘로 돌아간다. 실패한 작업 카드를 통해 같은 실행의 회복을 다시 열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UC-04. 실제 UI, 시연용 예시 데이터. 통계 수치는 성능이나 사용자 성과 주장이 아니다. 주간 리뷰의 후속 2주 계획 승인 연결은 완성된 기능으로 설명하지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https://github.com/hanium-reaction/reaction-frontend/blob/9407c9d/src/screens/InboxScreen.tsx</a:t>
            </a:r>
          </a:p>
          <a:p xmlns:a="http://schemas.openxmlformats.org/drawingml/2006/main">
            <a:r>
              <a:t>UC-05. 실제 UI, 시연용 예시 데이터. 보관과 복원, 목표/할 일 전환, resource 상세와 단계 채택을 구분한다. 자료 단계 채택은 자료 ID와 단계 ID를 이용해 중복 요청을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https://github.com/hanium-reaction/reaction-frontend/blob/9407c9d/src/screens/UltimateGoalInterviewScreen.tsx</a:t>
            </a:r>
          </a:p>
          <a:p xmlns:a="http://schemas.openxmlformats.org/drawingml/2006/main">
            <a:r>
              <a:t>https://github.com/hanium-reaction/reaction-frontend/blob/9407c9d/src/screens/MandalaDraftScreen.tsx</a:t>
            </a:r>
          </a:p>
          <a:p xmlns:a="http://schemas.openxmlformats.org/drawingml/2006/main">
            <a:r>
              <a:t>https://github.com/hanium-reaction/reaction-frontend/blob/9407c9d/src/screens/MandalaScreen.tsx</a:t>
            </a:r>
          </a:p>
          <a:p xmlns:a="http://schemas.openxmlformats.org/drawingml/2006/main">
            <a:r>
              <a:t>UC-02. 실제 UI, 시연용 예시 데이터. 실행 계획용 딥 인터뷰와 궁극적 목표 인터뷰는 다른 흐름이다. 만다라트는 목표 1개, 영역 8개, 행동 최대 64개이며 전체 최대 73개 노드다. 원본 캡처는 모든 칸을 한 화면에 펼친 것이 아니라 영역별로 보는 UI다. 생성/초안 수정 보존의 구현 파일은 저장소의 MandalaDraft 관련 화면을 참조한다.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연결선은 사용자와 사용 목적의 관계이며 실행 순서가 아니다. 로그인, 설정과 프로필은 공통 보조 기능이다. UC-03의 회복은 일부 완료 또는 실패 시에만 이어진다.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https://github.com/hanium-reaction/reaction-frontend/blob/9d02ef2/src/screens/InboxScreen.tsx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화면별 입력과 동작은 4~10쪽에 설명한다. UC-03은 실행과 회복을 포함한다. 회복 선택으로 새 할 일이 생길 때에만 변경 승인 요청을 보낸다. 주간 리뷰의 다음 2주 계획 등 미완료 기능은 14쪽에서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9d02ef2, 2026-09-05.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회복 선택 응답의 resultingActionItemId 유무로 변경 승인 필요 여부를 구분한다. 변경 승인은 await replanApi.approve(executionId, `replan-${executionId}`) 성공 후 이동한다. 새 할 일이 없는 시간 변경과 보류는 선택 저장 뒤 각각 직접 일정 수정 또는 오늘 복귀로 이어진다.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https://github.com/hanium-reaction/reaction-frontend/blob/9407c9d/src/screens/SettingsScreen.tsx</a:t>
            </a:r>
          </a:p>
          <a:p xmlns:a="http://schemas.openxmlformats.org/drawingml/2006/main">
            <a:r>
              <a:t>https://github.com/hanium-reaction/reaction-frontend/blob/9407c9d/src/screens/MaterialsSearchScreen.tsx</a:t>
            </a:r>
          </a:p>
          <a:p xmlns:a="http://schemas.openxmlformats.org/drawingml/2006/main">
            <a:r>
              <a:t>https://github.com/hanium-reaction/reaction-frontend/blob/9407c9d/src/screens/WeeklyCalendarScreen.tsx</a:t>
            </a:r>
          </a:p>
          <a:p xmlns:a="http://schemas.openxmlformats.org/drawingml/2006/main">
            <a:r>
              <a:t>https://github.com/hanium-reaction/reaction-frontend/blob/9407c9d/src/screens/WeeklyReviewScreen.tsx</a:t>
            </a:r>
          </a:p>
          <a:p xmlns:a="http://schemas.openxmlformats.org/drawingml/2006/main">
            <a:r>
              <a:t>기준일 2026-09-05의 미완료 작업.</a:t>
            </a:r>
          </a:p>
          <a:p xmlns:a="http://schemas.openxmlformats.org/drawingml/2006/main">
            <a:r>
              <a:t>https://github.com/hanium-reaction/reaction-frontend/issues/315</a:t>
            </a:r>
          </a:p>
          <a:p xmlns:a="http://schemas.openxmlformats.org/drawingml/2006/main">
            <a:r>
              <a:t>https://github.com/hanium-reaction/reaction-frontend/issues/311</a:t>
            </a:r>
          </a:p>
          <a:p xmlns:a="http://schemas.openxmlformats.org/drawingml/2006/main">
            <a:r>
              <a:t>https://github.com/hanium-reaction/reaction-frontend/issues/310</a:t>
            </a:r>
          </a:p>
          <a:p xmlns:a="http://schemas.openxmlformats.org/drawingml/2006/main">
            <a:r>
              <a:t>https://github.com/hanium-reaction/reaction-frontend/issues/260</a:t>
            </a:r>
          </a:p>
          <a:p xmlns:a="http://schemas.openxmlformats.org/drawingml/2006/main">
            <a:r>
              <a:t>현재 UI는 크림 배경 #FAF6EE, 카드 #FFFCF6, 주요 동작 #E26D4E/#9E472F, 완료 #5D9767/#487550과 Pretendard Variable을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35c7c3a9c47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8caa35f5a46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e9cd8387a41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51b6a096149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e3beb2d8b4a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374515c5e4d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bc989dead4a3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55414a9ab41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eb0a0097048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bb18933ce40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20c5bcacd40da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B058B98-E26F-45C4-AD54-2282023DE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16FD5AB0-9968-49DA-B73D-6D8FB51F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40FDD0BA-5770-435D-AE91-C8B47BAFD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08C18-F846-4F83-9E4A-EF96E909B73F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399C6C-648C-4AA5-B332-4DFAC71A4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97A017-1FDC-4CDD-BD7E-7FF90C17B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EC41F90-E110-4DB3-A5D2-B08C06574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66B3717-F937-4171-8ADF-7B28F0FC8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3630CC2-A88D-49D9-8161-C83BAE5A8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3DBE8A-08A0-4AE2-B806-C9B9A473B0ED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67AE01E-2A0E-4503-B51A-A0748CC15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5CB21DF-7229-4A34-A7B4-38F44D5B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617245"/>
            <a:ext cx="2133600" cy="1961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B28905-715B-4C0E-A430-AE6A161A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442D429-631F-43A3-9F09-E98AF6A64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5FF06AD-0418-4150-B773-9EA794541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E13E15-7006-4370-B5F6-60D7104AE3B4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9562A13-CD99-4CB5-83E2-CF3530042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B0D75F4-86E2-48C0-B6FD-50054E583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9E9AA3-5851-4BDC-AF03-1950F26E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977436A-125E-4DA2-86BD-6C1BA90319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7337566-314F-45B9-A81F-CB385C94BE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681BA63-5B35-46D6-9474-985FA16F0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10D11-2C95-44F2-9DFC-D0C737CB5390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540C3A13-C943-41EA-8AD8-18B080F006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3CB917B-0DA6-4668-B466-0B0001A5E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68E0910-7169-46FA-9B0F-9C1001F1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1B213A7-0AEB-42CE-94A5-5C344DB3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EA2E6E3E-E08E-457D-8985-1DF1EA35A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FAECCE1-9EC8-4C17-85FA-A93FEC81C1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033FE23-C0C5-4ADD-B2B5-38029CB7E3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980AE80-6D44-41E3-BE2A-5FE60B1B4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35845-0C4F-469E-8726-3EBFD71077A7}" type="datetime1">
              <a:t>2026-09-05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7CD01B1C-8511-4CCA-92D4-6FA80C873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B4643395-E6E9-4042-AD4B-F28264A8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F7BD5-C0B3-43B6-92A8-B325534BB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07AB2A5D-0D48-4FBB-83C3-39EF70656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0FC019-3CDA-4483-987D-B12D1EB4D233}" type="datetime1">
              <a:t>2026-09-05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9C76022-8F01-40D2-9129-2569CDC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1F8534D-DAC1-445F-8274-65C7B281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0C5F4DFE-A88C-440D-B611-3C3259CAE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936E48-2907-481B-8F8C-35E94B4338B9}" type="datetime1">
              <a:t>2026-09-05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73F3C8DA-B84E-4E1A-A2F5-954B340EE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D8593F4-7A67-44CB-A658-C297355D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BC0864-0027-49C8-B0C2-D6805F15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EBEBA95-1739-40A1-95B3-2CF5EBE493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F776F4F-6FBB-4B5E-9629-6E73D1CF5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E93325-AB57-455E-9550-3109A2D17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D1E666-04C9-40C3-88DF-F7C22C7A6172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C30FE3-A212-479D-808D-DE8C95471B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91731E1-408D-4F8E-8B7B-0556923FE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B59D4B2-A015-44A0-8C2E-90853C30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06C564D9-5731-41BB-9A40-00A2675575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F3BDB84-AC51-4C27-99D4-CB3A402CA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D1CC2E4D-4A98-46B5-BEE9-7AC89720E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D27B48-006F-4BC1-BDC8-3C8CA726AC13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8A901FAA-4401-4549-9FB9-A94771858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0CE4E39-FABE-4B2A-B020-E25BCD5F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695D5C8-159C-45E4-8A78-130CA297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2FE8E52-747A-45EA-916D-2DC1F4FD1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CC91281-7798-4DF9-B80D-DE7E0C0DB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22DE9A-8BD0-4588-90EC-B8326F0668FE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41046F2-E688-4FC3-AE67-105DABA04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8CBBC4-BACC-45CB-A96C-36F8498A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0AF13A5C-CC02-4240-BE7E-D45735008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29E3F2-5CC0-4AAC-9C3B-F3766BEC5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B2119A9-D711-4C46-B146-FEE05016F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F8B5EE-9957-45ED-8881-249F27AAE9BD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B9FF057-95E0-49AC-9809-73422CFFA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3C8B054-9EFC-4404-AEF6-56800CAB2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5adfe6acb4b03" /><Relationship Type="http://schemas.openxmlformats.org/officeDocument/2006/relationships/slideLayout" Target="/ppt/slideLayouts/slideLayout1.xml" Id="Rf637583657de4926" /><Relationship Type="http://schemas.openxmlformats.org/officeDocument/2006/relationships/slideLayout" Target="/ppt/slideLayouts/slideLayout2.xml" Id="Rebfef30366884fe5" /><Relationship Type="http://schemas.openxmlformats.org/officeDocument/2006/relationships/slideLayout" Target="/ppt/slideLayouts/slideLayout3.xml" Id="Rb88c2a8a29594556" /><Relationship Type="http://schemas.openxmlformats.org/officeDocument/2006/relationships/slideLayout" Target="/ppt/slideLayouts/slideLayout4.xml" Id="R70442a2e2fae4f6a" /><Relationship Type="http://schemas.openxmlformats.org/officeDocument/2006/relationships/slideLayout" Target="/ppt/slideLayouts/slideLayout5.xml" Id="R1fccaa41a8164923" /><Relationship Type="http://schemas.openxmlformats.org/officeDocument/2006/relationships/slideLayout" Target="/ppt/slideLayouts/slideLayout6.xml" Id="R3e03a05b2f2e499c" /><Relationship Type="http://schemas.openxmlformats.org/officeDocument/2006/relationships/slideLayout" Target="/ppt/slideLayouts/slideLayout7.xml" Id="Rc50c476482d944ec" /><Relationship Type="http://schemas.openxmlformats.org/officeDocument/2006/relationships/slideLayout" Target="/ppt/slideLayouts/slideLayout8.xml" Id="R6130a8af97284881" /><Relationship Type="http://schemas.openxmlformats.org/officeDocument/2006/relationships/slideLayout" Target="/ppt/slideLayouts/slideLayout9.xml" Id="Rb32c482af54d4a6a" /><Relationship Type="http://schemas.openxmlformats.org/officeDocument/2006/relationships/slideLayout" Target="/ppt/slideLayouts/slideLayout10.xml" Id="R8f56a0ee1569499a" /><Relationship Type="http://schemas.openxmlformats.org/officeDocument/2006/relationships/slideLayout" Target="/ppt/slideLayouts/slideLayout11.xml" Id="R02029837d29a48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222677E-F595-41DE-901C-E9946DD2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1CDBBE-061D-43D1-BA2A-14F2DB5C9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2271BB6-B75A-4B0D-9469-A71BA8FD78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26EC2E-D34C-4476-B4C7-64731BF56572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88A60C-94D7-4815-A625-646827715A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8CC7DD-ED11-4EB4-99CA-698879F384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7583657de4926"/>
    <p:sldLayoutId xmlns:r="http://schemas.openxmlformats.org/officeDocument/2006/relationships" id="2147483650" r:id="Rebfef30366884fe5"/>
    <p:sldLayoutId xmlns:r="http://schemas.openxmlformats.org/officeDocument/2006/relationships" id="2147483651" r:id="Rb88c2a8a29594556"/>
    <p:sldLayoutId xmlns:r="http://schemas.openxmlformats.org/officeDocument/2006/relationships" id="2147483652" r:id="R70442a2e2fae4f6a"/>
    <p:sldLayoutId xmlns:r="http://schemas.openxmlformats.org/officeDocument/2006/relationships" id="2147483653" r:id="R1fccaa41a8164923"/>
    <p:sldLayoutId xmlns:r="http://schemas.openxmlformats.org/officeDocument/2006/relationships" id="2147483654" r:id="R3e03a05b2f2e499c"/>
    <p:sldLayoutId xmlns:r="http://schemas.openxmlformats.org/officeDocument/2006/relationships" id="2147483655" r:id="Rc50c476482d944ec"/>
    <p:sldLayoutId xmlns:r="http://schemas.openxmlformats.org/officeDocument/2006/relationships" id="2147483656" r:id="R6130a8af97284881"/>
    <p:sldLayoutId xmlns:r="http://schemas.openxmlformats.org/officeDocument/2006/relationships" id="2147483657" r:id="Rb32c482af54d4a6a"/>
    <p:sldLayoutId xmlns:r="http://schemas.openxmlformats.org/officeDocument/2006/relationships" id="2147483658" r:id="R8f56a0ee1569499a"/>
    <p:sldLayoutId xmlns:r="http://schemas.openxmlformats.org/officeDocument/2006/relationships" id="2147483659" r:id="R02029837d29a48d7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42cf32c584188" /><Relationship Type="http://schemas.openxmlformats.org/officeDocument/2006/relationships/image" Target="/ppt/media/image.png" Id="R0f4e72efdeb74ede" /><Relationship Type="http://schemas.openxmlformats.org/officeDocument/2006/relationships/image" Target="/ppt/media/image2.png" Id="R4f4e6d1370b04896" /><Relationship Type="http://schemas.openxmlformats.org/officeDocument/2006/relationships/notesSlide" Target="/ppt/notesSlides/notesSlide1.xml" Id="R636fc536377046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f57ce5e984481" /><Relationship Type="http://schemas.openxmlformats.org/officeDocument/2006/relationships/image" Target="/ppt/media/image3.png" Id="Rb63621bbb8884287" /><Relationship Type="http://schemas.openxmlformats.org/officeDocument/2006/relationships/notesSlide" Target="/ppt/notesSlides/notesSlide2.xml" Id="Rcc57d4b32bd1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fbe7faac8b421c" /><Relationship Type="http://schemas.openxmlformats.org/officeDocument/2006/relationships/image" Target="/ppt/media/image3.png" Id="R71e7712fdff743b0" /><Relationship Type="http://schemas.openxmlformats.org/officeDocument/2006/relationships/notesSlide" Target="/ppt/notesSlides/notesSlide3.xml" Id="Rcd8510d4496d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aee17e5604270" /><Relationship Type="http://schemas.openxmlformats.org/officeDocument/2006/relationships/image" Target="/ppt/media/image3.png" Id="Rf5422bc02bce4f9f" /><Relationship Type="http://schemas.openxmlformats.org/officeDocument/2006/relationships/image" Target="/ppt/media/image4.png" Id="R4a20a4d8c4604014" /><Relationship Type="http://schemas.openxmlformats.org/officeDocument/2006/relationships/image" Target="/ppt/media/image5.png" Id="Rdbe2cf0236374f26" /><Relationship Type="http://schemas.openxmlformats.org/officeDocument/2006/relationships/notesSlide" Target="/ppt/notesSlides/notesSlide4.xml" Id="Rb91640b2186b48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7e6753d0941e3" /><Relationship Type="http://schemas.openxmlformats.org/officeDocument/2006/relationships/image" Target="/ppt/media/image3.png" Id="Rb8ce0cf6b99a474e" /><Relationship Type="http://schemas.openxmlformats.org/officeDocument/2006/relationships/image" Target="/ppt/media/image6.png" Id="R8e471f84627e4f05" /><Relationship Type="http://schemas.openxmlformats.org/officeDocument/2006/relationships/notesSlide" Target="/ppt/notesSlides/notesSlide5.xml" Id="R7d86f7757b9647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ce2df1d5514bdf" /><Relationship Type="http://schemas.openxmlformats.org/officeDocument/2006/relationships/image" Target="/ppt/media/image3.png" Id="R7e8617fe9db54903" /><Relationship Type="http://schemas.openxmlformats.org/officeDocument/2006/relationships/image" Target="/ppt/media/image7.png" Id="Rd7016698cdc14f41" /><Relationship Type="http://schemas.openxmlformats.org/officeDocument/2006/relationships/image" Target="/ppt/media/image8.png" Id="R250f64a2a8ba4c7c" /><Relationship Type="http://schemas.openxmlformats.org/officeDocument/2006/relationships/notesSlide" Target="/ppt/notesSlides/notesSlide6.xml" Id="R8bf7d80f7d174d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bf7e36cdd4597" /><Relationship Type="http://schemas.openxmlformats.org/officeDocument/2006/relationships/image" Target="/ppt/media/image3.png" Id="R6e703042015543e2" /><Relationship Type="http://schemas.openxmlformats.org/officeDocument/2006/relationships/image" Target="/ppt/media/image9.png" Id="R274f665c6a794282" /><Relationship Type="http://schemas.openxmlformats.org/officeDocument/2006/relationships/image" Target="/ppt/media/image10.png" Id="R413b5a11f4ca4646" /><Relationship Type="http://schemas.openxmlformats.org/officeDocument/2006/relationships/notesSlide" Target="/ppt/notesSlides/notesSlide7.xml" Id="R59c4a107babd4d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bac90e06cb4686" /><Relationship Type="http://schemas.openxmlformats.org/officeDocument/2006/relationships/image" Target="/ppt/media/image3.png" Id="R09a57471515a4c53" /><Relationship Type="http://schemas.openxmlformats.org/officeDocument/2006/relationships/image" Target="/ppt/media/image11.png" Id="Re28e136331a9423b" /><Relationship Type="http://schemas.openxmlformats.org/officeDocument/2006/relationships/image" Target="/ppt/media/image12.png" Id="R64abcf1c3e6842d6" /><Relationship Type="http://schemas.openxmlformats.org/officeDocument/2006/relationships/notesSlide" Target="/ppt/notesSlides/notesSlide8.xml" Id="R61ffdf8043e549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a7c52baea46a7" /><Relationship Type="http://schemas.openxmlformats.org/officeDocument/2006/relationships/image" Target="/ppt/media/image3.png" Id="R6cb15de1f6234a1a" /><Relationship Type="http://schemas.openxmlformats.org/officeDocument/2006/relationships/image" Target="/ppt/media/image13.png" Id="R4f9cb8015ab84b5b" /><Relationship Type="http://schemas.openxmlformats.org/officeDocument/2006/relationships/notesSlide" Target="/ppt/notesSlides/notesSlide9.xml" Id="R95fa813bd19a4d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f2c38bcaf4359" /><Relationship Type="http://schemas.openxmlformats.org/officeDocument/2006/relationships/image" Target="/ppt/media/image3.png" Id="R697d3adce8d34587" /><Relationship Type="http://schemas.openxmlformats.org/officeDocument/2006/relationships/image" Target="/ppt/media/image14.png" Id="R7f2d7d9063734587" /><Relationship Type="http://schemas.openxmlformats.org/officeDocument/2006/relationships/image" Target="/ppt/media/image15.png" Id="Rab569e040d5b4135" /><Relationship Type="http://schemas.openxmlformats.org/officeDocument/2006/relationships/notesSlide" Target="/ppt/notesSlides/notesSlide10.xml" Id="Ra80378f6316f4c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8ead87f21e4b15" /><Relationship Type="http://schemas.openxmlformats.org/officeDocument/2006/relationships/image" Target="/ppt/media/image3.png" Id="R12d7f61b0e7540d8" /><Relationship Type="http://schemas.openxmlformats.org/officeDocument/2006/relationships/notesSlide" Target="/ppt/notesSlides/notesSlide11.xml" Id="R751afc8bacd847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4bf118efb4720" /><Relationship Type="http://schemas.openxmlformats.org/officeDocument/2006/relationships/image" Target="/ppt/media/image3.png" Id="R12a5756d78b14946" /><Relationship Type="http://schemas.openxmlformats.org/officeDocument/2006/relationships/notesSlide" Target="/ppt/notesSlides/notesSlide12.xml" Id="R024c1a0733cd4e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65b9cc9937455f" /><Relationship Type="http://schemas.openxmlformats.org/officeDocument/2006/relationships/image" Target="/ppt/media/image3.png" Id="R8d70bbf61a1347a8" /><Relationship Type="http://schemas.openxmlformats.org/officeDocument/2006/relationships/notesSlide" Target="/ppt/notesSlides/notesSlide13.xml" Id="Ra9b049c7163c4f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a9de5727d4c20" /><Relationship Type="http://schemas.openxmlformats.org/officeDocument/2006/relationships/image" Target="/ppt/media/image3.png" Id="Rf6d6586bd7fe423f" /><Relationship Type="http://schemas.openxmlformats.org/officeDocument/2006/relationships/notesSlide" Target="/ppt/notesSlides/notesSlide14.xml" Id="Rd3461987897747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2A6B4A0-DDF5-4F46-B14B-0A3A856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9144000" cy="234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pic>
        <p:nvPicPr>
          <p:cNvPr id="41" name="Picture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4e72efdeb74ede"/>
          <a:srcRect xmlns:a="http://schemas.openxmlformats.org/drawingml/2006/main" l="1036" t="0" r="0" b="0"/>
          <a:stretch xmlns:a="http://schemas.openxmlformats.org/drawingml/2006/main"/>
        </p:blipFill>
        <p:spPr>
          <a:xfrm xmlns:a="http://schemas.openxmlformats.org/drawingml/2006/main" rot="21600000">
            <a:off x="0" y="764704"/>
            <a:ext cx="4716016" cy="3524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e6d1370b04896"/>
          <a:srcRect xmlns:a="http://schemas.openxmlformats.org/drawingml/2006/main" l="21956" t="40516" r="21023" b="44641"/>
          <a:stretch xmlns:a="http://schemas.openxmlformats.org/drawingml/2006/main"/>
        </p:blipFill>
        <p:spPr>
          <a:xfrm xmlns:a="http://schemas.openxmlformats.org/drawingml/2006/main">
            <a:off x="7528235" y="98344"/>
            <a:ext cx="1498208" cy="347199"/>
          </a:xfrm>
          <a:prstGeom xmlns:a="http://schemas.openxmlformats.org/drawingml/2006/main" prst="rect">
            <a:avLst/>
          </a:prstGeom>
        </p:spPr>
      </p:pic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C838B818-4722-41D6-9999-FF5BF37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1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defRPr>
            </a:pPr>
            <a:r>
              <a: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rPr>
              <a:t>응용소프트웨어 제작설계서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87AD1061-17E8-466C-B723-EFB59BE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20D12458-C72B-4807-9B2D-D568ACD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558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주요 기능과 화면 설계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3F00555-8D46-42A9-8560-52F269D8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2026. 09. 05</a:t>
            </a:r>
          </a:p>
        </p:txBody>
      </p:sp>
    </p:spTree>
    <p:extLst>
      <p:ext uri="{BB962C8B-B14F-4D97-AF65-F5344CB8AC3E}">
        <p14:creationId xmlns:p14="http://schemas.microsoft.com/office/powerpoint/2010/main" val="338925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개요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6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621bbb88842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4D1E2BC-51CC-4B56-AAAC-9076DC1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설정부터 실행과 회복까지의 사용 흐름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0D0C55DC-EBD7-4090-A629-E22B7E1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DE6A9A-9722-4FBE-B95F-D23E859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AEB2ACB-F9D9-4400-A19B-0572427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383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처음 이용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294C51-4856-4189-B10C-36A67C17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인터뷰와 분류</a:t>
            </a:r>
          </a:p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4쪽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1B2F40B-71CB-4EC9-A822-BD89AFAB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2885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초안 수정과 승인</a:t>
            </a:r>
          </a:p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5쪽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B9D647-0E3D-4CCC-BC54-AF2B4565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2533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일과 집중</a:t>
            </a:r>
          </a:p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6쪽</a:t>
            </a:r>
          </a:p>
        </p:txBody>
      </p:sp>
      <p:cxnSp>
        <p:nvCxnSpPr>
          <p:cNvPr id="172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2952750" y="25908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cxnSp>
        <p:nvCxnSpPr>
          <p:cNvPr id="173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5829300" y="25908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848BD20-42FC-4039-B73A-B29B89D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29025"/>
            <a:ext cx="1885950" cy="6286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실행 결과</a:t>
            </a:r>
          </a:p>
        </p:txBody>
      </p:sp>
      <p:cxnSp>
        <p:nvCxnSpPr>
          <p:cNvPr id="175" name=""/>
          <p:cNvCxnSpPr>
            <a:stCxn xmlns:a="http://schemas.openxmlformats.org/drawingml/2006/main" id="143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7439025" y="295275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3E97D71-B4D4-4F5D-9E6A-314BE3E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197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다음 할 일 이어 하기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8B31C0D-2458-4010-9466-7619C55D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회복안 선택과 변경 확인</a:t>
            </a:r>
          </a:p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7쪽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0CB8019-24CA-4A92-9614-EFDBE77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한 주 일정과 리뷰</a:t>
            </a:r>
          </a:p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8쪽</a:t>
            </a:r>
          </a:p>
        </p:txBody>
      </p:sp>
      <p:cxnSp>
        <p:nvCxnSpPr>
          <p:cNvPr id="179" name=""/>
          <p:cNvCxnSpPr>
            <a:stCxn xmlns:a="http://schemas.openxmlformats.org/drawingml/2006/main" id="146" idx="1"/>
            <a:endCxn xmlns:a="http://schemas.openxmlformats.org/drawingml/2006/main" id="148" idx="0"/>
          </p:cNvCxnSpPr>
          <p:nvPr/>
        </p:nvCxnSpPr>
        <p:spPr>
          <a:xfrm xmlns:a="http://schemas.openxmlformats.org/drawingml/2006/main" flipH="1">
            <a:off x="4562475" y="3943350"/>
            <a:ext cx="1933575" cy="1276350"/>
          </a:xfrm>
          <a:prstGeom xmlns:a="http://schemas.openxmlformats.org/drawingml/2006/main" prst="bentConnector4">
            <a:avLst>
              <a:gd name="adj1" fmla="val 11823"/>
              <a:gd name="adj2" fmla="val 82090"/>
            </a:avLst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cxnSp>
        <p:nvCxnSpPr>
          <p:cNvPr id="180" name=""/>
          <p:cNvCxnSpPr>
            <a:stCxn xmlns:a="http://schemas.openxmlformats.org/drawingml/2006/main" id="146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7439025" y="4257675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cxnSp>
        <p:nvCxnSpPr>
          <p:cNvPr id="181" name=""/>
          <p:cNvCxnSpPr>
            <a:stCxn xmlns:a="http://schemas.openxmlformats.org/drawingml/2006/main" id="149" idx="1"/>
            <a:endCxn xmlns:a="http://schemas.openxmlformats.org/drawingml/2006/main" id="148" idx="3"/>
          </p:cNvCxnSpPr>
          <p:nvPr/>
        </p:nvCxnSpPr>
        <p:spPr>
          <a:xfrm xmlns:a="http://schemas.openxmlformats.org/drawingml/2006/main" flipH="1">
            <a:off x="5829300" y="55911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cxnSp>
        <p:nvCxnSpPr>
          <p:cNvPr id="182" name=""/>
          <p:cNvCxnSpPr>
            <a:stCxn xmlns:a="http://schemas.openxmlformats.org/drawingml/2006/main" id="148" idx="1"/>
            <a:endCxn xmlns:a="http://schemas.openxmlformats.org/drawingml/2006/main" id="150" idx="3"/>
          </p:cNvCxnSpPr>
          <p:nvPr/>
        </p:nvCxnSpPr>
        <p:spPr>
          <a:xfrm xmlns:a="http://schemas.openxmlformats.org/drawingml/2006/main" flipH="1">
            <a:off x="2952750" y="55911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  <a:tailEnd type="triangle" w="med" len="med"/>
          </a:ln>
        </p:spPr>
      </p:cxn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13332EA-AC2A-46C8-8DD3-8573A1DD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52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3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6596E07-1CA8-4786-81BE-A691F284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72000"/>
            <a:ext cx="1400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3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일부 완료, 실패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887FE95-383D-4219-A89A-EDBF5E7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482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35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한 주를 돌아볼 때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73A01B3-DDAA-4F3E-9CBA-00FAC01B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81725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필요할 때 사용하는 흐름: 인박스에서 기록 전환(9쪽), 궁극적 목표와 만다라트(10쪽).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2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7712fdff743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86192D7-02EE-4793-9464-85B92A0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주요 메뉴와 연결 화면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B520D46-E900-4769-843B-CCCC028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31900F6-1EA1-4A72-9EDA-89EFF5A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E7782FE-B288-45C7-94BD-0BFD15E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B93F882-4177-4706-8E43-CA5EEF7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233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BBB24C-1B86-40EE-B26A-3CF3929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4572001" y="2243138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3F538CF-8F38-4F48-907F-5DC633E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104C312-EDA1-4B46-8A59-E644BCDF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1662113" y="2476501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0C529B-612E-48CC-A0CB-6084224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25007E0-984A-4323-9236-8D94D87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129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16573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07001F2-1A2E-49AE-8034-09AB10C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907F02-06DD-466C-96B4-7E1EB8A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5605F09-D2C8-420F-A8BB-1EE6945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457200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8F286C-0D02-4976-B19D-1D13F01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계획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F24C4B8-929F-430D-976A-833C769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EA2493B-0C40-459E-9535-07D8977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137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74866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CC7D51-0920-4485-A345-E915690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445C04-7688-4C8B-879A-854A649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49A99A-5D0F-4179-AF33-747AC7A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6573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715FBE5-C064-4033-977B-C77B180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C09EF3D-850C-4C5C-8780-21842E0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5381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0D4D9DA-5FC7-4008-8AE2-ABEEE82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DA08EB8-6D66-4456-A99C-6575E04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47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533401" y="3386138"/>
            <a:ext cx="0" cy="19907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4B0C120-1825-4794-96BE-50AF8169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0AC3D1-5FE3-4104-BF6D-33FEA41D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5381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D60789-E569-4178-B133-0F74710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집중과 결과 기록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3DE7B18-1401-44FE-ACB1-AE7347F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4AE6A52-A294-4231-BA86-14EED50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5381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030BFBE-9A03-4411-A92F-0AA742A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회복과 변경 확인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18F6F3D-6257-4C24-9BC3-3DC0A5AA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B50E604-DA99-4FD6-9701-798DCA1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158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>
            <a:off x="538163" y="485775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909D9B4-93C8-4C66-A4E7-057F175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저녁 체크인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5E758C5-0825-495A-A298-2CF5DBFF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A1CCB10-B1BA-4ED0-8A97-07F5FC0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538163" y="538162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BC54FB-E433-4495-8894-439532E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더보기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D7E93F-B5E5-4799-8DC6-A8346E7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1DAF988-6284-41D1-BB7A-4B231D7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457200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DBFCB83-AC7D-49E4-A0BC-E22E219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AE531A9-B760-40E6-BE6E-39CE3512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345281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D525DBC-4191-4A02-BB2D-C8132D0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2E9F525-53E3-4DDF-81C0-293F3B2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344805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9F98595-289E-4BBE-854C-7C06C6F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C9E469-8E48-4A17-8944-7792021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345281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B0093D9-C000-4F38-B1E8-EA96A9E4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달력과 일정 수정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19FEDF1-75B6-4EB5-9917-BE02921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97142D8-8606-4185-A988-1295A25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345281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D9B100-680E-49F6-9DC4-71758E6B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습관 조정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36A2544-8891-4EA7-9951-7841CE1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F63552-9226-441D-84EE-33C23912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5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74866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26545AC-F05E-478B-AB26-7819CE4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820826-E7B9-40ED-84E3-5CE6F0DC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63674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434660A-C7E9-492D-A5F8-CA6F68D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89A4DE6-A8DE-421F-B0D4-70FC18F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636270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14F9CFC-9C3C-4F5E-AC01-205F6D0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D2590DA-6235-4FBB-9DCB-E0214CA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63674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08E59C0-6925-411A-B555-C11485A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기록과 자료 상세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B4702BE-890E-413E-9294-0167A0B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23C978D-D828-4135-A9B8-AB973D9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3674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0A2B345-6305-446C-9405-F10FA559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목표와 할 일 전환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C15D4F8-232A-4EE6-943E-E982ACD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338A9B3-98F6-4C05-B262-3D27B9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2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2900363" y="53816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8F20C1A-1080-4C39-AF7E-1F2E105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0A8DF23-C261-470F-ACE4-91782E22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203" idx="2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3171826" y="5386388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A07FE5F-2AD3-47A9-B1CC-3D3565E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93628AB-F2CB-4392-9B88-3859E14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3176588" y="538162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B9ED193-58C7-482B-916F-EE7491E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ABE8D2D-E463-458C-B95F-B057DA3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1" name="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3176588" y="593407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2B62EBF-945D-4268-9A14-8ADC0ED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816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C8E0935-ACCE-4459-9701-6A578B95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34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설정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49AB5A0-A76E-4A4A-B7E4-02F1D47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B6F980B-42E8-4A59-94ED-8678548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5319713" y="538162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08D5A9C-021D-49C5-BD5E-E47F56B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AFC54AA-3EDC-4235-9872-9897F0F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5319713" y="593407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B29CD11-5180-4055-9553-0B7753A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95875"/>
            <a:ext cx="3057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재인터뷰, 궁극적 목표와 만다라트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6C9C8BE-B136-4AED-B3FC-69B73BA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4050"/>
            <a:ext cx="3057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내 정보, 동의와 알림 설정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56F4BFD-29CC-48D4-A143-749F40A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10300"/>
            <a:ext cx="830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모바일은 하단 3개 탭과 오늘의 더보기를 사용한다. 데스크톱은 사이드바에서도 목표 관리와 설정을 연다.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22bc02bce4f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9897B39-756D-4067-87CA-EDF14F9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목표 분류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4228C868-2B8E-4C65-B708-2928498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처음 이용 1/2 / 목표와 조건 정하기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8FB3295-BE1D-40BE-8873-E95B3058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pic>
        <p:nvPicPr>
          <p:cNvPr id="12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0a4d8c4604014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2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2cf0236374f26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C8B341F9-9CDF-46F0-81E6-331ACE15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목표와 조건에 답하기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70EB008A-80AF-403C-B109-6001DB9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집중, 유지, 보류 정하기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268264E6-D3B2-4E72-AFFD-72A4AB21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86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411EAA-8643-4BBA-AD82-97CBEB9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목표와 실행 조건 입력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1EFC375-09B9-47A0-8817-15BDD9D6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목표와 기한, 가능한 시간과 방해 조건을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입력한다. 부족한 항목만 추가로 묻는다.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F18B908-49D5-43DB-B4B3-CB87800B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목표별 우선순위 확인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08267CB-9696-46FA-8DC8-1566EDC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4332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후보를 집중, 유지, 보류로 나눈다.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사용자가 분류를 조정할 수 있으며,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보류한 목표는 일정에 넣지 않는다.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FD5E26-DAA3-44C3-8BBF-F7B0746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방식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2DA1C1-6B8B-4E20-BDE2-7F475F8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29225"/>
            <a:ext cx="371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질문과 목표 후보를 나누어 받는다.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사용자가 분류를 확인한 뒤 계획한다.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e0cf6b99a47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FFE5139-0005-4B54-9D32-A7942BD5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 주간 계획 생성과 승인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8E7AF5B6-BBB1-44CA-AB6D-ECF9DDC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처음 이용 2/2 / 승인 후 오늘 실행으로 이동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D6FBA6AC-12E2-46A7-A820-A34FEB7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pic>
        <p:nvPicPr>
          <p:cNvPr id="111" name="그림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71f84627e4f05"/>
          <a:stretch xmlns:a="http://schemas.openxmlformats.org/drawingml/2006/main"/>
        </p:blipFill>
        <p:spPr>
          <a:xfrm xmlns:a="http://schemas.openxmlformats.org/drawingml/2006/main">
            <a:off x="594455" y="1800225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514FFA30-E053-4411-8E41-8B7423AC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주간 계획 초안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B123D787-AAF3-4C09-A8F7-E730B55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1. 계획에 쓸 조건을 확인한다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E2E8FDAF-E89A-4503-83DB-41FB926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57425"/>
            <a:ext cx="54006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목표의 큰 단계, 고정 일정, 가능한 시간과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참고 자료를 확인한다. 자료가 없으면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건너뛰고 계획을 만들 수 있다.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7731F030-0F97-4492-BE7C-B2053A3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71850"/>
            <a:ext cx="5400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800FD4A6-B91B-4BAF-B593-9D26E7A0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71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2. 제안된 할 일과 시간을 고친다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8720486B-9516-402B-9512-E58EFFA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43350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AI가 만든 할 일을 주간 시간표로 보여준다.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누르거나 끌어서 시간과 분량을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고친 뒤, 실행 가능한 계획인지 확인한다.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3B82A14-2D35-4A38-A1CD-A9F2DC7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10175"/>
            <a:ext cx="540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3. 승인한 계획만 사용한다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34711BBC-F8BA-4A5B-8FBD-FBD404C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91175"/>
            <a:ext cx="5400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초안 생성과 최종 저장을 구분한다.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승인이 끝나면 오늘 실행에서 시작한다.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17C3CA09-F839-4175-AFD4-3F1D9E7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86500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617fe9db549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A7099BE-5337-4C25-B6DA-E30B4FB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 실행과 집중 기록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52162EC-1F53-4DD9-BA29-C7F9DAF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일상 사용 1/3 / 실행하고 결과 남기기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4D95D1B-EC2B-45F6-8954-9952619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pic>
        <p:nvPicPr>
          <p:cNvPr id="12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16698cdc14f41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2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f64a2a8ba4c7c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55157941-0618-4CA9-8C61-B0B4CB1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오늘 할 일 선택하기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D11C1C02-F250-4784-89A0-2CB9394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집중하고 결과 남기기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D6230C07-B593-400E-A196-2A882CB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86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026374-B4C6-4C0B-BA8F-72A9BF5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지금 할 일 선택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CDCA069-57B9-4E9D-B0C5-CF85550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진행 중인 일을 먼저 보여준다.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없으면 우선순위와 시작 시간을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기준으로 다음 할 일을 제시한다.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DA1CDA-DFA1-4940-BCE1-63EA861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집중 시간과 실행 결과 기록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3B924F5-8403-462F-BC2B-E3396E3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4332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 모드에서 시작, 일시정지와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재개를 선택한다. 끝나면 완료,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일부 완료, 실패를 구분해 기록한다.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2E5676-ADFC-4332-8371-78A5439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방식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CB5D37-9CD3-4FFA-9E4C-B54A7B7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29225"/>
            <a:ext cx="371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같은 실행 번호로 결과를 저장한다.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일시정지는 실패로 남기지 않는다.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일부 완료와 실패는 회복으로 잇는다.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03042015543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D4A559E-A123-4AC4-A17C-3F5E996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원인에 맞춘 회복과 리플랜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E89B624-4193-42E5-BB5E-35D81B7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일상 사용 2/3 / 일부 완료 또는 실패한 경우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056B695-78B3-4BFA-BEA1-AE11EEE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pic>
        <p:nvPicPr>
          <p:cNvPr id="12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f665c6a794282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2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b5a11f4ca4646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B9B75DBD-E50B-404F-8F77-E4DF55A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다시 할 수 있는 제안 고르기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EBC73A2C-8E54-45A2-9D59-8568BE0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변경 전후 확인하기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FA6D4C5E-AA35-4FEE-A70F-9904C01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86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87CCB0-2F7B-4E12-99C0-397626C1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못한 이유와 회복안 선택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A72A40-A628-4ABF-BA6C-3841AAD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원인 1~2개를 남긴 뒤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 줄이기, 시간 변경,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내일 이어 하기, 보류 중에서 고른다.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A79081-F674-4EF6-B35C-6FB96937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새 할 일이 생기면 변경 승인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93F639-C3BA-4894-BD6D-9081EFA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4332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바뀌는 분량과 시간을 확인한다.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일정 반영하기를 눌러 승인하면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실행으로 돌아간다.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F0B1B6-17EF-41B8-BB28-6F6F1EBD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시간 변경과 보류의 처리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514638-2056-43E5-AB77-05073BBA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29225"/>
            <a:ext cx="371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변경은 주간 계획에서 직접 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보류는 새 일정 없이 선택만 저장한다.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57471515a4c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5AF68F7-7968-435A-9D43-698CF3F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일정 수정과 주간 리뷰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428410A-4EAD-420E-B052-1A5DBD7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일상 사용 3/3 / 한 주 기록을 보고 조정하기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A7F444D-BE81-476D-97B7-F97EFB5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pic>
        <p:nvPicPr>
          <p:cNvPr id="12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e136331a9423b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2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bcf1c3e6842d6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25039F18-B23E-43D5-8C32-D5BE7BA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한 주 일정 확인하고 고치기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BBEA978D-413C-4C59-B15B-E6728250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실행 기록과 습관 돌아보기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AD50B2D5-0BE1-4157-B880-E37913D7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86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3B9FA9-D1BB-4AD2-9997-CD0BCEF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한 주 시간표에서 일정 조정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C8455DA-FDEC-41FB-A3D8-B14BCBC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눌러 할 일과 시간을 고친다.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끌면 15분 단위로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원하는 시간으로 옮길 수 있다.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C75519-F82D-49BF-A4B8-851E35E5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실행과 습관 기록 확인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D87B68-8703-4C7D-8E12-13C4F824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4332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실행 결과와 회복 기록을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읽는다. 최근 3주 습관 기록을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보고 횟수 조정 제안을 확인한다.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E2B543-BEE9-4215-9135-83B6407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방식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F734263-2486-4D77-A4A7-9CA68EF6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29225"/>
            <a:ext cx="371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받아온 기록만 통계로 표시한다.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겹치는 일정은 나란히 배치해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같은 시간의 계획을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15de1f6234a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36E26F35-ECAB-4F8B-A652-2326B36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 기록을 목표와 할 일로 전환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5FCFA80-C1F6-4CBF-871A-E0F1125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필요할 때 / 기록을 실행으로 옮기기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34931A9D-B750-4556-A72F-2380470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131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cb8015ab84b5b"/>
          <a:stretch xmlns:a="http://schemas.openxmlformats.org/drawingml/2006/main"/>
        </p:blipFill>
        <p:spPr>
          <a:xfrm xmlns:a="http://schemas.openxmlformats.org/drawingml/2006/main">
            <a:off x="594455" y="1809750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4EC5755-25C3-453B-B86F-E84BCD2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기록과 자료를 모아두는 인박스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4199E707-25F8-4786-8599-C9D3DF4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6690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떠오른 생각은 먼저 적어둔다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79A2D0B7-75A7-4F58-A890-DF74BE51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38375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메모와 자료를 인박스에 저장하고 분류한다.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아직 실행할 필요가 없는 내용도 지우지 않고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보관했다가 다시 꺼낼 수 있다.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FC91E57F-7F77-4B72-BE63-6039C1C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00450"/>
            <a:ext cx="1552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원문 기록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8FDCF781-200E-4ED6-82EB-9FF08160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57550"/>
            <a:ext cx="1447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32188CB5-4739-4314-92D5-D1ACA03B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05275"/>
            <a:ext cx="1447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cxnSp>
        <p:nvCxnSpPr>
          <p:cNvPr id="138" name="연결선: 꺾임 117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4819650" y="3529013"/>
            <a:ext cx="771525" cy="385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9" name="연결선: 꺾임 118"/>
          <p:cNvCxnSpPr>
            <a:stCxn xmlns:a="http://schemas.openxmlformats.org/drawingml/2006/main" id="94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4819650" y="3914775"/>
            <a:ext cx="771525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187DD68B-9710-434C-B98B-EDEC58D0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14900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필요한 내용만 실행에 사용한다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DB894234-E54B-4556-8DBC-552FCA2D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314950"/>
            <a:ext cx="5400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2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기록을 목표나 할 일로 전환해도 원문을 남긴다.</a:t>
            </a:r>
          </a:p>
          <a:p xmlns:a="http://schemas.openxmlformats.org/drawingml/2006/main">
            <a:pPr algn="l" eaLnBrk="0" latinLnBrk="0">
              <a:lnSpc>
                <a:spcPct val="122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자료에서는 필요한 단계를 골라 오늘 할 일에 넣는다.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8AD2B12E-418D-41AE-B17C-05A99A73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86500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3adce8d345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C6B063-9A88-44E0-9FF3-09B7ABEE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궁극적 목표 인터뷰와 만다라트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5E3D4E5C-70D1-4718-8244-7FC83D0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필요할 때 / 장기 목표를 구체화하기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7E6031E-9598-4DC1-BFD8-20273EF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12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d7d9063734587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2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69e040d5b4135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C419BED2-DA41-45A1-B88E-5909A11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장기적으로 원하는 방향 정하기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3F1A9BF7-27F1-4B2A-81C7-34C9904B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86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영역별 행동 확인하기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1AC48CC2-5C3A-4F82-BCB3-51F22A28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86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00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화면의 일정과 수치는 시연용 예시입니다.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22386F-3736-4FB1-838F-FDD2C9B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장기적으로 원하는 방향 정하기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32D8C0D-0133-43C5-B201-F467BA2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647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관리에서 인터뷰를 시작한다.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질문에 답하며 오래 가져갈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궁극적 목표를 구체화한다.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8B3514-DC84-4530-B6B2-7AA55DD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목표를 영역과 행동으로 나누기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131380-757A-47ED-978B-CE0D3CA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43325"/>
            <a:ext cx="3714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중심 목표 1개를 하위 8개 영역으로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나눈다. 영역마다 최대 8개 행동을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만들고 초안을 고쳐 승인한다.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50FFD8F-2210-4DB6-AFD1-F67C076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처리 방식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4C82CB7-82B7-4DD6-8045-CDC095DF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29225"/>
            <a:ext cx="371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직접 고친 칸은 남겨두고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필요한 영역을 다시 만든다.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각 칸의 진행 상황을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7f61b0e7540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FE50F3F-71C9-4FA1-8008-8A6D76B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사용자와 주요 사용 목적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9ED21C8-A5D5-4F2C-8CB4-E1A3192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사용자와 사용 목적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8BDF2A46-962C-445F-A8F6-5BD37D8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3D0E5E44-B9CE-457B-9322-5A9DAED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58197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34F7935-3C52-49DC-893E-A126825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465126D4-4CBE-4778-A5BE-3D0F8EC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93" name="타원 92">
            <a:extLst xmlns:a="http://schemas.openxmlformats.org/drawingml/2006/main">
              <a:ext uri="{FF2B5EF4-FFF2-40B4-BE49-F238E27FC236}">
                <a16:creationId xmlns:a16="http://schemas.microsoft.com/office/drawing/2014/main" id="{78432A2C-3BE1-4C87-844F-3205C1E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 목표별 실행 계획 만들기</a:t>
            </a:r>
          </a:p>
        </p:txBody>
      </p:sp>
      <p:cxnSp>
        <p:nvCxnSpPr>
          <p:cNvPr id="139" name="직선 화살표 연결선 115"/>
          <p:cNvCxnSpPr>
            <a:stCxn xmlns:a="http://schemas.openxmlformats.org/drawingml/2006/main" id="92" idx="3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733550" y="2624138"/>
            <a:ext cx="17335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5" name="타원 94">
            <a:extLst xmlns:a="http://schemas.openxmlformats.org/drawingml/2006/main">
              <a:ext uri="{FF2B5EF4-FFF2-40B4-BE49-F238E27FC236}">
                <a16:creationId xmlns:a16="http://schemas.microsoft.com/office/drawing/2014/main" id="{EF73DD45-40F7-4220-A0E2-2844A40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UC-02  궁극적 목표와 만다라트</a:t>
            </a:r>
          </a:p>
        </p:txBody>
      </p:sp>
      <p:cxnSp>
        <p:nvCxnSpPr>
          <p:cNvPr id="141" name="직선 화살표 연결선 117"/>
          <p:cNvCxnSpPr>
            <a:stCxn xmlns:a="http://schemas.openxmlformats.org/drawingml/2006/main" id="92" idx="3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1733550" y="3367088"/>
            <a:ext cx="1733550" cy="6143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7" name="타원 96">
            <a:extLst xmlns:a="http://schemas.openxmlformats.org/drawingml/2006/main">
              <a:ext uri="{FF2B5EF4-FFF2-40B4-BE49-F238E27FC236}">
                <a16:creationId xmlns:a16="http://schemas.microsoft.com/office/drawing/2014/main" id="{6BC701CF-46AA-4C52-89CD-BB0E5D5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 집중과 회복 기록</a:t>
            </a:r>
          </a:p>
        </p:txBody>
      </p:sp>
      <p:cxnSp>
        <p:nvCxnSpPr>
          <p:cNvPr id="143" name="직선 화살표 연결선 119"/>
          <p:cNvCxnSpPr>
            <a:stCxn xmlns:a="http://schemas.openxmlformats.org/drawingml/2006/main" id="92" idx="3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1733550" y="3981450"/>
            <a:ext cx="1733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9" name="타원 98">
            <a:extLst xmlns:a="http://schemas.openxmlformats.org/drawingml/2006/main">
              <a:ext uri="{FF2B5EF4-FFF2-40B4-BE49-F238E27FC236}">
                <a16:creationId xmlns:a16="http://schemas.microsoft.com/office/drawing/2014/main" id="{C77C3EDF-A544-4D71-85DA-3D4DA0B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624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UC-04  주간 일정과 리뷰</a:t>
            </a:r>
          </a:p>
        </p:txBody>
      </p:sp>
      <p:cxnSp>
        <p:nvCxnSpPr>
          <p:cNvPr id="145" name="직선 화살표 연결선 121"/>
          <p:cNvCxnSpPr>
            <a:stCxn xmlns:a="http://schemas.openxmlformats.org/drawingml/2006/main" id="92" idx="3"/>
            <a:endCxn xmlns:a="http://schemas.openxmlformats.org/drawingml/2006/main" id="99" idx="2"/>
          </p:cNvCxnSpPr>
          <p:nvPr/>
        </p:nvCxnSpPr>
        <p:spPr>
          <a:xfrm xmlns:a="http://schemas.openxmlformats.org/drawingml/2006/main">
            <a:off x="1733550" y="3981450"/>
            <a:ext cx="1733550" cy="8715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101" name="타원 100">
            <a:extLst xmlns:a="http://schemas.openxmlformats.org/drawingml/2006/main">
              <a:ext uri="{FF2B5EF4-FFF2-40B4-BE49-F238E27FC236}">
                <a16:creationId xmlns:a16="http://schemas.microsoft.com/office/drawing/2014/main" id="{79DB7F9B-0D94-452D-9C45-344312D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054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 메모를 목표와 할 일로 전환</a:t>
            </a:r>
          </a:p>
        </p:txBody>
      </p:sp>
      <p:cxnSp>
        <p:nvCxnSpPr>
          <p:cNvPr id="147" name="직선 화살표 연결선 123"/>
          <p:cNvCxnSpPr>
            <a:stCxn xmlns:a="http://schemas.openxmlformats.org/drawingml/2006/main" id="92" idx="3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733550" y="3981450"/>
            <a:ext cx="1733550" cy="16144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5756d78b149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B34EB077-2A1E-4205-BB08-321D287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 조건과 완료 결과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35EBCC0-6F37-48AB-BD3B-E890C65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시작 조건과 결과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470A2A5-C3CC-4E75-AFEF-A60C391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graphicFrame>
        <p:nvGraphicFramePr>
          <p:cNvPr id="103" name="표 100"/>
          <p:cNvGraphicFramePr/>
          <p:nvPr/>
        </p:nvGraphicFramePr>
        <p:xfrm>
          <a:off xmlns:a="http://schemas.openxmlformats.org/drawingml/2006/main" x="419100" y="1857375"/>
          <a:ext xmlns:a="http://schemas.openxmlformats.org/drawingml/2006/main" cx="8305800" cy="4191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600"/>
                <a:gridCol w="2790825"/>
                <a:gridCol w="3762375"/>
              </a:tblGrid>
              <a:tr h="381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조건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결과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UC-01</a:t>
                      </a:r>
                    </a:p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목표를 입력하거나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미계획 목표를 선택한다.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수정하고 승인한 할 일이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오늘과 주간 일정에 표시된다.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UC-02</a:t>
                      </a:r>
                    </a:p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관리에서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목표, 하위 8개 영역,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행동을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UC-03</a:t>
                      </a:r>
                    </a:p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실행과 회복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일을 시작한다.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못한 경우 원인을 남긴다.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결과를 기록한다. 회복 선택에 따라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변경을 승인하거나 일정을 직접 고친다.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UC-04</a:t>
                      </a:r>
                    </a:p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리뷰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계획이나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리뷰를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 결과와 실행 기록,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습관 조정 제안을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UC-05</a:t>
                      </a:r>
                    </a:p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전환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생각이나 자료를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인박스에 적어둔다.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남긴 채 목표, 할 일로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옮기거나 자료 단계를 채택한다.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951BB04B-C7B9-4DEA-A345-C87036A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공통 조건: 로그인한 사용자. 저장하지 못한 경우에는 완료로 처리하지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설계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0bbf61a1347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EB52429-89D2-42F7-92B5-2F10CE0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화면이 바뀌어도 입력과 실행 기록을 유지한다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156CEF2-7B92-45B5-96B9-4294C60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5DE86DD-2929-4843-A1B2-44EF531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B0888E0C-6FFF-47AD-B76B-51195B7E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입력과 초안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4DFCFCF0-EA65-4674-9595-95E87807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 확인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5CD2B2B5-CF88-4FF6-BD6E-9A79424B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저장 요청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A4A32AA2-42E4-48B4-951C-3C4B71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28825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완료 화면</a:t>
            </a:r>
          </a:p>
        </p:txBody>
      </p:sp>
      <p:cxnSp>
        <p:nvCxnSpPr>
          <p:cNvPr id="131" name="직선 화살표 연결선 112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3050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2" name="직선 화살표 연결선 113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44386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cxnSp>
        <p:nvCxnSpPr>
          <p:cNvPr id="133" name="직선 화살표 연결선 114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6572250" y="2324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5AA8"/>
            </a:solidFill>
            <a:tailEnd type="triangle" w="med" len="med"/>
          </a:ln>
        </p:spPr>
      </p:cxn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448CC66E-E396-4197-9CCE-FA92741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저장 성공 후 이동</a:t>
            </a:r>
          </a:p>
        </p:txBody>
      </p:sp>
      <p:graphicFrame>
        <p:nvGraphicFramePr>
          <p:cNvPr id="135" name="표 116"/>
          <p:cNvGraphicFramePr/>
          <p:nvPr/>
        </p:nvGraphicFramePr>
        <p:xfrm>
          <a:off xmlns:a="http://schemas.openxmlformats.org/drawingml/2006/main" x="419100" y="3324225"/>
          <a:ext xmlns:a="http://schemas.openxmlformats.org/drawingml/2006/main" cx="8305800" cy="2514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14550"/>
                <a:gridCol w="6191250"/>
              </a:tblGrid>
              <a:tr h="4000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기준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화면에서 지키는 동작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생성과 승인을 분리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초안과 새 할 일을 만드는 회복안은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내용을 확인하고 승인한 뒤 반영한다.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번호 유지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번호를 집중, 결과 기록, 회복에서 함께 사용한다.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회복 화면에 다시 들어와도 새 실패 기록을 만들지 않는다.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실패하면 상태를 유지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초안과 입력을 유지하고 다시 시도할 수 있게 한다.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회복 승인 재시도에는 같은 실행 번호의 요청 키를 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7EDD873E-AF57-4F99-A059-0C6D74DA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핵심은 화면 전환보다 저장 결과를 먼저 확인하는 것이다.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/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범위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6586bd7fe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DB8ABB9-2581-400D-8258-3EEBD1C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보조 기능과 아직 완성하지 않은 부분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B38DE3F-D1A5-46DA-8585-2F31ACF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 / 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67EB88F-E8D6-4094-A798-922F5D5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45BEFC30-92E6-4BC8-8E0C-83346E7E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함께 제공하는 기능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6CA8CCF0-CDA0-41C2-AA18-A602F0E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8305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시간과 고정 일정 설정, 목표 재인터뷰, 습관 관리, 저녁 체크인, 내 정보.</a:t>
            </a:r>
          </a:p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생활 조건을 계획에 반영하고, 목표와 실행 기록을 계속 관리한다.</a:t>
            </a:r>
          </a:p>
        </p:txBody>
      </p:sp>
      <p:graphicFrame>
        <p:nvGraphicFramePr>
          <p:cNvPr id="107" name="표 104"/>
          <p:cNvGraphicFramePr/>
          <p:nvPr/>
        </p:nvGraphicFramePr>
        <p:xfrm>
          <a:off xmlns:a="http://schemas.openxmlformats.org/drawingml/2006/main" x="419100" y="3286125"/>
          <a:ext xmlns:a="http://schemas.openxmlformats.org/drawingml/2006/main" cx="8305800" cy="2514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14550"/>
                <a:gridCol w="6191250"/>
              </a:tblGrid>
              <a:tr h="4000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남아 있는 기능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자료와 계획 수정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도서와 영상을 단계별로 고르는 화면,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대화로 이미 만든 계획을 수정하는 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후속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달력에서 일정 삭제와 끝난 목표 정리,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 재구성 전 확인과 다음 2주 계획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eaLnBrk="0" latinLnBrk="0"/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설정과 외부 연동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서버가 아직 지원하지 않는 설정 저장,</a:t>
                      </a:r>
                    </a:p>
                    <a:p>
                      <a:pPr eaLnBrk="0" latinLnBrk="0"/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네이티브 푸시와 Google 캘린더 실제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E4FC2C97-121C-4D50-9B46-F4C4D40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05525"/>
            <a:ext cx="830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위 항목은 아직 사용할 수 없거나, 전체 사용 흐름이 완성되지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2026-09-05T07:53:00.9870000Z</dcterms:created>
  <dcterms:modified xsi:type="dcterms:W3CDTF">2026-09-05T07:53:00.9870000Z</dcterms:modified>
</coreProperties>
</file>