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9f1d14078945cc" /><Relationship Type="http://schemas.openxmlformats.org/officeDocument/2006/relationships/extended-properties" Target="/docProps/app.xml" Id="R043b267383194643" /><Relationship Type="http://schemas.openxmlformats.org/officeDocument/2006/relationships/officeDocument" Target="/ppt/presentation.xml" Id="Rf28e6b120f2e45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792af258ba4b6b"/>
  </p:sldMasterIdLst>
  <p:notesMasterIdLst>
    <p:notesMasterId xmlns:r="http://schemas.openxmlformats.org/officeDocument/2006/relationships" r:id="Rd86b22d555d24123"/>
  </p:notesMasterIdLst>
  <p:sldIdLst>
    <p:sldId xmlns:r="http://schemas.openxmlformats.org/officeDocument/2006/relationships" id="256" r:id="Re2f4108927c74063"/>
    <p:sldId xmlns:r="http://schemas.openxmlformats.org/officeDocument/2006/relationships" id="257" r:id="R6cd6b8b36e1c4d71"/>
    <p:sldId xmlns:r="http://schemas.openxmlformats.org/officeDocument/2006/relationships" id="258" r:id="R55f48c53c0db4384"/>
    <p:sldId xmlns:r="http://schemas.openxmlformats.org/officeDocument/2006/relationships" id="259" r:id="R774b784b82b548e0"/>
    <p:sldId xmlns:r="http://schemas.openxmlformats.org/officeDocument/2006/relationships" id="260" r:id="R1e6a319311144336"/>
    <p:sldId xmlns:r="http://schemas.openxmlformats.org/officeDocument/2006/relationships" id="261" r:id="R15bc0cf1637b4b09"/>
    <p:sldId xmlns:r="http://schemas.openxmlformats.org/officeDocument/2006/relationships" id="262" r:id="R83ae87fe69c94243"/>
    <p:sldId xmlns:r="http://schemas.openxmlformats.org/officeDocument/2006/relationships" id="263" r:id="Ra8a801c9bd294c30"/>
    <p:sldId xmlns:r="http://schemas.openxmlformats.org/officeDocument/2006/relationships" id="264" r:id="R72729c5edccf4284"/>
    <p:sldId xmlns:r="http://schemas.openxmlformats.org/officeDocument/2006/relationships" id="265" r:id="R5f44ea5d29f443d5"/>
    <p:sldId xmlns:r="http://schemas.openxmlformats.org/officeDocument/2006/relationships" id="266" r:id="R6c0af55b76c7438b"/>
    <p:sldId xmlns:r="http://schemas.openxmlformats.org/officeDocument/2006/relationships" id="267" r:id="Rc3b4310c78fc4b6d"/>
    <p:sldId xmlns:r="http://schemas.openxmlformats.org/officeDocument/2006/relationships" id="268" r:id="Rb89d30d39c7644a8"/>
    <p:sldId xmlns:r="http://schemas.openxmlformats.org/officeDocument/2006/relationships" id="269" r:id="Re2b7ac716ea64033"/>
  </p:sldIdLst>
  <p:sldSz cx="9144000" cy="6858000"/>
  <p:notesSz cx="6858000" cy="9144000"/>
</p:presentation>
</file>

<file path=ppt/authors.xml><?xml version="1.0" encoding="utf-8"?>
<p188:authorLst xmlns:p188="http://schemas.microsoft.com/office/powerpoint/2018/8/main">
  <p188:author id="{71E8E911-0CB3-8B38-B243-BD927FA74830}" name="이 상민" initials="상이" userId="S::lsm@fkiims.onmicrosoft.com::64505b25-1d12-486c-9a86-910d06e20881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a4bcff0d5645f0" /><Relationship Type="http://schemas.openxmlformats.org/officeDocument/2006/relationships/slideMaster" Target="/ppt/slideMasters/slideMaster1.xml" Id="Rd3792af258ba4b6b" /><Relationship Type="http://schemas.openxmlformats.org/officeDocument/2006/relationships/notesMaster" Target="/ppt/notesMasters/notesMaster1.xml" Id="Rd86b22d555d24123" /><Relationship Type="http://schemas.openxmlformats.org/officeDocument/2006/relationships/presProps" Target="/ppt/presProps.xml" Id="R696261cd7bce4dc4" /><Relationship Type="http://schemas.openxmlformats.org/officeDocument/2006/relationships/viewProps" Target="/ppt/viewProps.xml" Id="R616a3fef882f4be2" /><Relationship Type="http://schemas.openxmlformats.org/officeDocument/2006/relationships/tableStyles" Target="/ppt/tableStyles.xml" Id="Rb2f9341c3b6c41e7" /><Relationship Type="http://schemas.microsoft.com/office/2018/10/relationships/authors" Target="/ppt/authors.xml" Id="Rc694f4ba8d974083" /><Relationship Type="http://schemas.openxmlformats.org/officeDocument/2006/relationships/slide" Target="/ppt/slides/slide1.xml" Id="Re2f4108927c74063" /><Relationship Type="http://schemas.openxmlformats.org/officeDocument/2006/relationships/slide" Target="/ppt/slides/slide2.xml" Id="R6cd6b8b36e1c4d71" /><Relationship Type="http://schemas.openxmlformats.org/officeDocument/2006/relationships/slide" Target="/ppt/slides/slide3.xml" Id="R55f48c53c0db4384" /><Relationship Type="http://schemas.openxmlformats.org/officeDocument/2006/relationships/slide" Target="/ppt/slides/slide4.xml" Id="R774b784b82b548e0" /><Relationship Type="http://schemas.openxmlformats.org/officeDocument/2006/relationships/slide" Target="/ppt/slides/slide5.xml" Id="R1e6a319311144336" /><Relationship Type="http://schemas.openxmlformats.org/officeDocument/2006/relationships/slide" Target="/ppt/slides/slide6.xml" Id="R15bc0cf1637b4b09" /><Relationship Type="http://schemas.openxmlformats.org/officeDocument/2006/relationships/slide" Target="/ppt/slides/slide7.xml" Id="R83ae87fe69c94243" /><Relationship Type="http://schemas.openxmlformats.org/officeDocument/2006/relationships/slide" Target="/ppt/slides/slide8.xml" Id="Ra8a801c9bd294c30" /><Relationship Type="http://schemas.openxmlformats.org/officeDocument/2006/relationships/slide" Target="/ppt/slides/slide9.xml" Id="R72729c5edccf4284" /><Relationship Type="http://schemas.openxmlformats.org/officeDocument/2006/relationships/slide" Target="/ppt/slides/slide10.xml" Id="R5f44ea5d29f443d5" /><Relationship Type="http://schemas.openxmlformats.org/officeDocument/2006/relationships/slide" Target="/ppt/slides/slide11.xml" Id="R6c0af55b76c7438b" /><Relationship Type="http://schemas.openxmlformats.org/officeDocument/2006/relationships/slide" Target="/ppt/slides/slide12.xml" Id="Rc3b4310c78fc4b6d" /><Relationship Type="http://schemas.openxmlformats.org/officeDocument/2006/relationships/slide" Target="/ppt/slides/slide13.xml" Id="Rb89d30d39c7644a8" /><Relationship Type="http://schemas.openxmlformats.org/officeDocument/2006/relationships/slide" Target="/ppt/slides/slide14.xml" Id="Re2b7ac716ea640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810149c7664d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d55c3efb1045b5" /><Relationship Type="http://schemas.openxmlformats.org/officeDocument/2006/relationships/notesMaster" Target="/ppt/notesMasters/notesMaster1.xml" Id="Ree28b9bf07c34b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ca02bc8221425c" /><Relationship Type="http://schemas.openxmlformats.org/officeDocument/2006/relationships/notesMaster" Target="/ppt/notesMasters/notesMaster1.xml" Id="Ra0e5dc75326042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6810bff1384341" /><Relationship Type="http://schemas.openxmlformats.org/officeDocument/2006/relationships/notesMaster" Target="/ppt/notesMasters/notesMaster1.xml" Id="R7e71564f4d0740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54da360abb43f8" /><Relationship Type="http://schemas.openxmlformats.org/officeDocument/2006/relationships/notesMaster" Target="/ppt/notesMasters/notesMaster1.xml" Id="Rf3dcbad6af4a40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3ec43434ce4901" /><Relationship Type="http://schemas.openxmlformats.org/officeDocument/2006/relationships/notesMaster" Target="/ppt/notesMasters/notesMaster1.xml" Id="R20d952e58ba546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bb2b53bc414d05" /><Relationship Type="http://schemas.openxmlformats.org/officeDocument/2006/relationships/notesMaster" Target="/ppt/notesMasters/notesMaster1.xml" Id="R877eaf75510844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239b1aa1584d74" /><Relationship Type="http://schemas.openxmlformats.org/officeDocument/2006/relationships/notesMaster" Target="/ppt/notesMasters/notesMaster1.xml" Id="Ra75d72175cc34a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d4d1b53c5c4d0e" /><Relationship Type="http://schemas.openxmlformats.org/officeDocument/2006/relationships/notesMaster" Target="/ppt/notesMasters/notesMaster1.xml" Id="Rb295fc00b1b742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2818a3c9f64b4f" /><Relationship Type="http://schemas.openxmlformats.org/officeDocument/2006/relationships/notesMaster" Target="/ppt/notesMasters/notesMaster1.xml" Id="Re1b1de54c18741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49b4c91afe4a21" /><Relationship Type="http://schemas.openxmlformats.org/officeDocument/2006/relationships/notesMaster" Target="/ppt/notesMasters/notesMaster1.xml" Id="R7f7fc0f9362240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53175ae85d43c9" /><Relationship Type="http://schemas.openxmlformats.org/officeDocument/2006/relationships/notesMaster" Target="/ppt/notesMasters/notesMaster1.xml" Id="R4ab18d70e55b4bf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b57391cad14e9e" /><Relationship Type="http://schemas.openxmlformats.org/officeDocument/2006/relationships/notesMaster" Target="/ppt/notesMasters/notesMaster1.xml" Id="Rbc8f8e70a10f43b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04cae73a22e4357" /><Relationship Type="http://schemas.openxmlformats.org/officeDocument/2006/relationships/notesMaster" Target="/ppt/notesMasters/notesMaster1.xml" Id="Rf33f5b435dac4b9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c5b50512b07439e" /><Relationship Type="http://schemas.openxmlformats.org/officeDocument/2006/relationships/notesMaster" Target="/ppt/notesMasters/notesMaster1.xml" Id="Rf061557829924c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기준: origin/main 9407c9d, 2026-09-05 확인.</a:t>
            </a:r>
          </a:p>
          <a:p xmlns:a="http://schemas.openxmlformats.org/drawingml/2006/main">
            <a:r>
              <a:t>범위: 프론트엔드의 화면과 사용자 동작, 입력과 실행 기록 처리.</a:t>
            </a:r>
          </a:p>
          <a:p xmlns:a="http://schemas.openxmlformats.org/drawingml/2006/main">
            <a:r>
              <a:t>https://github.com/hanium-reaction/reaction-frontend/blob/9407c9d/src/app/ReActionMerged.tsx</a:t>
            </a:r>
          </a:p>
          <a:p xmlns:a="http://schemas.openxmlformats.org/drawingml/2006/main">
            <a:r>
              <a:t>화면의 일정과 수치는 시연용 예시이며 실제 사용자 개인정보를 포함하지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프론트엔드 기준: 9d02ef2. 확인일: 2026-09-06.</a:t>
            </a:r>
          </a:p>
          <a:p xmlns:a="http://schemas.openxmlformats.org/drawingml/2006/main">
            <a:r>
              <a:t>https://github.com/hanium-reaction/reaction-frontend/blob/9d02ef2/capacitor.config.ts</a:t>
            </a:r>
          </a:p>
          <a:p xmlns:a="http://schemas.openxmlformats.org/drawingml/2006/main">
            <a:r>
              <a:t>https://github.com/hanium-reaction/reaction-frontend/blob/9d02ef2/src/app/ReActionMerged.tsx</a:t>
            </a:r>
          </a:p>
          <a:p xmlns:a="http://schemas.openxmlformats.org/drawingml/2006/main">
            <a:r>
              <a:t>https://github.com/hanium-reaction/reaction-frontend/blob/9d02ef2/src/screens/RecoveredScreen.tsx</a:t>
            </a:r>
          </a:p>
          <a:p xmlns:a="http://schemas.openxmlformats.org/drawingml/2006/main">
            <a:r>
              <a:t>https://github.com/hanium-reaction/reaction-backend/blob/4053c0f301953d461901aa83f096aee7ed23a6b9/src/reaction_backend/api/routes/recovery.py</a:t>
            </a:r>
          </a:p>
          <a:p xmlns:a="http://schemas.openxmlformats.org/drawingml/2006/main">
            <a:r>
              <a:t>Android/iOS 설치형 앱을 제공하는 방향이며, 현재 React 화면을 Capacitor 네이티브 컨테이너에 포함한다. 모든 화면을 플랫폼 고유 UI 위젯으로 다시 구현했다는 뜻은 아니다. 도식의 리플랜은 새 회복 할 일을 만든 경우다. 시간 변경과 보류는 8쪽에 구분한다. 남은 가용 시간 직접 반영과 현재 구현의 차이는 14쪽에 명시한다.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프론트엔드 기준: 9d02ef2. 확인일: 2026-09-06.</a:t>
            </a:r>
          </a:p>
          <a:p xmlns:a="http://schemas.openxmlformats.org/drawingml/2006/main">
            <a:r>
              <a:t>https://github.com/hanium-reaction/reaction-frontend/blob/9d02ef2/src/screens/TodayScreen.tsx</a:t>
            </a:r>
          </a:p>
          <a:p xmlns:a="http://schemas.openxmlformats.org/drawingml/2006/main">
            <a:r>
              <a:t>https://github.com/hanium-reaction/reaction-frontend/blob/9d02ef2/src/app/ReActionMerged.tsx</a:t>
            </a:r>
          </a:p>
          <a:p xmlns:a="http://schemas.openxmlformats.org/drawingml/2006/main">
            <a:r>
              <a:t>앱의 하단 탭과 오늘의 더보기 메뉴 관계를 편집 가능한 도형과 연결선으로 표현했다. 메뉴 자체의 명칭과 기능 설명의 순번은 별개다.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프론트엔드 기준: 9d02ef2. 확인일: 2026-09-06.</a:t>
            </a:r>
          </a:p>
          <a:p xmlns:a="http://schemas.openxmlformats.org/drawingml/2006/main">
            <a:r>
              <a:t>https://github.com/hanium-reaction/reaction-frontend/blob/9d02ef2/src/screens/GoalIntakeScreen.tsx</a:t>
            </a:r>
          </a:p>
          <a:p xmlns:a="http://schemas.openxmlformats.org/drawingml/2006/main">
            <a:r>
              <a:t>https://github.com/hanium-reaction/reaction-frontend/blob/9d02ef2/src/screens/GoalClassificationScreen.tsx</a:t>
            </a:r>
          </a:p>
          <a:p xmlns:a="http://schemas.openxmlformats.org/drawingml/2006/main">
            <a:r>
              <a:t>실제 UI, 시연용 예시 데이터. 인터뷰는 답변에서 빠진 필드를 추가 질문으로 받고 목표 후보를 만든다. 집중/유지/보류 분류는 사용자가 확인하며, 보류 목표는 계획에서 제외한다. UC-01.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프론트엔드 기준: 9d02ef2. 확인일: 2026-09-06.</a:t>
            </a:r>
          </a:p>
          <a:p xmlns:a="http://schemas.openxmlformats.org/drawingml/2006/main">
            <a:r>
              <a:t>https://github.com/hanium-reaction/reaction-frontend/blob/9d02ef2/src/screens/SetupScreen.tsx</a:t>
            </a:r>
          </a:p>
          <a:p xmlns:a="http://schemas.openxmlformats.org/drawingml/2006/main">
            <a:r>
              <a:t>https://github.com/hanium-reaction/reaction-frontend/blob/9d02ef2/src/screens/MaterialsSearchScreen.tsx</a:t>
            </a:r>
          </a:p>
          <a:p xmlns:a="http://schemas.openxmlformats.org/drawingml/2006/main">
            <a:r>
              <a:t>https://github.com/hanium-reaction/reaction-frontend/blob/9d02ef2/src/screens/WeeklyPlanGenerationScreen.tsx</a:t>
            </a:r>
          </a:p>
          <a:p xmlns:a="http://schemas.openxmlformats.org/drawingml/2006/main">
            <a:r>
              <a:t>실제 UI, 시연용 예시 데이터. 초안 생성과 사용자 승인을 분리한다. UC-01.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프론트엔드 기준: 9d02ef2. 확인일: 2026-09-06.</a:t>
            </a:r>
          </a:p>
          <a:p xmlns:a="http://schemas.openxmlformats.org/drawingml/2006/main">
            <a:r>
              <a:t>https://github.com/hanium-reaction/reaction-frontend/blob/9d02ef2/src/screens/TodayScreen.tsx</a:t>
            </a:r>
          </a:p>
          <a:p xmlns:a="http://schemas.openxmlformats.org/drawingml/2006/main">
            <a:r>
              <a:t>https://github.com/hanium-reaction/reaction-frontend/blob/9d02ef2/src/screens/FocusScreen.tsx</a:t>
            </a:r>
          </a:p>
          <a:p xmlns:a="http://schemas.openxmlformats.org/drawingml/2006/main">
            <a:r>
              <a:t>https://github.com/hanium-reaction/reaction-frontend/blob/9d02ef2/src/app/ReActionMerged.tsx</a:t>
            </a:r>
          </a:p>
          <a:p xmlns:a="http://schemas.openxmlformats.org/drawingml/2006/main">
            <a:r>
              <a:t>9d02ef2 실제 UI, API 응답은 시연용 가상 데이터. 일시정지와 실패를 구분한다. UC-03.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프론트엔드 기준: 9d02ef2. 확인일: 2026-09-06.</a:t>
            </a:r>
          </a:p>
          <a:p xmlns:a="http://schemas.openxmlformats.org/drawingml/2006/main">
            <a:r>
              <a:t>https://github.com/hanium-reaction/reaction-frontend/blob/9d02ef2/src/screens/FocusScreen.tsx</a:t>
            </a:r>
          </a:p>
          <a:p xmlns:a="http://schemas.openxmlformats.org/drawingml/2006/main">
            <a:r>
              <a:t>https://github.com/hanium-reaction/reaction-frontend/blob/9d02ef2/src/app/ReActionMerged.tsx</a:t>
            </a:r>
          </a:p>
          <a:p xmlns:a="http://schemas.openxmlformats.org/drawingml/2006/main">
            <a:r>
              <a:t>https://github.com/hanium-reaction/reaction-backend/blob/4053c0f301953d461901aa83f096aee7ed23a6b9/src/reaction_backend/api/routes/recovery.py</a:t>
            </a:r>
          </a:p>
          <a:p xmlns:a="http://schemas.openxmlformats.org/drawingml/2006/main">
            <a:r>
              <a:t>9d02ef2 실제 UI, API 시연용 가상 응답. 실패 사유 1~2개, 메모 최대 300자. 부담 정도 입력 UI가 있으나 현재 백엔드 회복 전략 선택에서 overwhelm_level은 사용하지 않는다. 실패 사유는 전략 선택에 사용한다. UC-03.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프론트엔드 기준: 9d02ef2. 확인일: 2026-09-06.</a:t>
            </a:r>
          </a:p>
          <a:p xmlns:a="http://schemas.openxmlformats.org/drawingml/2006/main">
            <a:r>
              <a:t>https://github.com/hanium-reaction/reaction-frontend/blob/9d02ef2/src/screens/RecoveryScreen.tsx</a:t>
            </a:r>
          </a:p>
          <a:p xmlns:a="http://schemas.openxmlformats.org/drawingml/2006/main">
            <a:r>
              <a:t>https://github.com/hanium-reaction/reaction-frontend/blob/9d02ef2/src/lib/api.ts</a:t>
            </a:r>
          </a:p>
          <a:p xmlns:a="http://schemas.openxmlformats.org/drawingml/2006/main">
            <a:r>
              <a:t>https://github.com/hanium-reaction/reaction-backend/blob/4053c0f301953d461901aa83f096aee7ed23a6b9/src/reaction_backend/api/routes/recovery.py</a:t>
            </a:r>
          </a:p>
          <a:p xmlns:a="http://schemas.openxmlformats.org/drawingml/2006/main">
            <a:r>
              <a:t>https://github.com/hanium-reaction/reaction-backend/blob/4053c0f301953d461901aa83f096aee7ed23a6b9/src/reaction_backend/orchestrator/recovery.py</a:t>
            </a:r>
          </a:p>
          <a:p xmlns:a="http://schemas.openxmlformats.org/drawingml/2006/main">
            <a:r>
              <a:t>9d02ef2 실제 UI, API 시연용 예시 데이터. 회복 카드는 상황에 따라 2~4개다. 규칙이 실패 사유와 반복 실패 단계로 전략을 선택한다. AI는 선두 카드의 작업 문구를 구체화하며 오류 시 기본 문구를 사용한다. DOWNSCOPE/CARRY_OVER는 새 할 일을 만들고 RESCHEDULE/PARK는 만들지 않는다. UC-03.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프론트엔드 기준: 9d02ef2. 확인일: 2026-09-06.</a:t>
            </a:r>
          </a:p>
          <a:p xmlns:a="http://schemas.openxmlformats.org/drawingml/2006/main">
            <a:r>
              <a:t>https://github.com/hanium-reaction/reaction-frontend/blob/9d02ef2/src/screens/RecoveredScreen.tsx</a:t>
            </a:r>
          </a:p>
          <a:p xmlns:a="http://schemas.openxmlformats.org/drawingml/2006/main">
            <a:r>
              <a:t>https://github.com/hanium-reaction/reaction-frontend/blob/9d02ef2/src/screens/RecoveryScreen.tsx</a:t>
            </a:r>
          </a:p>
          <a:p xmlns:a="http://schemas.openxmlformats.org/drawingml/2006/main">
            <a:r>
              <a:t>https://github.com/hanium-reaction/reaction-frontend/blob/9d02ef2/src/app/ReActionMerged.tsx</a:t>
            </a:r>
          </a:p>
          <a:p xmlns:a="http://schemas.openxmlformats.org/drawingml/2006/main">
            <a:r>
              <a:t>https://github.com/hanium-reaction/reaction-backend/blob/4053c0f301953d461901aa83f096aee7ed23a6b9/src/reaction_backend/api/routes/recovery.py</a:t>
            </a:r>
          </a:p>
          <a:p xmlns:a="http://schemas.openxmlformats.org/drawingml/2006/main">
            <a:r>
              <a:t>9d02ef2 실제 UI, 시연용 예시 데이터. 예시의 작업명과 10:30~10:45는 화면에 나타난 가상 값이며 성과 수치가 아니다. 새 회복 ActionItem이 있는 경우 GET /replan/{executionId}를 통해 before/after를 받고, 사용자 승인 POST 성공 후 scheduled_block 배치 결과를 확인한다. 선택과 일정 승인은 별도 단계다. UC-03.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프론트엔드 기준: 9d02ef2. 확인일: 2026-09-06.</a:t>
            </a:r>
          </a:p>
          <a:p xmlns:a="http://schemas.openxmlformats.org/drawingml/2006/main">
            <a:r>
              <a:t>https://github.com/hanium-reaction/reaction-frontend/blob/9d02ef2/src/screens/WeeklyCalendarScreen.tsx</a:t>
            </a:r>
          </a:p>
          <a:p xmlns:a="http://schemas.openxmlformats.org/drawingml/2006/main">
            <a:r>
              <a:t>https://github.com/hanium-reaction/reaction-frontend/blob/9d02ef2/src/screens/WeeklyReviewScreen.tsx</a:t>
            </a:r>
          </a:p>
          <a:p xmlns:a="http://schemas.openxmlformats.org/drawingml/2006/main">
            <a:r>
              <a:t>실제 UI, 시연용 예시 데이터. 실행 및 회복 지표, 최근 3주 습관 기록과 횟수 제안을 확인한다. openNextCycle은 이전 인터뷰/마일스톤 상태를 비우고 주간 초안 화면으로 이동한다. UC-04.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프론트엔드 기준: 9d02ef2. 확인일: 2026-09-06.</a:t>
            </a:r>
          </a:p>
          <a:p xmlns:a="http://schemas.openxmlformats.org/drawingml/2006/main">
            <a:r>
              <a:t>https://github.com/hanium-reaction/reaction-frontend/blob/9d02ef2/src/app/ReActionMerged.tsx</a:t>
            </a:r>
          </a:p>
          <a:p xmlns:a="http://schemas.openxmlformats.org/drawingml/2006/main">
            <a:r>
              <a:t>유즈케이스: UC-01 실행 계획, UC-02 궁극적 목표와 만다라트, UC-03 집중과 회복, UC-04 주간 일정과 리뷰, UC-05 인박스 전환. 화면 설명 위치: UC-01은 4~5쪽, UC-03은 6~9쪽, UC-04는 10쪽, UC-02와 UC-05는 13쪽.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프론트엔드 기준: 9d02ef2. 확인일: 2026-09-06.</a:t>
            </a:r>
          </a:p>
          <a:p xmlns:a="http://schemas.openxmlformats.org/drawingml/2006/main">
            <a:r>
              <a:t>https://github.com/hanium-reaction/reaction-frontend/blob/9d02ef2/src/app/ReActionMerged.tsx</a:t>
            </a:r>
          </a:p>
          <a:p xmlns:a="http://schemas.openxmlformats.org/drawingml/2006/main">
            <a:r>
              <a:t>https://github.com/hanium-reaction/reaction-frontend/blob/9d02ef2/src/screens/RecoveredScreen.tsx</a:t>
            </a:r>
          </a:p>
          <a:p xmlns:a="http://schemas.openxmlformats.org/drawingml/2006/main">
            <a:r>
              <a:t>기존 유즈케이스 번호와 표의 순서를 유지한다. UC-03에서 새 회복 할 일이 생긴 선택은 변경 확인과 승인을 거친다. 단순 시간 변경은 주간 계획에서 직접 고치며, 보류는 새 일정을 만들지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프론트엔드 기준: 9d02ef2. 확인일: 2026-09-06.</a:t>
            </a:r>
          </a:p>
          <a:p xmlns:a="http://schemas.openxmlformats.org/drawingml/2006/main">
            <a:r>
              <a:t>https://github.com/hanium-reaction/reaction-frontend/blob/9d02ef2/src/screens/InboxScreen.tsx</a:t>
            </a:r>
          </a:p>
          <a:p xmlns:a="http://schemas.openxmlformats.org/drawingml/2006/main">
            <a:r>
              <a:t>https://github.com/hanium-reaction/reaction-frontend/blob/9d02ef2/src/screens/UltimateGoalInterviewScreen.tsx</a:t>
            </a:r>
          </a:p>
          <a:p xmlns:a="http://schemas.openxmlformats.org/drawingml/2006/main">
            <a:r>
              <a:t>https://github.com/hanium-reaction/reaction-frontend/blob/9d02ef2/src/screens/MandalaScreen.tsx</a:t>
            </a:r>
          </a:p>
          <a:p xmlns:a="http://schemas.openxmlformats.org/drawingml/2006/main">
            <a:r>
              <a:t>기존 실제 UI 캡처를 유지했다. 데이터는 시연용 예시다. 궁극적 목표 인터뷰는 UC-02, 인박스 전환은 UC-05다. 중심 목표 1개, 하위 8개 영역, 영역당 최대 8개 행동이다.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프론트엔드 기준: 9d02ef2. 확인일: 2026-09-06.</a:t>
            </a:r>
          </a:p>
          <a:p xmlns:a="http://schemas.openxmlformats.org/drawingml/2006/main">
            <a:r>
              <a:t>https://github.com/hanium-reaction/reaction-frontend/blob/9d02ef2/capacitor.config.ts</a:t>
            </a:r>
          </a:p>
          <a:p xmlns:a="http://schemas.openxmlformats.org/drawingml/2006/main">
            <a:r>
              <a:t>https://github.com/hanium-reaction/reaction-frontend/blob/9d02ef2/src/lib/native.ts</a:t>
            </a:r>
          </a:p>
          <a:p xmlns:a="http://schemas.openxmlformats.org/drawingml/2006/main">
            <a:r>
              <a:t>https://github.com/hanium-reaction/reaction-frontend/blob/9d02ef2/src/lib/platform.ts</a:t>
            </a:r>
          </a:p>
          <a:p xmlns:a="http://schemas.openxmlformats.org/drawingml/2006/main">
            <a:r>
              <a:t>https://github.com/hanium-reaction/reaction-frontend/blob/9d02ef2/.github/workflows/android-release.yml</a:t>
            </a:r>
          </a:p>
          <a:p xmlns:a="http://schemas.openxmlformats.org/drawingml/2006/main">
            <a:r>
              <a:t>https://github.com/hanium-reaction/reaction-frontend/blob/9d02ef2/docs/android-release.md</a:t>
            </a:r>
          </a:p>
          <a:p xmlns:a="http://schemas.openxmlformats.org/drawingml/2006/main">
            <a:r>
              <a:t>https://github.com/hanium-reaction/reaction-frontend/blob/9d02ef2/src/screens/SetupScreen.tsx</a:t>
            </a:r>
          </a:p>
          <a:p xmlns:a="http://schemas.openxmlformats.org/drawingml/2006/main">
            <a:r>
              <a:t>https://github.com/hanium-reaction/reaction-backend/blob/4053c0f301953d461901aa83f096aee7ed23a6b9/src/reaction_backend/api/routes/recovery.py</a:t>
            </a:r>
          </a:p>
          <a:p xmlns:a="http://schemas.openxmlformats.org/drawingml/2006/main">
            <a:r>
              <a:t>https://github.com/hanium-reaction/reaction-backend/blob/4053c0f301953d461901aa83f096aee7ed23a6b9/src/reaction_backend/orchestrator/recovery.py</a:t>
            </a:r>
          </a:p>
          <a:p xmlns:a="http://schemas.openxmlformats.org/drawingml/2006/main">
            <a:r>
              <a:t>제품 제공 방향은 Android/iOS 설치형 네이티브 앱이다. 구현은 React 화면을 Capacitor로 패키징하는 하이브리드 구조이며 플랫폼 고유 UI로 전면 재작성한 앱으로 표현하지 않는다. Android 서명 AAB 생성 워크플로가 있으며 스토어 출시/심사 완료를 의미하지 않는다. nativePushReady는 false, Google 캘린더 버튼은 준비 중 안내를 띄운다. 회복안은 failure_tags/반복 단계로 선택하고, 선택 후 원본 예상 시간 및 현재 시각으로 시간을 보정한다. 남은 가용 시간 직접 반영은 미구현 범위로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01bc9ca96348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aea151e2b9453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2565b1df7f4d6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241141d16c458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b1c92f8b2e4f3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0b56015288420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1434e5fa894ed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bf99f79b5c443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d1cc48f4284da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6dbb890b494f5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cb2260b17e49c7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5B058B98-E26F-45C4-AD54-2282023DE25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16FD5AB0-9968-49DA-B73D-6D8FB51FB64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마스터 부제목 스타일 편집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40FDD0BA-5770-435D-AE91-C8B47BAFD8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4F08C18-F846-4F83-9E4A-EF96E909B73F}" type="datetime1">
              <a:t>2026-09-05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BC399C6C-648C-4AA5-B332-4DFAC71A4E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9897A017-1FDC-4CDD-BD7E-7FF90C17BA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7EC41F90-E110-4DB3-A5D2-B08C065744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866B3717-F937-4171-8ADF-7B28F0FC8EA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F3630CC2-A88D-49D9-8161-C83BAE5A83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A3DBE8A-08A0-4AE2-B806-C9B9A473B0ED}" type="datetime1">
              <a:t>2026-09-05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467AE01E-2A0E-4503-B51A-A0748CC155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25CB21DF-7229-4A34-A7B4-38F44D5B74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617245"/>
            <a:ext cx="2133600" cy="19613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36B28905-715B-4C0E-A430-AE6A161A7C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8442D429-631F-43A3-9F09-E98AF6A64A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05FF06AD-0418-4150-B773-9EA794541F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FE13E15-7006-4370-B5F6-60D7104AE3B4}" type="datetime1">
              <a:t>2026-09-05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A9562A13-CD99-4CB5-83E2-CF3530042F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8B0D75F4-86E2-48C0-B6FD-50054E5839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BF9E9AA3-5851-4BDC-AF03-1950F26E7B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9977436A-125E-4DA2-86BD-6C1BA90319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37337566-314F-45B9-A81F-CB385C94BE3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F681BA63-5B35-46D6-9474-985FA16F0C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7D10D11-2C95-44F2-9DFC-D0C737CB5390}" type="datetime1">
              <a:t>2026-09-05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540C3A13-C943-41EA-8AD8-18B080F006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A3CB917B-0DA6-4668-B466-0B0001A5E0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F68E0910-7169-46FA-9B0F-9C1001F12D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51B213A7-0AEB-42CE-94A5-5C344DB326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EA2E6E3E-E08E-457D-8985-1DF1EA35A3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3FAECCE1-9EC8-4C17-85FA-A93FEC81C15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</p:txBody>
      </p:sp>
      <p:sp>
        <p:nvSpPr>
          <p:cNvPr id="6" name="내용 개체 틀 5">
            <a:extLst xmlns:a="http://schemas.openxmlformats.org/drawingml/2006/main">
              <a:ext uri="{FF2B5EF4-FFF2-40B4-BE49-F238E27FC236}">
                <a16:creationId xmlns:a16="http://schemas.microsoft.com/office/drawing/2014/main" id="{9033FE23-C0C5-4ADD-B2B5-38029CB7E30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7" name="날짜 개체 틀 6">
            <a:extLst xmlns:a="http://schemas.openxmlformats.org/drawingml/2006/main">
              <a:ext uri="{FF2B5EF4-FFF2-40B4-BE49-F238E27FC236}">
                <a16:creationId xmlns:a16="http://schemas.microsoft.com/office/drawing/2014/main" id="{3980AE80-6D44-41E3-BE2A-5FE60B1B43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5135845-0C4F-469E-8726-3EBFD71077A7}" type="datetime1">
              <a:t>2026-09-05</a:t>
            </a:fld>
            <a:endParaRPr/>
          </a:p>
        </p:txBody>
      </p:sp>
      <p:sp>
        <p:nvSpPr>
          <p:cNvPr id="8" name="바닥글 개체 틀 7">
            <a:extLst xmlns:a="http://schemas.openxmlformats.org/drawingml/2006/main">
              <a:ext uri="{FF2B5EF4-FFF2-40B4-BE49-F238E27FC236}">
                <a16:creationId xmlns:a16="http://schemas.microsoft.com/office/drawing/2014/main" id="{7CD01B1C-8511-4CCA-92D4-6FA80C873E0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9" name="슬라이드 번호 개체 틀 8">
            <a:extLst xmlns:a="http://schemas.openxmlformats.org/drawingml/2006/main">
              <a:ext uri="{FF2B5EF4-FFF2-40B4-BE49-F238E27FC236}">
                <a16:creationId xmlns:a16="http://schemas.microsoft.com/office/drawing/2014/main" id="{B4643395-E6E9-4042-AD4B-F28264A80E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592F7BD5-C0B3-43B6-92A8-B325534BBF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날짜 개체 틀 2">
            <a:extLst xmlns:a="http://schemas.openxmlformats.org/drawingml/2006/main">
              <a:ext uri="{FF2B5EF4-FFF2-40B4-BE49-F238E27FC236}">
                <a16:creationId xmlns:a16="http://schemas.microsoft.com/office/drawing/2014/main" id="{07AB2A5D-0D48-4FBB-83C3-39EF706569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80FC019-3CDA-4483-987D-B12D1EB4D233}" type="datetime1">
              <a:t>2026-09-05</a:t>
            </a:fld>
            <a:endParaRPr/>
          </a:p>
        </p:txBody>
      </p:sp>
      <p:sp>
        <p:nvSpPr>
          <p:cNvPr id="4" name="바닥글 개체 틀 3">
            <a:extLst xmlns:a="http://schemas.openxmlformats.org/drawingml/2006/main">
              <a:ext uri="{FF2B5EF4-FFF2-40B4-BE49-F238E27FC236}">
                <a16:creationId xmlns:a16="http://schemas.microsoft.com/office/drawing/2014/main" id="{C9C76022-8F01-40D2-9129-2569CDCD51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21F8534D-DAC1-445F-8274-65C7B2818C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날짜 개체 틀 1">
            <a:extLst xmlns:a="http://schemas.openxmlformats.org/drawingml/2006/main">
              <a:ext uri="{FF2B5EF4-FFF2-40B4-BE49-F238E27FC236}">
                <a16:creationId xmlns:a16="http://schemas.microsoft.com/office/drawing/2014/main" id="{0C5F4DFE-A88C-440D-B611-3C3259CAE3C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5936E48-2907-481B-8F8C-35E94B4338B9}" type="datetime1">
              <a:t>2026-09-05</a:t>
            </a:fld>
            <a:endParaRPr/>
          </a:p>
        </p:txBody>
      </p:sp>
      <p:sp>
        <p:nvSpPr>
          <p:cNvPr id="3" name="바닥글 개체 틀 2">
            <a:extLst xmlns:a="http://schemas.openxmlformats.org/drawingml/2006/main">
              <a:ext uri="{FF2B5EF4-FFF2-40B4-BE49-F238E27FC236}">
                <a16:creationId xmlns:a16="http://schemas.microsoft.com/office/drawing/2014/main" id="{73F3C8DA-B84E-4E1A-A2F5-954B340EEC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4" name="슬라이드 번호 개체 틀 3">
            <a:extLst xmlns:a="http://schemas.openxmlformats.org/drawingml/2006/main">
              <a:ext uri="{FF2B5EF4-FFF2-40B4-BE49-F238E27FC236}">
                <a16:creationId xmlns:a16="http://schemas.microsoft.com/office/drawing/2014/main" id="{CD8593F4-7A67-44CB-A658-C297355DF3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BFBC0864-0027-49C8-B0C2-D6805F1533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7EBEBA95-1739-40A1-95B3-2CF5EBE493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2F776F4F-6FBB-4B5E-9629-6E73D1CF566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19E93325-AB57-455E-9550-3109A2D172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6D1E666-04C9-40C3-88DF-F7C22C7A6172}" type="datetime1">
              <a:t>2026-09-05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9AC30FE3-A212-479D-808D-DE8C95471B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191731E1-408D-4F8E-8B7B-0556923FEB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0B59D4B2-A015-44A0-8C2E-90853C3088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06C564D9-5731-41BB-9A40-00A26755750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EF3BDB84-AC51-4C27-99D4-CB3A402CA9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D1CC2E4D-4A98-46B5-BEE9-7AC89720E4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D27B48-006F-4BC1-BDC8-3C8CA726AC13}" type="datetime1">
              <a:t>2026-09-05</a:t>
            </a:fld>
            <a:endParaRPr/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8A901FAA-4401-4549-9FB9-A94771858D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50CE4E39-FABE-4B2A-B020-E25BCD5F57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1695D5C8-159C-45E4-8A78-130CA297C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E2FE8E52-747A-45EA-916D-2DC1F4FD1B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ECC91281-7798-4DF9-B80D-DE7E0C0DBB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022DE9A-8BD0-4588-90EC-B8326F0668FE}" type="datetime1">
              <a:t>2026-09-05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341046F2-E688-4FC3-AE67-105DABA049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548CBBC4-BACC-45CB-A96C-36F8498A50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세로 제목 1">
            <a:extLst xmlns:a="http://schemas.openxmlformats.org/drawingml/2006/main">
              <a:ext uri="{FF2B5EF4-FFF2-40B4-BE49-F238E27FC236}">
                <a16:creationId xmlns:a16="http://schemas.microsoft.com/office/drawing/2014/main" id="{0AF13A5C-CC02-4240-BE7E-D457350089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9E29E3F2-5CC0-4AAC-9C3B-F3766BEC58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5B2119A9-D711-4C46-B146-FEE05016FD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7F8B5EE-9957-45ED-8881-249F27AAE9BD}" type="datetime1">
              <a:t>2026-09-05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7B9FF057-95E0-49AC-9809-73422CFFA9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23C8B054-9EFC-4404-AEF6-56800CAB2B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983176dc8f4f5b" /><Relationship Type="http://schemas.openxmlformats.org/officeDocument/2006/relationships/slideLayout" Target="/ppt/slideLayouts/slideLayout1.xml" Id="R73f8bfce0ca54bed" /><Relationship Type="http://schemas.openxmlformats.org/officeDocument/2006/relationships/slideLayout" Target="/ppt/slideLayouts/slideLayout2.xml" Id="Raad626fca3e649bb" /><Relationship Type="http://schemas.openxmlformats.org/officeDocument/2006/relationships/slideLayout" Target="/ppt/slideLayouts/slideLayout3.xml" Id="Ra94d1cc579a14d90" /><Relationship Type="http://schemas.openxmlformats.org/officeDocument/2006/relationships/slideLayout" Target="/ppt/slideLayouts/slideLayout4.xml" Id="R5b1c530432264644" /><Relationship Type="http://schemas.openxmlformats.org/officeDocument/2006/relationships/slideLayout" Target="/ppt/slideLayouts/slideLayout5.xml" Id="Rd799d499f2f2429a" /><Relationship Type="http://schemas.openxmlformats.org/officeDocument/2006/relationships/slideLayout" Target="/ppt/slideLayouts/slideLayout6.xml" Id="R62723e20e6c34a62" /><Relationship Type="http://schemas.openxmlformats.org/officeDocument/2006/relationships/slideLayout" Target="/ppt/slideLayouts/slideLayout7.xml" Id="R5bbf4957981d494c" /><Relationship Type="http://schemas.openxmlformats.org/officeDocument/2006/relationships/slideLayout" Target="/ppt/slideLayouts/slideLayout8.xml" Id="Recc7a426b185471c" /><Relationship Type="http://schemas.openxmlformats.org/officeDocument/2006/relationships/slideLayout" Target="/ppt/slideLayouts/slideLayout9.xml" Id="R8d5b9c8ae2e34e0d" /><Relationship Type="http://schemas.openxmlformats.org/officeDocument/2006/relationships/slideLayout" Target="/ppt/slideLayouts/slideLayout10.xml" Id="R1ee257f086b4474c" /><Relationship Type="http://schemas.openxmlformats.org/officeDocument/2006/relationships/slideLayout" Target="/ppt/slideLayouts/slideLayout11.xml" Id="R4978b1f76d16420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개체 틀 1">
            <a:extLst xmlns:a="http://schemas.openxmlformats.org/drawingml/2006/main">
              <a:ext uri="{FF2B5EF4-FFF2-40B4-BE49-F238E27FC236}">
                <a16:creationId xmlns:a16="http://schemas.microsoft.com/office/drawing/2014/main" id="{5222677E-F595-41DE-901C-E9946DD27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421CDBBE-061D-43D1-BA2A-14F2DB5C90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편집합니다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B2271BB6-B75A-4B0D-9469-A71BA8FD783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926EC2E-D34C-4476-B4C7-64731BF56572}" type="datetime1">
              <a:t>2026-09-05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5088A60C-94D7-4815-A625-646827715A7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한이음 ▶ 프로그램 설계서</a:t>
            </a:r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308CC7DD-ED11-4EB4-99CA-698879F3840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43FC95C-4A71-4760-A575-4AE7075BB6F0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f8bfce0ca54bed"/>
    <p:sldLayoutId xmlns:r="http://schemas.openxmlformats.org/officeDocument/2006/relationships" id="2147483650" r:id="Raad626fca3e649bb"/>
    <p:sldLayoutId xmlns:r="http://schemas.openxmlformats.org/officeDocument/2006/relationships" id="2147483651" r:id="Ra94d1cc579a14d90"/>
    <p:sldLayoutId xmlns:r="http://schemas.openxmlformats.org/officeDocument/2006/relationships" id="2147483652" r:id="R5b1c530432264644"/>
    <p:sldLayoutId xmlns:r="http://schemas.openxmlformats.org/officeDocument/2006/relationships" id="2147483653" r:id="Rd799d499f2f2429a"/>
    <p:sldLayoutId xmlns:r="http://schemas.openxmlformats.org/officeDocument/2006/relationships" id="2147483654" r:id="R62723e20e6c34a62"/>
    <p:sldLayoutId xmlns:r="http://schemas.openxmlformats.org/officeDocument/2006/relationships" id="2147483655" r:id="R5bbf4957981d494c"/>
    <p:sldLayoutId xmlns:r="http://schemas.openxmlformats.org/officeDocument/2006/relationships" id="2147483656" r:id="Recc7a426b185471c"/>
    <p:sldLayoutId xmlns:r="http://schemas.openxmlformats.org/officeDocument/2006/relationships" id="2147483657" r:id="R8d5b9c8ae2e34e0d"/>
    <p:sldLayoutId xmlns:r="http://schemas.openxmlformats.org/officeDocument/2006/relationships" id="2147483658" r:id="R1ee257f086b4474c"/>
    <p:sldLayoutId xmlns:r="http://schemas.openxmlformats.org/officeDocument/2006/relationships" id="2147483659" r:id="R4978b1f76d164200"/>
  </p:sldLayoutIdLst>
  <p:hf sldNum="0" hd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7018d8ccc4601" /><Relationship Type="http://schemas.openxmlformats.org/officeDocument/2006/relationships/image" Target="/ppt/media/image.png" Id="Rd70aebc8bc044909" /><Relationship Type="http://schemas.openxmlformats.org/officeDocument/2006/relationships/image" Target="/ppt/media/image2.png" Id="Re5663dc1bfe94e54" /><Relationship Type="http://schemas.openxmlformats.org/officeDocument/2006/relationships/notesSlide" Target="/ppt/notesSlides/notesSlide1.xml" Id="R133864f2b48d41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f5b0d67380448b" /><Relationship Type="http://schemas.openxmlformats.org/officeDocument/2006/relationships/image" Target="/ppt/media/image3.png" Id="R953f426b705f41b3" /><Relationship Type="http://schemas.openxmlformats.org/officeDocument/2006/relationships/notesSlide" Target="/ppt/notesSlides/notesSlide2.xml" Id="R2de97f88d1044a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4e963a00b8408e" /><Relationship Type="http://schemas.openxmlformats.org/officeDocument/2006/relationships/image" Target="/ppt/media/image3.png" Id="R3431cb7541f4410b" /><Relationship Type="http://schemas.openxmlformats.org/officeDocument/2006/relationships/notesSlide" Target="/ppt/notesSlides/notesSlide3.xml" Id="R83f7ea3e3f3542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d935ce78e74bf2" /><Relationship Type="http://schemas.openxmlformats.org/officeDocument/2006/relationships/image" Target="/ppt/media/image3.png" Id="Rfff92ff506d04916" /><Relationship Type="http://schemas.openxmlformats.org/officeDocument/2006/relationships/image" Target="/ppt/media/image4.png" Id="R6264f64f31e84937" /><Relationship Type="http://schemas.openxmlformats.org/officeDocument/2006/relationships/image" Target="/ppt/media/image5.png" Id="Re8a5ea5566354970" /><Relationship Type="http://schemas.openxmlformats.org/officeDocument/2006/relationships/notesSlide" Target="/ppt/notesSlides/notesSlide4.xml" Id="R7e91baefdcc842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9a5b00fb5a4337" /><Relationship Type="http://schemas.openxmlformats.org/officeDocument/2006/relationships/image" Target="/ppt/media/image3.png" Id="Rc377bfae2b37455a" /><Relationship Type="http://schemas.openxmlformats.org/officeDocument/2006/relationships/image" Target="/ppt/media/image6.png" Id="Raa848bcc0bb0470e" /><Relationship Type="http://schemas.openxmlformats.org/officeDocument/2006/relationships/notesSlide" Target="/ppt/notesSlides/notesSlide5.xml" Id="R7158ab07b14c45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1d4ae37f0849e4" /><Relationship Type="http://schemas.openxmlformats.org/officeDocument/2006/relationships/image" Target="/ppt/media/image3.png" Id="R32214e631d474d94" /><Relationship Type="http://schemas.openxmlformats.org/officeDocument/2006/relationships/image" Target="/ppt/media/image7.png" Id="R135db456638c49f9" /><Relationship Type="http://schemas.openxmlformats.org/officeDocument/2006/relationships/image" Target="/ppt/media/image8.png" Id="Rfc6b1c349b9244c5" /><Relationship Type="http://schemas.openxmlformats.org/officeDocument/2006/relationships/notesSlide" Target="/ppt/notesSlides/notesSlide6.xml" Id="Rb9734d1ad4284d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14183671654c74" /><Relationship Type="http://schemas.openxmlformats.org/officeDocument/2006/relationships/image" Target="/ppt/media/image3.png" Id="Rd2bc26d9d6684734" /><Relationship Type="http://schemas.openxmlformats.org/officeDocument/2006/relationships/image" Target="/ppt/media/image9.png" Id="Ra328e09c4f8740a7" /><Relationship Type="http://schemas.openxmlformats.org/officeDocument/2006/relationships/image" Target="/ppt/media/image10.png" Id="R023abd6b0794404b" /><Relationship Type="http://schemas.openxmlformats.org/officeDocument/2006/relationships/notesSlide" Target="/ppt/notesSlides/notesSlide7.xml" Id="R1c65962b528a44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fcb2ea8533443e" /><Relationship Type="http://schemas.openxmlformats.org/officeDocument/2006/relationships/image" Target="/ppt/media/image3.png" Id="Rd39a8b0803d642f3" /><Relationship Type="http://schemas.openxmlformats.org/officeDocument/2006/relationships/image" Target="/ppt/media/image11.png" Id="R9fefae2704b0423b" /><Relationship Type="http://schemas.openxmlformats.org/officeDocument/2006/relationships/notesSlide" Target="/ppt/notesSlides/notesSlide8.xml" Id="R56ddd32c81c34b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aed37a17a64a9e" /><Relationship Type="http://schemas.openxmlformats.org/officeDocument/2006/relationships/image" Target="/ppt/media/image3.png" Id="Rd781417188364049" /><Relationship Type="http://schemas.openxmlformats.org/officeDocument/2006/relationships/image" Target="/ppt/media/image12.png" Id="Rd17f4c443c5f4e5d" /><Relationship Type="http://schemas.openxmlformats.org/officeDocument/2006/relationships/notesSlide" Target="/ppt/notesSlides/notesSlide9.xml" Id="R75a66d70cc2c43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9727a6ea2a4789" /><Relationship Type="http://schemas.openxmlformats.org/officeDocument/2006/relationships/image" Target="/ppt/media/image3.png" Id="R145ba468f8c0424a" /><Relationship Type="http://schemas.openxmlformats.org/officeDocument/2006/relationships/image" Target="/ppt/media/image13.png" Id="Rabdfa7df81e648f7" /><Relationship Type="http://schemas.openxmlformats.org/officeDocument/2006/relationships/image" Target="/ppt/media/image14.png" Id="Rcfeba404e3494ec7" /><Relationship Type="http://schemas.openxmlformats.org/officeDocument/2006/relationships/notesSlide" Target="/ppt/notesSlides/notesSlide10.xml" Id="Re64f6f7dc4b646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7bd80f04054ffe" /><Relationship Type="http://schemas.openxmlformats.org/officeDocument/2006/relationships/image" Target="/ppt/media/image3.png" Id="R49eeb44d8b7545cc" /><Relationship Type="http://schemas.openxmlformats.org/officeDocument/2006/relationships/notesSlide" Target="/ppt/notesSlides/notesSlide11.xml" Id="R47c3d9d9e19b44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40c0fada1a4f73" /><Relationship Type="http://schemas.openxmlformats.org/officeDocument/2006/relationships/image" Target="/ppt/media/image3.png" Id="R38646cf1e06347d6" /><Relationship Type="http://schemas.openxmlformats.org/officeDocument/2006/relationships/notesSlide" Target="/ppt/notesSlides/notesSlide12.xml" Id="Rcedd0de156f14f9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3042eec43946df" /><Relationship Type="http://schemas.openxmlformats.org/officeDocument/2006/relationships/image" Target="/ppt/media/image3.png" Id="Re751f22bea0f4e12" /><Relationship Type="http://schemas.openxmlformats.org/officeDocument/2006/relationships/image" Target="/ppt/media/image15.png" Id="Rbfe9a2b3585b4c9f" /><Relationship Type="http://schemas.openxmlformats.org/officeDocument/2006/relationships/image" Target="/ppt/media/image16.png" Id="Rd9126f2145e44774" /><Relationship Type="http://schemas.openxmlformats.org/officeDocument/2006/relationships/image" Target="/ppt/media/image17.png" Id="Rd34b6bc54c1443dd" /><Relationship Type="http://schemas.openxmlformats.org/officeDocument/2006/relationships/notesSlide" Target="/ppt/notesSlides/notesSlide13.xml" Id="R16e98981d5db4e2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ba916a5f6a4485" /><Relationship Type="http://schemas.openxmlformats.org/officeDocument/2006/relationships/image" Target="/ppt/media/image3.png" Id="R4e4efeed7123475d" /><Relationship Type="http://schemas.openxmlformats.org/officeDocument/2006/relationships/notesSlide" Target="/ppt/notesSlides/notesSlide14.xml" Id="R0fa2174d9e45426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F2A6B4A0-DDF5-4F46-B14B-0A3A8567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09120"/>
            <a:ext cx="9144000" cy="234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6EB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pic>
        <p:nvPicPr>
          <p:cNvPr id="41" name="Picture 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70aebc8bc044909"/>
          <a:srcRect xmlns:a="http://schemas.openxmlformats.org/drawingml/2006/main" l="1036" t="0" r="0" b="0"/>
          <a:stretch xmlns:a="http://schemas.openxmlformats.org/drawingml/2006/main"/>
        </p:blipFill>
        <p:spPr>
          <a:xfrm xmlns:a="http://schemas.openxmlformats.org/drawingml/2006/main" rot="21600000">
            <a:off x="0" y="764704"/>
            <a:ext cx="4716016" cy="352438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2" name="그림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63dc1bfe94e54"/>
          <a:srcRect xmlns:a="http://schemas.openxmlformats.org/drawingml/2006/main" l="21956" t="40516" r="21023" b="44641"/>
          <a:stretch xmlns:a="http://schemas.openxmlformats.org/drawingml/2006/main"/>
        </p:blipFill>
        <p:spPr>
          <a:xfrm xmlns:a="http://schemas.openxmlformats.org/drawingml/2006/main">
            <a:off x="7528235" y="98344"/>
            <a:ext cx="1498208" cy="347199"/>
          </a:xfrm>
          <a:prstGeom xmlns:a="http://schemas.openxmlformats.org/drawingml/2006/main" prst="rect">
            <a:avLst/>
          </a:prstGeom>
        </p:spPr>
      </p:pic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C838B818-4722-41D6-9999-FF5BF372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19300"/>
            <a:ext cx="7315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eaLnBrk="0" latinLnBrk="0">
              <a:buNone/>
              <a:defRPr sz="3675" b="1" lang="ko-KR">
                <a:solidFill>
                  <a:srgbClr val="9A3535"/>
                </a:solidFill>
                <a:latin typeface="맑은 고딕"/>
                <a:ea typeface="맑은 고딕"/>
                <a:cs typeface="맑은 고딕"/>
              </a:defRPr>
            </a:pPr>
            <a:r>
              <a:rPr sz="3675" b="1" lang="ko-KR">
                <a:solidFill>
                  <a:srgbClr val="9A3535"/>
                </a:solidFill>
                <a:latin typeface="맑은 고딕"/>
                <a:ea typeface="맑은 고딕"/>
                <a:cs typeface="맑은 고딕"/>
              </a:rPr>
              <a:t>응용소프트웨어 제작설계서</a:t>
            </a:r>
          </a:p>
        </p:txBody>
      </p:sp>
      <p:sp>
        <p:nvSpPr>
          <p:cNvPr id="35" name="직사각형 34">
            <a:extLst xmlns:a="http://schemas.openxmlformats.org/drawingml/2006/main">
              <a:ext uri="{FF2B5EF4-FFF2-40B4-BE49-F238E27FC236}">
                <a16:creationId xmlns:a16="http://schemas.microsoft.com/office/drawing/2014/main" id="{87AD1061-17E8-466C-B723-EFB59BE3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86200"/>
            <a:ext cx="613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eaLnBrk="0" latinLnBrk="0">
              <a:buNone/>
              <a:defRPr sz="2400" b="1" lang="ko-KR">
                <a:solidFill>
                  <a:srgbClr val="77787A"/>
                </a:solidFill>
                <a:latin typeface="맑은 고딕"/>
                <a:ea typeface="맑은 고딕"/>
                <a:cs typeface="맑은 고딕"/>
              </a:defRPr>
            </a:pPr>
            <a:r>
              <a:rPr sz="2400" b="1" lang="ko-KR">
                <a:solidFill>
                  <a:srgbClr val="77787A"/>
                </a:solidFill>
                <a:latin typeface="맑은 고딕"/>
                <a:ea typeface="맑은 고딕"/>
                <a:cs typeface="맑은 고딕"/>
              </a:rPr>
              <a:t>RE:ACTION</a:t>
            </a:r>
          </a:p>
        </p:txBody>
      </p:sp>
      <p:sp>
        <p:nvSpPr>
          <p:cNvPr id="36" name="직사각형 35">
            <a:extLst xmlns:a="http://schemas.openxmlformats.org/drawingml/2006/main">
              <a:ext uri="{FF2B5EF4-FFF2-40B4-BE49-F238E27FC236}">
                <a16:creationId xmlns:a16="http://schemas.microsoft.com/office/drawing/2014/main" id="{20D12458-C72B-4807-9B2D-D568ACD8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19650"/>
            <a:ext cx="55816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eaLnBrk="0" latinLnBrk="0">
              <a:buNone/>
              <a:defRPr sz="1950" b="0" lang="ko-KR">
                <a:solidFill>
                  <a:srgbClr val="424649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0" lang="ko-KR">
                <a:solidFill>
                  <a:srgbClr val="424649"/>
                </a:solidFill>
                <a:latin typeface="맑은 고딕"/>
                <a:ea typeface="맑은 고딕"/>
                <a:cs typeface="맑은 고딕"/>
              </a:rPr>
              <a:t>계획, 실행, 회복과 재계획</a:t>
            </a:r>
          </a:p>
        </p:txBody>
      </p:sp>
      <p:sp>
        <p:nvSpPr>
          <p:cNvPr id="37" name="직사각형 36">
            <a:extLst xmlns:a="http://schemas.openxmlformats.org/drawingml/2006/main">
              <a:ext uri="{FF2B5EF4-FFF2-40B4-BE49-F238E27FC236}">
                <a16:creationId xmlns:a16="http://schemas.microsoft.com/office/drawing/2014/main" id="{03F00555-8D46-42A9-8560-52F269D8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353050"/>
            <a:ext cx="233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eaLnBrk="0" latinLnBrk="0">
              <a:buNone/>
              <a:defRPr sz="1725" b="0" lang="ko-KR">
                <a:solidFill>
                  <a:srgbClr val="424649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lang="ko-KR">
                <a:solidFill>
                  <a:srgbClr val="424649"/>
                </a:solidFill>
                <a:latin typeface="맑은 고딕"/>
                <a:ea typeface="맑은 고딕"/>
                <a:cs typeface="맑은 고딕"/>
              </a:rPr>
              <a:t>2026. 09. 06</a:t>
            </a:r>
          </a:p>
        </p:txBody>
      </p:sp>
    </p:spTree>
    <p:extLst>
      <p:ext uri="{BB962C8B-B14F-4D97-AF65-F5344CB8AC3E}">
        <p14:creationId xmlns:p14="http://schemas.microsoft.com/office/powerpoint/2010/main" val="3389256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서비스 개요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20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f426b705f41b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24D1E2BC-51CC-4B56-AAAC-9076DC19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계획부터 실패 후 다시 실행하기까지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0D0C55DC-EBD7-4090-A629-E22B7E13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/ 제작설계서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FCDE6A9A-9722-4FBE-B95F-D23E859C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11BF3DB2-83A1-458E-BB56-8C9DA0C8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47850"/>
            <a:ext cx="830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계획이 어긋났을 때 다시 실행할 방법을 찾는 네이티브 앱이다.</a:t>
            </a:r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4B8D6C30-ABD6-4BC0-A1F8-97B4862E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90800"/>
            <a:ext cx="2476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7000"/>
              </a:lnSpc>
              <a:buNone/>
              <a:defRPr sz="16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계획</a:t>
            </a:r>
          </a:p>
          <a:p xmlns:a="http://schemas.openxmlformats.org/drawingml/2006/main">
            <a:pPr algn="ctr" eaLnBrk="0" latinLnBrk="0">
              <a:lnSpc>
                <a:spcPct val="117000"/>
              </a:lnSpc>
              <a:buNone/>
              <a:defRPr sz="16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딥 인터뷰와 계획 생성</a:t>
            </a:r>
          </a:p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F53859F-5F3E-4F86-9839-6CB024D9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90800"/>
            <a:ext cx="2476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7000"/>
              </a:lnSpc>
              <a:buNone/>
              <a:defRPr sz="16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  <a:p xmlns:a="http://schemas.openxmlformats.org/drawingml/2006/main">
            <a:pPr algn="ctr" eaLnBrk="0" latinLnBrk="0">
              <a:lnSpc>
                <a:spcPct val="117000"/>
              </a:lnSpc>
              <a:buNone/>
              <a:defRPr sz="16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오늘 할 일과 집중</a:t>
            </a:r>
          </a:p>
        </p:txBody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601EBA7D-1D60-4017-B87E-16410434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90800"/>
            <a:ext cx="2476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9525">
            <a:solidFill>
              <a:srgbClr val="9E472F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7000"/>
              </a:lnSpc>
              <a:buNone/>
              <a:defRPr sz="1650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rPr>
              <a:t>실패 기록</a:t>
            </a:r>
          </a:p>
          <a:p xmlns:a="http://schemas.openxmlformats.org/drawingml/2006/main">
            <a:pPr algn="ctr" eaLnBrk="0" latinLnBrk="0">
              <a:lnSpc>
                <a:spcPct val="117000"/>
              </a:lnSpc>
              <a:buNone/>
              <a:defRPr sz="1650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rPr>
              <a:t>실행 결과와 원인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13133D48-85F5-433B-8EE1-37BD0BC2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43375"/>
            <a:ext cx="247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9525">
            <a:solidFill>
              <a:srgbClr val="9E472F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7000"/>
              </a:lnSpc>
              <a:buNone/>
              <a:defRPr sz="1650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rPr>
              <a:t>회복안 선택</a:t>
            </a:r>
          </a:p>
          <a:p xmlns:a="http://schemas.openxmlformats.org/drawingml/2006/main">
            <a:pPr algn="ctr" eaLnBrk="0" latinLnBrk="0">
              <a:lnSpc>
                <a:spcPct val="117000"/>
              </a:lnSpc>
              <a:buNone/>
              <a:defRPr sz="1650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rPr>
              <a:t>다시 할 분량과 방법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3A8F3FF3-5A49-46EE-A45F-349F6126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43375"/>
            <a:ext cx="247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9525">
            <a:solidFill>
              <a:srgbClr val="9E472F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7000"/>
              </a:lnSpc>
              <a:buNone/>
              <a:defRPr sz="1650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rPr>
              <a:t>리플랜</a:t>
            </a:r>
          </a:p>
          <a:p xmlns:a="http://schemas.openxmlformats.org/drawingml/2006/main">
            <a:pPr algn="ctr" eaLnBrk="0" latinLnBrk="0">
              <a:lnSpc>
                <a:spcPct val="117000"/>
              </a:lnSpc>
              <a:buNone/>
              <a:defRPr sz="1650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rPr>
              <a:t>변경 전후 확인과 승인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ECEC9005-2757-4CBD-A9F8-7AD4793D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43375"/>
            <a:ext cx="247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7000"/>
              </a:lnSpc>
              <a:buNone/>
              <a:defRPr sz="16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다시 실행</a:t>
            </a:r>
          </a:p>
          <a:p xmlns:a="http://schemas.openxmlformats.org/drawingml/2006/main">
            <a:pPr algn="ctr" eaLnBrk="0" latinLnBrk="0">
              <a:lnSpc>
                <a:spcPct val="117000"/>
              </a:lnSpc>
              <a:buNone/>
              <a:defRPr sz="16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바뀐 할 일 시작하기</a:t>
            </a:r>
          </a:p>
        </p:txBody>
      </p:sp>
      <p:cxnSp>
        <p:nvCxnSpPr>
          <p:cNvPr id="217" name=""/>
          <p:cNvCxnSpPr>
            <a:stCxn xmlns:a="http://schemas.openxmlformats.org/drawingml/2006/main" id="185" idx="3"/>
            <a:endCxn xmlns:a="http://schemas.openxmlformats.org/drawingml/2006/main" id="186" idx="1"/>
          </p:cNvCxnSpPr>
          <p:nvPr/>
        </p:nvCxnSpPr>
        <p:spPr>
          <a:xfrm xmlns:a="http://schemas.openxmlformats.org/drawingml/2006/main">
            <a:off x="2895600" y="2986088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B5AA8"/>
            </a:solidFill>
            <a:tailEnd type="triangle" w="med" len="med"/>
          </a:ln>
        </p:spPr>
      </p:cxnSp>
      <p:cxnSp>
        <p:nvCxnSpPr>
          <p:cNvPr id="218" name=""/>
          <p:cNvCxnSpPr>
            <a:stCxn xmlns:a="http://schemas.openxmlformats.org/drawingml/2006/main" id="186" idx="3"/>
            <a:endCxn xmlns:a="http://schemas.openxmlformats.org/drawingml/2006/main" id="187" idx="1"/>
          </p:cNvCxnSpPr>
          <p:nvPr/>
        </p:nvCxnSpPr>
        <p:spPr>
          <a:xfrm xmlns:a="http://schemas.openxmlformats.org/drawingml/2006/main">
            <a:off x="5810250" y="2986088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B5AA8"/>
            </a:solidFill>
            <a:tailEnd type="triangle" w="med" len="med"/>
          </a:ln>
        </p:spPr>
      </p:cxnSp>
      <p:cxnSp>
        <p:nvCxnSpPr>
          <p:cNvPr id="219" name=""/>
          <p:cNvCxnSpPr>
            <a:stCxn xmlns:a="http://schemas.openxmlformats.org/drawingml/2006/main" id="187" idx="2"/>
            <a:endCxn xmlns:a="http://schemas.openxmlformats.org/drawingml/2006/main" id="188" idx="0"/>
          </p:cNvCxnSpPr>
          <p:nvPr/>
        </p:nvCxnSpPr>
        <p:spPr>
          <a:xfrm xmlns:a="http://schemas.openxmlformats.org/drawingml/2006/main">
            <a:off x="7486650" y="3381375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B5AA8"/>
            </a:solidFill>
            <a:tailEnd type="triangle" w="med" len="med"/>
          </a:ln>
        </p:spPr>
      </p:cxnSp>
      <p:cxnSp>
        <p:nvCxnSpPr>
          <p:cNvPr id="220" name=""/>
          <p:cNvCxnSpPr>
            <a:stCxn xmlns:a="http://schemas.openxmlformats.org/drawingml/2006/main" id="188" idx="1"/>
            <a:endCxn xmlns:a="http://schemas.openxmlformats.org/drawingml/2006/main" id="189" idx="3"/>
          </p:cNvCxnSpPr>
          <p:nvPr/>
        </p:nvCxnSpPr>
        <p:spPr>
          <a:xfrm xmlns:a="http://schemas.openxmlformats.org/drawingml/2006/main" flipH="1">
            <a:off x="5810250" y="45624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B5AA8"/>
            </a:solidFill>
            <a:tailEnd type="triangle" w="med" len="med"/>
          </a:ln>
        </p:spPr>
      </p:cxnSp>
      <p:cxnSp>
        <p:nvCxnSpPr>
          <p:cNvPr id="221" name=""/>
          <p:cNvCxnSpPr>
            <a:stCxn xmlns:a="http://schemas.openxmlformats.org/drawingml/2006/main" id="189" idx="1"/>
            <a:endCxn xmlns:a="http://schemas.openxmlformats.org/drawingml/2006/main" id="190" idx="3"/>
          </p:cNvCxnSpPr>
          <p:nvPr/>
        </p:nvCxnSpPr>
        <p:spPr>
          <a:xfrm xmlns:a="http://schemas.openxmlformats.org/drawingml/2006/main" flipH="1">
            <a:off x="2895600" y="45624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B5AA8"/>
            </a:solidFill>
            <a:tailEnd type="triangle" w="med" len="med"/>
          </a:ln>
        </p:spPr>
      </p:cxnSp>
      <p:cxnSp>
        <p:nvCxnSpPr>
          <p:cNvPr id="222" name=""/>
          <p:cNvCxnSpPr>
            <a:stCxn xmlns:a="http://schemas.openxmlformats.org/drawingml/2006/main" id="190" idx="0"/>
            <a:endCxn xmlns:a="http://schemas.openxmlformats.org/drawingml/2006/main" id="186" idx="2"/>
          </p:cNvCxnSpPr>
          <p:nvPr/>
        </p:nvCxnSpPr>
        <p:spPr>
          <a:xfrm xmlns:a="http://schemas.openxmlformats.org/drawingml/2006/main" flipV="1">
            <a:off x="1657350" y="3381375"/>
            <a:ext cx="2914650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3335">
            <a:solidFill>
              <a:srgbClr val="3B5AA8"/>
            </a:solidFill>
            <a:tailEnd type="triangle" w="med" len="med"/>
          </a:ln>
        </p:spPr>
      </p:cxn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6543ECA6-63A6-4CF7-BC41-C5852E15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76625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275" b="0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다음 실행으로 반복</a:t>
            </a:r>
          </a:p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091E735D-D929-458E-BB44-4942BDCE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1497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7000"/>
              </a:lnSpc>
              <a:buNone/>
              <a:defRPr sz="16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주간 리뷰</a:t>
            </a:r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86115A18-462D-48AA-B326-0376715F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67350"/>
            <a:ext cx="5391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한 주의 실행과 회복 기록을 보고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다음 계획의 분량과 시간을 조정한다.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51B6D1E6-2E48-40CF-A1CB-55D6881C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81725"/>
            <a:ext cx="830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27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보조 기능: 인박스, 궁극적 목표와 만다라트, 설정.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메뉴 구성도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33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31cb7541f4410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D86192D7-02EE-4793-9464-85B92A03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주요 메뉴와 핵심 화면의 위치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7B520D46-E900-4769-843B-CCCC028B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/ 제작설계서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031900F6-1EA1-4A72-9EDA-89EFF5A7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E7782FE-B288-45C7-94BD-0BFD15EB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81175"/>
            <a:ext cx="1981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8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8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RE:ACTION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B93F882-4177-4706-8E43-CA5EEF7A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238" y="2233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2BBB24C-1B86-40EE-B26A-3CF39293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238" y="24717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3" name=""/>
          <p:cNvCxnSpPr>
            <a:stCxn xmlns:a="http://schemas.openxmlformats.org/drawingml/2006/main" id="123" idx="2"/>
            <a:endCxn xmlns:a="http://schemas.openxmlformats.org/drawingml/2006/main" id="124" idx="0"/>
          </p:cNvCxnSpPr>
          <p:nvPr/>
        </p:nvCxnSpPr>
        <p:spPr>
          <a:xfrm xmlns:a="http://schemas.openxmlformats.org/drawingml/2006/main">
            <a:off x="4572001" y="2243138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3F538CF-8F38-4F48-907F-5DC633ED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24717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104C312-EDA1-4B46-8A59-E644BCDF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888" y="24717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6" name=""/>
          <p:cNvCxnSpPr>
            <a:stCxn xmlns:a="http://schemas.openxmlformats.org/drawingml/2006/main" id="126" idx="3"/>
            <a:endCxn xmlns:a="http://schemas.openxmlformats.org/drawingml/2006/main" id="127" idx="1"/>
          </p:cNvCxnSpPr>
          <p:nvPr/>
        </p:nvCxnSpPr>
        <p:spPr>
          <a:xfrm xmlns:a="http://schemas.openxmlformats.org/drawingml/2006/main">
            <a:off x="1662113" y="2476501"/>
            <a:ext cx="581977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10C529B-612E-48CC-A0CB-60842240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24717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25007E0-984A-4323-9236-8D94D871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27193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9" name=""/>
          <p:cNvCxnSpPr>
            <a:stCxn xmlns:a="http://schemas.openxmlformats.org/drawingml/2006/main" id="129" idx="2"/>
            <a:endCxn xmlns:a="http://schemas.openxmlformats.org/drawingml/2006/main" id="130" idx="0"/>
          </p:cNvCxnSpPr>
          <p:nvPr/>
        </p:nvCxnSpPr>
        <p:spPr>
          <a:xfrm xmlns:a="http://schemas.openxmlformats.org/drawingml/2006/main">
            <a:off x="1657351" y="2481263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07001F2-1A2E-49AE-8034-09AB10C2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241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72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오늘 실행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6907F02-06DD-466C-96B4-7E1EB8AB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238" y="24717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5605F09-D2C8-420F-A8BB-1EE69453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238" y="27193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3" name=""/>
          <p:cNvCxnSpPr>
            <a:stCxn xmlns:a="http://schemas.openxmlformats.org/drawingml/2006/main" id="133" idx="2"/>
            <a:endCxn xmlns:a="http://schemas.openxmlformats.org/drawingml/2006/main" id="134" idx="0"/>
          </p:cNvCxnSpPr>
          <p:nvPr/>
        </p:nvCxnSpPr>
        <p:spPr>
          <a:xfrm xmlns:a="http://schemas.openxmlformats.org/drawingml/2006/main">
            <a:off x="4572001" y="2481263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98F286C-0D02-4976-B19D-1D13F017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241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72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주간 계획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F24C4B8-929F-430D-976A-833C7690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888" y="24717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EA2493B-0C40-459E-9535-07D8977B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888" y="27193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7" name=""/>
          <p:cNvCxnSpPr>
            <a:stCxn xmlns:a="http://schemas.openxmlformats.org/drawingml/2006/main" id="137" idx="2"/>
            <a:endCxn xmlns:a="http://schemas.openxmlformats.org/drawingml/2006/main" id="138" idx="0"/>
          </p:cNvCxnSpPr>
          <p:nvPr/>
        </p:nvCxnSpPr>
        <p:spPr>
          <a:xfrm xmlns:a="http://schemas.openxmlformats.org/drawingml/2006/main">
            <a:off x="7486651" y="2481263"/>
            <a:ext cx="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59CC7D51-0920-4485-A345-E9156901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2415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72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인박스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BE445C04-7688-4C8B-879A-854A649C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32146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F49A99A-5D0F-4179-AF33-747AC7A0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1" name=""/>
          <p:cNvCxnSpPr>
            <a:stCxn xmlns:a="http://schemas.openxmlformats.org/drawingml/2006/main" id="141" idx="2"/>
            <a:endCxn xmlns:a="http://schemas.openxmlformats.org/drawingml/2006/main" id="142" idx="0"/>
          </p:cNvCxnSpPr>
          <p:nvPr/>
        </p:nvCxnSpPr>
        <p:spPr>
          <a:xfrm xmlns:a="http://schemas.openxmlformats.org/drawingml/2006/main">
            <a:off x="1657351" y="3224213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715FBE5-C064-4033-977B-C77B1801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C09EF3D-850C-4C5C-8780-21842E04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58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4" name=""/>
          <p:cNvCxnSpPr>
            <a:stCxn xmlns:a="http://schemas.openxmlformats.org/drawingml/2006/main" id="144" idx="3"/>
            <a:endCxn xmlns:a="http://schemas.openxmlformats.org/drawingml/2006/main" id="145" idx="1"/>
          </p:cNvCxnSpPr>
          <p:nvPr/>
        </p:nvCxnSpPr>
        <p:spPr>
          <a:xfrm xmlns:a="http://schemas.openxmlformats.org/drawingml/2006/main">
            <a:off x="538163" y="3381376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70D4D9DA-5FC7-4008-8AE2-ABEEE827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DA08EB8-6D66-4456-A99C-6575E04A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8" y="5376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7" name=""/>
          <p:cNvCxnSpPr>
            <a:stCxn xmlns:a="http://schemas.openxmlformats.org/drawingml/2006/main" id="147" idx="2"/>
            <a:endCxn xmlns:a="http://schemas.openxmlformats.org/drawingml/2006/main" id="148" idx="0"/>
          </p:cNvCxnSpPr>
          <p:nvPr/>
        </p:nvCxnSpPr>
        <p:spPr>
          <a:xfrm xmlns:a="http://schemas.openxmlformats.org/drawingml/2006/main">
            <a:off x="533401" y="3386138"/>
            <a:ext cx="0" cy="199072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A4B0C120-1825-4794-96BE-50AF8169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8" y="38052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60AC3D1-5FE3-4104-BF6D-33FEA41D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8" y="38052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0" name=""/>
          <p:cNvCxnSpPr>
            <a:stCxn xmlns:a="http://schemas.openxmlformats.org/drawingml/2006/main" id="150" idx="3"/>
            <a:endCxn xmlns:a="http://schemas.openxmlformats.org/drawingml/2006/main" id="151" idx="1"/>
          </p:cNvCxnSpPr>
          <p:nvPr/>
        </p:nvCxnSpPr>
        <p:spPr>
          <a:xfrm xmlns:a="http://schemas.openxmlformats.org/drawingml/2006/main">
            <a:off x="538163" y="3810001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0ED60789-E569-4178-B133-0F747108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9975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집중과 결과 기록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53DE7B18-1401-44FE-ACB1-AE7347F9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8" y="43291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A4AE6A52-A294-4231-BA86-14EED507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8" y="43291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4" name=""/>
          <p:cNvCxnSpPr>
            <a:stCxn xmlns:a="http://schemas.openxmlformats.org/drawingml/2006/main" id="154" idx="3"/>
            <a:endCxn xmlns:a="http://schemas.openxmlformats.org/drawingml/2006/main" id="155" idx="1"/>
          </p:cNvCxnSpPr>
          <p:nvPr/>
        </p:nvCxnSpPr>
        <p:spPr>
          <a:xfrm xmlns:a="http://schemas.openxmlformats.org/drawingml/2006/main">
            <a:off x="538163" y="4333876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E030BFBE-9A03-4411-A92F-0AA742AC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9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425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 lang="ko-KR">
                <a:solidFill>
                  <a:srgbClr val="9E472F"/>
                </a:solidFill>
                <a:latin typeface="맑은 고딕"/>
                <a:ea typeface="맑은 고딕"/>
                <a:cs typeface="맑은 고딕"/>
              </a:rPr>
              <a:t>회복안 선택과 리플랜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418F6F3D-6257-4C24-9BC3-3DC0A5AA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8" y="48529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0B50E604-DA99-4FD6-9701-798DCA14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8" y="48529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8" name=""/>
          <p:cNvCxnSpPr>
            <a:stCxn xmlns:a="http://schemas.openxmlformats.org/drawingml/2006/main" id="158" idx="3"/>
            <a:endCxn xmlns:a="http://schemas.openxmlformats.org/drawingml/2006/main" id="159" idx="1"/>
          </p:cNvCxnSpPr>
          <p:nvPr/>
        </p:nvCxnSpPr>
        <p:spPr>
          <a:xfrm xmlns:a="http://schemas.openxmlformats.org/drawingml/2006/main">
            <a:off x="538163" y="4857751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8909D9B4-93C8-4C66-A4E7-057F1756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저녁 체크인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65E758C5-0825-495A-A298-2CF5DBFF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8" y="5376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5A1CCB10-B1BA-4ED0-8A97-07F5FC09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8" y="5376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2" name=""/>
          <p:cNvCxnSpPr>
            <a:stCxn xmlns:a="http://schemas.openxmlformats.org/drawingml/2006/main" id="162" idx="3"/>
            <a:endCxn xmlns:a="http://schemas.openxmlformats.org/drawingml/2006/main" id="163" idx="1"/>
          </p:cNvCxnSpPr>
          <p:nvPr/>
        </p:nvCxnSpPr>
        <p:spPr>
          <a:xfrm xmlns:a="http://schemas.openxmlformats.org/drawingml/2006/main">
            <a:off x="538163" y="5381626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0BC54FB-E433-4495-8894-439532EF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더보기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56D7E93F-B5E5-4799-8DC6-A8346E70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238" y="32146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01DAF988-6284-41D1-BB7A-4B231D7A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23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6" name=""/>
          <p:cNvCxnSpPr>
            <a:stCxn xmlns:a="http://schemas.openxmlformats.org/drawingml/2006/main" id="166" idx="2"/>
            <a:endCxn xmlns:a="http://schemas.openxmlformats.org/drawingml/2006/main" id="167" idx="0"/>
          </p:cNvCxnSpPr>
          <p:nvPr/>
        </p:nvCxnSpPr>
        <p:spPr>
          <a:xfrm xmlns:a="http://schemas.openxmlformats.org/drawingml/2006/main">
            <a:off x="4572001" y="3224213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3DBFCB83-AC7D-49E4-A0BC-E22E2199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7AE531A9-B760-40E6-BE6E-39CE3512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23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9" name=""/>
          <p:cNvCxnSpPr>
            <a:stCxn xmlns:a="http://schemas.openxmlformats.org/drawingml/2006/main" id="169" idx="3"/>
            <a:endCxn xmlns:a="http://schemas.openxmlformats.org/drawingml/2006/main" id="170" idx="1"/>
          </p:cNvCxnSpPr>
          <p:nvPr/>
        </p:nvCxnSpPr>
        <p:spPr>
          <a:xfrm xmlns:a="http://schemas.openxmlformats.org/drawingml/2006/main">
            <a:off x="3452813" y="3381376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4D525DBC-4191-4A02-BB2D-C8132D06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62E9F525-53E3-4DDF-81C0-293F3B20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43291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2" name=""/>
          <p:cNvCxnSpPr>
            <a:stCxn xmlns:a="http://schemas.openxmlformats.org/drawingml/2006/main" id="172" idx="2"/>
            <a:endCxn xmlns:a="http://schemas.openxmlformats.org/drawingml/2006/main" id="173" idx="0"/>
          </p:cNvCxnSpPr>
          <p:nvPr/>
        </p:nvCxnSpPr>
        <p:spPr>
          <a:xfrm xmlns:a="http://schemas.openxmlformats.org/drawingml/2006/main">
            <a:off x="3448051" y="3386138"/>
            <a:ext cx="0" cy="94297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C9F98595-289E-4BBE-854C-7C06C6F9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38052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86C9E469-8E48-4A17-8944-77920218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38052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5" name=""/>
          <p:cNvCxnSpPr>
            <a:stCxn xmlns:a="http://schemas.openxmlformats.org/drawingml/2006/main" id="175" idx="3"/>
            <a:endCxn xmlns:a="http://schemas.openxmlformats.org/drawingml/2006/main" id="176" idx="1"/>
          </p:cNvCxnSpPr>
          <p:nvPr/>
        </p:nvCxnSpPr>
        <p:spPr>
          <a:xfrm xmlns:a="http://schemas.openxmlformats.org/drawingml/2006/main">
            <a:off x="3452813" y="3810001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BB0093D9-C000-4F38-B1E8-EA96A9E4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09975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주간 달력과 일정 수정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B19FEDF1-75B6-4EB5-9917-BE029215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43291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F97142D8-8606-4185-A988-1295A258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43291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9" name=""/>
          <p:cNvCxnSpPr>
            <a:stCxn xmlns:a="http://schemas.openxmlformats.org/drawingml/2006/main" id="179" idx="3"/>
            <a:endCxn xmlns:a="http://schemas.openxmlformats.org/drawingml/2006/main" id="180" idx="1"/>
          </p:cNvCxnSpPr>
          <p:nvPr/>
        </p:nvCxnSpPr>
        <p:spPr>
          <a:xfrm xmlns:a="http://schemas.openxmlformats.org/drawingml/2006/main">
            <a:off x="3452813" y="4333876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3D9B100-680E-49F6-9DC4-71758E6B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33850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주간 리뷰와 습관 조정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F36A2544-8891-4EA7-9951-7841CE1E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888" y="32146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C3F63552-9226-441D-84EE-33C23912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88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3" name=""/>
          <p:cNvCxnSpPr>
            <a:stCxn xmlns:a="http://schemas.openxmlformats.org/drawingml/2006/main" id="183" idx="2"/>
            <a:endCxn xmlns:a="http://schemas.openxmlformats.org/drawingml/2006/main" id="184" idx="0"/>
          </p:cNvCxnSpPr>
          <p:nvPr/>
        </p:nvCxnSpPr>
        <p:spPr>
          <a:xfrm xmlns:a="http://schemas.openxmlformats.org/drawingml/2006/main">
            <a:off x="7486651" y="3224213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A26545AC-F05E-478B-AB26-7819CE4C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F6820826-E7B9-40ED-84E3-5CE6F0DC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88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6" name=""/>
          <p:cNvCxnSpPr>
            <a:stCxn xmlns:a="http://schemas.openxmlformats.org/drawingml/2006/main" id="186" idx="3"/>
            <a:endCxn xmlns:a="http://schemas.openxmlformats.org/drawingml/2006/main" id="187" idx="1"/>
          </p:cNvCxnSpPr>
          <p:nvPr/>
        </p:nvCxnSpPr>
        <p:spPr>
          <a:xfrm xmlns:a="http://schemas.openxmlformats.org/drawingml/2006/main">
            <a:off x="6367463" y="3381376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B434660A-C7E9-492D-A5F8-CA6F68DB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3376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989A4DE6-A8DE-421F-B0D4-70FC18FD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43291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9" name=""/>
          <p:cNvCxnSpPr>
            <a:stCxn xmlns:a="http://schemas.openxmlformats.org/drawingml/2006/main" id="189" idx="2"/>
            <a:endCxn xmlns:a="http://schemas.openxmlformats.org/drawingml/2006/main" id="190" idx="0"/>
          </p:cNvCxnSpPr>
          <p:nvPr/>
        </p:nvCxnSpPr>
        <p:spPr>
          <a:xfrm xmlns:a="http://schemas.openxmlformats.org/drawingml/2006/main">
            <a:off x="6362701" y="3386138"/>
            <a:ext cx="0" cy="94297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514F9CFC-9C3C-4F5E-AC01-205F6D00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38052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9D2590DA-6235-4FBB-9DCB-E0214CAA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38052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2" name=""/>
          <p:cNvCxnSpPr>
            <a:stCxn xmlns:a="http://schemas.openxmlformats.org/drawingml/2006/main" id="192" idx="3"/>
            <a:endCxn xmlns:a="http://schemas.openxmlformats.org/drawingml/2006/main" id="193" idx="1"/>
          </p:cNvCxnSpPr>
          <p:nvPr/>
        </p:nvCxnSpPr>
        <p:spPr>
          <a:xfrm xmlns:a="http://schemas.openxmlformats.org/drawingml/2006/main">
            <a:off x="6367463" y="3810001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908E59C0-6925-411A-B555-C11485A3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09975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42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기록과 자료 상세</a:t>
            </a:r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3B4702BE-890E-413E-9294-0167A0B3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43291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B23C978D-D828-4135-A9B8-AB973D94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43291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6" name=""/>
          <p:cNvCxnSpPr>
            <a:stCxn xmlns:a="http://schemas.openxmlformats.org/drawingml/2006/main" id="196" idx="3"/>
            <a:endCxn xmlns:a="http://schemas.openxmlformats.org/drawingml/2006/main" id="197" idx="1"/>
          </p:cNvCxnSpPr>
          <p:nvPr/>
        </p:nvCxnSpPr>
        <p:spPr>
          <a:xfrm xmlns:a="http://schemas.openxmlformats.org/drawingml/2006/main">
            <a:off x="6367463" y="4333876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10A2B345-6305-446C-9405-F10FA559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33850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42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목표와 할 일 전환</a:t>
            </a:r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CC15D4F8-232A-4EE6-943E-E982ACD0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838" y="5376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7338A9B3-98F6-4C05-B262-3D27B91D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5376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0" name=""/>
          <p:cNvCxnSpPr>
            <a:stCxn xmlns:a="http://schemas.openxmlformats.org/drawingml/2006/main" id="200" idx="3"/>
            <a:endCxn xmlns:a="http://schemas.openxmlformats.org/drawingml/2006/main" id="201" idx="1"/>
          </p:cNvCxnSpPr>
          <p:nvPr/>
        </p:nvCxnSpPr>
        <p:spPr>
          <a:xfrm xmlns:a="http://schemas.openxmlformats.org/drawingml/2006/main">
            <a:off x="2900363" y="5381626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98F20C1A-1080-4C39-AF7E-1F2E105D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5376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D0A8DF23-C261-470F-ACE4-91782E22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59293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3" name=""/>
          <p:cNvCxnSpPr>
            <a:stCxn xmlns:a="http://schemas.openxmlformats.org/drawingml/2006/main" id="203" idx="2"/>
            <a:endCxn xmlns:a="http://schemas.openxmlformats.org/drawingml/2006/main" id="204" idx="0"/>
          </p:cNvCxnSpPr>
          <p:nvPr/>
        </p:nvCxnSpPr>
        <p:spPr>
          <a:xfrm xmlns:a="http://schemas.openxmlformats.org/drawingml/2006/main">
            <a:off x="3171826" y="5386388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3A07FE5F-2AD3-47A9-B1CC-3D3565E2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5376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E93628AB-F2CB-4392-9B88-3859E145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376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6" name=""/>
          <p:cNvCxnSpPr>
            <a:stCxn xmlns:a="http://schemas.openxmlformats.org/drawingml/2006/main" id="206" idx="3"/>
            <a:endCxn xmlns:a="http://schemas.openxmlformats.org/drawingml/2006/main" id="207" idx="1"/>
          </p:cNvCxnSpPr>
          <p:nvPr/>
        </p:nvCxnSpPr>
        <p:spPr>
          <a:xfrm xmlns:a="http://schemas.openxmlformats.org/drawingml/2006/main">
            <a:off x="3176588" y="5381626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7B9ED193-58C7-482B-916F-EE7491E5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59293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9ABE8D2D-E463-458C-B95F-B057DA3A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9293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9" name=""/>
          <p:cNvCxnSpPr>
            <a:stCxn xmlns:a="http://schemas.openxmlformats.org/drawingml/2006/main" id="209" idx="3"/>
            <a:endCxn xmlns:a="http://schemas.openxmlformats.org/drawingml/2006/main" id="210" idx="1"/>
          </p:cNvCxnSpPr>
          <p:nvPr/>
        </p:nvCxnSpPr>
        <p:spPr>
          <a:xfrm xmlns:a="http://schemas.openxmlformats.org/drawingml/2006/main">
            <a:off x="3176588" y="5934076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62B62EBF-945D-4268-9A14-8ADC0EDB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8160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50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목표 관리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5C8E0935-ACCE-4459-9701-6A578B95A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73405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5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설정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449AB5A0-A76E-4A4A-B7E4-02F1D475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376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EB6F980B-42E8-4A59-94ED-8678548B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613" y="537686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4" name=""/>
          <p:cNvCxnSpPr>
            <a:stCxn xmlns:a="http://schemas.openxmlformats.org/drawingml/2006/main" id="214" idx="3"/>
            <a:endCxn xmlns:a="http://schemas.openxmlformats.org/drawingml/2006/main" id="215" idx="1"/>
          </p:cNvCxnSpPr>
          <p:nvPr/>
        </p:nvCxnSpPr>
        <p:spPr>
          <a:xfrm xmlns:a="http://schemas.openxmlformats.org/drawingml/2006/main">
            <a:off x="5319713" y="5381626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008D5A9C-021D-49C5-BD5E-E47F56B2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59293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9AFC54AA-3EDC-4235-9872-9897F0FA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613" y="59293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7" name=""/>
          <p:cNvCxnSpPr>
            <a:stCxn xmlns:a="http://schemas.openxmlformats.org/drawingml/2006/main" id="217" idx="3"/>
            <a:endCxn xmlns:a="http://schemas.openxmlformats.org/drawingml/2006/main" id="218" idx="1"/>
          </p:cNvCxnSpPr>
          <p:nvPr/>
        </p:nvCxnSpPr>
        <p:spPr>
          <a:xfrm xmlns:a="http://schemas.openxmlformats.org/drawingml/2006/main">
            <a:off x="5319713" y="5934076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3B5AA8"/>
            </a:solidFill>
          </a:ln>
        </p:spPr>
      </p:cxn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FB29CD11-5180-4055-9553-0B7753A7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095875"/>
            <a:ext cx="3057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42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재인터뷰, 궁극적 목표와 만다라트</a:t>
            </a:r>
          </a:p>
        </p:txBody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6C9C8BE-B136-4AED-B3FC-69B73BAA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734050"/>
            <a:ext cx="3057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42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내 정보, 동의와 알림 설정</a:t>
            </a:r>
          </a:p>
        </p:txBody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056F4BFD-29CC-48D4-A143-749F40AC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10300"/>
            <a:ext cx="8305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1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11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앱 하단에는 오늘 실행, 주간 계획, 인박스가 있다. 목표 관리와 설정은 오늘 상단 더보기에서 연다.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2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f92ff506d049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D9897B39-756D-4067-87CA-EDF14F99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딥 인터뷰와 목표 분류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4228C868-2B8E-4C65-B708-29284981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/ 제작설계서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B8FB3295-BE1D-40BE-8873-E95B3058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pic>
        <p:nvPicPr>
          <p:cNvPr id="130" name="그림 1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4f64f31e84937"/>
          <a:stretch xmlns:a="http://schemas.openxmlformats.org/drawingml/2006/main"/>
        </p:blipFill>
        <p:spPr>
          <a:xfrm xmlns:a="http://schemas.openxmlformats.org/drawingml/2006/main">
            <a:off x="445734" y="1819275"/>
            <a:ext cx="2042232" cy="4419600"/>
          </a:xfrm>
          <a:prstGeom xmlns:a="http://schemas.openxmlformats.org/drawingml/2006/main" prst="rect">
            <a:avLst/>
          </a:prstGeom>
        </p:spPr>
      </p:pic>
      <p:pic>
        <p:nvPicPr>
          <p:cNvPr id="131" name="그림 1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a5ea5566354970"/>
          <a:stretch xmlns:a="http://schemas.openxmlformats.org/drawingml/2006/main"/>
        </p:blipFill>
        <p:spPr>
          <a:xfrm xmlns:a="http://schemas.openxmlformats.org/drawingml/2006/main">
            <a:off x="2674584" y="1819275"/>
            <a:ext cx="2042232" cy="4419600"/>
          </a:xfrm>
          <a:prstGeom xmlns:a="http://schemas.openxmlformats.org/drawingml/2006/main" prst="rect">
            <a:avLst/>
          </a:prstGeom>
        </p:spPr>
      </p:pic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DCBFC98-0F1E-478E-9DFF-63E52E3DE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526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① 목표와 실행 조건에 답하기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AAE924F-5ABF-4819-BF36-C01E0B45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71725"/>
            <a:ext cx="3714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목표와 기한, 가능한 시간을 대화로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입력한다. 답변에 필요한 조건이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빠져 있으면 추가 질문이 이어진다.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92B499D-FDFA-4B2E-815F-F95EFEAC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62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② 이번 주에 집중할 목표 고르기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D7EE3A7-25D5-419F-A4C5-15285B26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381500"/>
            <a:ext cx="37147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집중할 목표와 계속 유지할 목표를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구분한다. 당장 진행하지 않을 목표는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보류로 옮겨 일정에서 제외한다.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분류 결과는 직접 바꿀 수 있다.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762D992-F2D9-4B10-849C-2228CA2E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960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목표 인터뷰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4B79035-9A1A-43BC-9806-694D5DF4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2960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집중, 유지, 보류 분류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BF47181-2EEA-43AD-8798-B29FE450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2960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실제 UI, 시연용 예시 데이터.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1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77bfae2b3745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CFFE5139-0005-4B54-9D32-A7942BD5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AI 주간 계획 생성과 승인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8E7AF5B6-BBB1-44CA-AB6D-ECF9DDCA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/ 제작설계서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D6FBA6AC-12E2-46A7-A820-A34FEB71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pic>
        <p:nvPicPr>
          <p:cNvPr id="119" name="그림 1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48bcc0bb0470e"/>
          <a:stretch xmlns:a="http://schemas.openxmlformats.org/drawingml/2006/main"/>
        </p:blipFill>
        <p:spPr>
          <a:xfrm xmlns:a="http://schemas.openxmlformats.org/drawingml/2006/main">
            <a:off x="594455" y="1800225"/>
            <a:ext cx="2068640" cy="4476750"/>
          </a:xfrm>
          <a:prstGeom xmlns:a="http://schemas.openxmlformats.org/drawingml/2006/main" prst="rect">
            <a:avLst/>
          </a:prstGeom>
        </p:spPr>
      </p:pic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002618A-D656-4F53-BE3E-EAF29C44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885950"/>
            <a:ext cx="540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① 계획에 쓸 시간과 자료 확인하기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DF81ED0-C600-43BD-955C-61BF6D60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305050"/>
            <a:ext cx="54006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고정 일정과 가능한 시간을 정하고, 목표를 진행할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단계와 참고 자료를 확인한다. 자료가 없으면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건너뛰고 주간 초안을 만들 수 있다.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E88D576-8E14-4234-8ACC-B6503358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457575"/>
            <a:ext cx="540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② 시간표에서 할 일과 분량 고치기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BDE08F4-8905-4D35-90B3-38D4E966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876675"/>
            <a:ext cx="54006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제안된 할 일을 주간 시간표에서 확인한다.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블록을 누르면 내용을 고치고, 끌면 15분 단위로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시간을 옮긴다. 필요한 할 일은 직접 추가한다.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86E45DD-7172-4848-BAEE-F1EA77C5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181600"/>
            <a:ext cx="540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③ 계획 승인하고 실행하기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73E26FF-03F1-43B0-A2B3-F1AC00CB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600700"/>
            <a:ext cx="54006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한 주에 할 분량을 확인하고 ‘이대로 시작’을 누른다.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승인한 계획의 첫 작업을 오늘 실행에서 시작한다.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67F0D23-6B7F-4597-813A-46C8119F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960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AI 주간 계획 초안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5B325B3-1B98-4E81-82C3-4B5A18B5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6296025"/>
            <a:ext cx="5400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실제 UI, 시연용 예시 데이터.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2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214e631d474d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DA7099BE-5337-4C25-B6DA-E30B4FB4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오늘 할 일 실행과 집중 기록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952162EC-1F53-4DD9-BA29-C7F9DAF3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/ 제작설계서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74D95D1B-EC2B-45F6-8954-9952619B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pic>
        <p:nvPicPr>
          <p:cNvPr id="130" name="그림 1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5db456638c49f9"/>
          <a:stretch xmlns:a="http://schemas.openxmlformats.org/drawingml/2006/main"/>
        </p:blipFill>
        <p:spPr>
          <a:xfrm xmlns:a="http://schemas.openxmlformats.org/drawingml/2006/main">
            <a:off x="445734" y="1819275"/>
            <a:ext cx="2042232" cy="4419600"/>
          </a:xfrm>
          <a:prstGeom xmlns:a="http://schemas.openxmlformats.org/drawingml/2006/main" prst="rect">
            <a:avLst/>
          </a:prstGeom>
        </p:spPr>
      </p:pic>
      <p:pic>
        <p:nvPicPr>
          <p:cNvPr id="131" name="그림 1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b1c349b9244c5"/>
          <a:stretch xmlns:a="http://schemas.openxmlformats.org/drawingml/2006/main"/>
        </p:blipFill>
        <p:spPr>
          <a:xfrm xmlns:a="http://schemas.openxmlformats.org/drawingml/2006/main">
            <a:off x="2674584" y="1819275"/>
            <a:ext cx="2042232" cy="4419600"/>
          </a:xfrm>
          <a:prstGeom xmlns:a="http://schemas.openxmlformats.org/drawingml/2006/main" prst="rect">
            <a:avLst/>
          </a:prstGeom>
        </p:spPr>
      </p:pic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642C710-E859-4936-8BC3-EAB4B4B2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526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① 지금 할 작업 고르기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A39E627-F435-4F1F-9167-C0493C6E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71725"/>
            <a:ext cx="3714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진행 중인 작업을 먼저 보여준다.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없으면 우선순위와 시작 시간을 보고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다음 할 일을 제시한다. 카드에서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작업 내용과 예상 시간을 확인한다.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A021FA8-582B-4FEF-A8B2-D8A7344F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195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② 집중한 뒤 결과 남기기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95048F5-63CB-445B-8EB5-2B27F40A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38650"/>
            <a:ext cx="3714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집중 시간을 재며 작업하고, 잠시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멈췄다가 이어 할 수 있다. 작업을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마칠 때 완료, 일부 완료, 실패를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구분한다. 못한 경우에는 원인을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남기는 화면으로 이어진다.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C79D916-5033-4130-A2C5-8A455154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960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오늘 할 일과 남은 일정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DE10836-80B3-45F4-B3FE-C3AE166D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2960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집중 시간과 실행 결과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C98EA4C-FD63-4C6C-9890-7164E2AB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2960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실제 UI, 시연용 예시 데이터.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54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c26d9d668473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36E26F35-ECAB-4F8B-A652-2326B365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실패 결과와 원인 기록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25FCFA80-C1F6-4CBF-871A-E0F11251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/ 제작설계서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34931A9D-B750-4556-A72F-2380470F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pic>
        <p:nvPicPr>
          <p:cNvPr id="1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28e09c4f8740a7"/>
          <a:stretch xmlns:a="http://schemas.openxmlformats.org/drawingml/2006/main"/>
        </p:blipFill>
        <p:spPr>
          <a:xfrm xmlns:a="http://schemas.openxmlformats.org/drawingml/2006/main">
            <a:off x="445734" y="1819275"/>
            <a:ext cx="2042232" cy="4419600"/>
          </a:xfrm>
          <a:prstGeom xmlns:a="http://schemas.openxmlformats.org/drawingml/2006/main" prst="rect">
            <a:avLst/>
          </a:prstGeom>
        </p:spPr>
      </p:pic>
      <p:pic>
        <p:nvPicPr>
          <p:cNvPr id="1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3abd6b0794404b"/>
          <a:stretch xmlns:a="http://schemas.openxmlformats.org/drawingml/2006/main"/>
        </p:blipFill>
        <p:spPr>
          <a:xfrm xmlns:a="http://schemas.openxmlformats.org/drawingml/2006/main">
            <a:off x="2674584" y="1819275"/>
            <a:ext cx="2042232" cy="4419600"/>
          </a:xfrm>
          <a:prstGeom xmlns:a="http://schemas.openxmlformats.org/drawingml/2006/main" prst="rect">
            <a:avLst/>
          </a:prstGeom>
        </p:spPr>
      </p:pic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B63FF9F-BFF9-46B4-9D92-D41A2573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526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① 작업을 멈춘 결과 선택하기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D868A36-1E73-436D-BCE1-B921A56E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71725"/>
            <a:ext cx="3714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‘일부만 했어요’ 또는 ‘잘 안됐어요’를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골라 작업 결과를 남긴다. 잠시 쉬는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경우는 ‘잠시 멈추고 나갈게요’를 골라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실패 기록과 구분한다.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7027A051-056F-4BF8-A342-A299F6B3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195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② 못한 이유 남기기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0CB6B1F7-EADE-4D14-84ED-A5739C43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38650"/>
            <a:ext cx="3714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시간 부족, 에너지 부족처럼 해당하는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원인을 1~2개 고른다. 부담 정도와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추가 설명도 남길 수 있다. 이 기록을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바탕으로 다음 화면에서 회복안을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제안한다.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BB52EE82-4D50-490E-829E-2AF6BC47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960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① 실패 발생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A5BAE8D3-13DB-4E29-A9CC-CFD2970E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2960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② 실패 원인 선택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060A133D-FD51-4133-936E-F093A3BE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2960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실제 UI, 시연용 예시 데이터.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2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a8b0803d642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DD4A559E-A123-4AC4-A17C-3F5E9966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회복안 비교와 선택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CE89B624-4193-42E5-BB5E-35D81B79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/ 제작설계서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9056B695-78B3-4BFA-BEA1-AE11EEE2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fae2704b0423b"/>
          <a:stretch xmlns:a="http://schemas.openxmlformats.org/drawingml/2006/main"/>
        </p:blipFill>
        <p:spPr>
          <a:xfrm xmlns:a="http://schemas.openxmlformats.org/drawingml/2006/main">
            <a:off x="607659" y="1819275"/>
            <a:ext cx="2042232" cy="4419600"/>
          </a:xfrm>
          <a:prstGeom xmlns:a="http://schemas.openxmlformats.org/drawingml/2006/main" prst="rect">
            <a:avLst/>
          </a:prstGeom>
        </p:spPr>
      </p:pic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ACB04AC-3017-46B5-96CA-EA6D4A34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885950"/>
            <a:ext cx="540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③ 지금 시도할 회복안 고르기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ECCC6FC-E2A5-4214-81BA-D1F0F2E2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305050"/>
            <a:ext cx="54006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분량을 줄일지, 시점을 옮길지, 이번 주에는 보류할지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비교한다. 제안은 기록한 실패 사유와 작업 내용에 따라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달라진다. 방법을 고른 뒤 ‘이 방법으로’를 누른다.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075056A-28F4-4E48-AE5B-D99F042E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686175"/>
            <a:ext cx="540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분량 줄이기, 내일 이어 하기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8B016BB-9F76-449B-8419-2D9A2B71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105275"/>
            <a:ext cx="54006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작업 범위를 줄이거나 다음 날에 이어 할 작업을 만든다.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선택한 뒤에는 바뀔 작업과 시간을 확인하는 화면으로 간다.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E4B8F19-089B-4E4D-8E5D-6C39C91B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191125"/>
            <a:ext cx="540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시간 변경, 보류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7C5E801-3C97-47A8-BFE9-572AF08E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610225"/>
            <a:ext cx="54006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시간 변경을 고르면 주간 계획에서 실행 시점을 직접 고친다.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보류는 이번 일정에 새 작업을 넣지 않고 선택만 남긴다.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43FA571-1EB3-4122-9B85-C2FA977C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960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③ 회복안 제안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FF6FF10-03D6-4A9E-80DF-B48C4945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6296025"/>
            <a:ext cx="5400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실제 UI, 시연용 예시 데이터.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4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8141718836404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9EB52429-89D2-42F7-92B5-2F10CE0D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리플랜 변경 확인과 승인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F156CEF2-7B92-45B5-96B9-4294C606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/ 제작설계서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75DE86DD-2929-4843-A1B2-44EF531D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pic>
        <p:nvPicPr>
          <p:cNvPr id="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7f4c443c5f4e5d"/>
          <a:stretch xmlns:a="http://schemas.openxmlformats.org/drawingml/2006/main"/>
        </p:blipFill>
        <p:spPr>
          <a:xfrm xmlns:a="http://schemas.openxmlformats.org/drawingml/2006/main">
            <a:off x="607659" y="1819275"/>
            <a:ext cx="2042232" cy="4419600"/>
          </a:xfrm>
          <a:prstGeom xmlns:a="http://schemas.openxmlformats.org/drawingml/2006/main" prst="rect">
            <a:avLst/>
          </a:prstGeom>
        </p:spPr>
      </p:pic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66244A7-ECB1-4FD3-B4E1-E9B39BB9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00250"/>
            <a:ext cx="540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④ 기존 계획과 바뀔 계획 비교하기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A9CE6B2-3848-4663-87FE-FC537791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419350"/>
            <a:ext cx="54006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기존 할 일과 새로 할 일을 비교한다. 왼쪽 예시는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발표 화면 전체 작업을 버튼 배치 수정으로 줄이고,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10:30~10:45에 진행하도록 바꾼 경우다.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BEC767A-8390-4F03-B34B-74AE5D06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076700"/>
            <a:ext cx="5400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‘일정 반영하기’를 눌러 승인하기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EF6BE65-A431-4C47-BD4C-470E7CDC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495800"/>
            <a:ext cx="54006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회복안을 선택한 것만으로 시간표를 바꾸지 않는다.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이 화면에서 사용자가 승인해야 바뀐 계획을 일정에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추가한다. 승인 후 오늘 화면에서 새 할 일을 시작한다.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A40D776-71C8-45AF-8852-BF469686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960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④ 변경된 계획 확인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35C345E3-C5E9-42AF-BCFD-D8EB6EB7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6296025"/>
            <a:ext cx="54006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실제 UI, 시연용 예시 데이터.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 설계서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2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ba468f8c042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15AF68F7-7968-435A-9D43-698CF3FC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주간 리뷰와 다음 계획 조정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F428410A-4EAD-420E-B052-1A5DBD77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/ 제작설계서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5A7F444D-BE81-476D-97B7-F97EFB5E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fa7df81e648f7"/>
          <a:stretch xmlns:a="http://schemas.openxmlformats.org/drawingml/2006/main"/>
        </p:blipFill>
        <p:spPr>
          <a:xfrm xmlns:a="http://schemas.openxmlformats.org/drawingml/2006/main">
            <a:off x="445734" y="1819275"/>
            <a:ext cx="2042232" cy="4419600"/>
          </a:xfrm>
          <a:prstGeom xmlns:a="http://schemas.openxmlformats.org/drawingml/2006/main" prst="rect">
            <a:avLst/>
          </a:prstGeom>
        </p:spPr>
      </p:pic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eba404e3494ec7"/>
          <a:stretch xmlns:a="http://schemas.openxmlformats.org/drawingml/2006/main"/>
        </p:blipFill>
        <p:spPr>
          <a:xfrm xmlns:a="http://schemas.openxmlformats.org/drawingml/2006/main">
            <a:off x="2674584" y="1819275"/>
            <a:ext cx="2042232" cy="4419600"/>
          </a:xfrm>
          <a:prstGeom xmlns:a="http://schemas.openxmlformats.org/drawingml/2006/main" prst="rect">
            <a:avLst/>
          </a:prstGeom>
        </p:spPr>
      </p:pic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0BDE542-F8FD-4A31-B857-99B3E4BF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5262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① 한 주의 실행과 회복 돌아보기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B2CA2B0-C0E4-4477-85CB-628EA205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71725"/>
            <a:ext cx="3714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일정을 얼마나 지켰는지, 멈춘 뒤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얼마나 다시 시작했는지 확인한다.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최근 3주 동안의 습관 기록을 보고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횟수 조정 제안도 함께 확인한다.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5F1C14A-717A-4FBD-A036-B08767A1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195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② 다음 주에 할 분량 조정하기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DB61C51-C47C-46C8-8368-AB7DE68C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38650"/>
            <a:ext cx="3714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주간 시간표에서 블록을 눌러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할 일과 시간을 고친다. 다음 주기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제안이 있으면 주간 초안을 열어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분량을 확인한 뒤 승인한다.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6119726-142A-40F5-9F45-D176DA1C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960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실행, 회복과 습관 기록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C3EA149-EC48-4B5A-BD02-C8B4A2A1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2960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주간 시간표 수정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6B2B049-88AF-403C-BC49-E7C416A7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296025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863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실제 UI, 시연용 예시 데이터.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유즈케이스 정의서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53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eeb44d8b7545c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9FE50F3F-71C9-4FA1-8008-8A6D76BD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사용자와 주요 사용 목적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29ED21C8-A5D5-4F2C-8CB4-E1A31926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기능 정의 / 사용자와 사용 목적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8BDF2A46-962C-445F-A8F6-5BD37D88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90" name="직사각형 89">
            <a:extLst xmlns:a="http://schemas.openxmlformats.org/drawingml/2006/main">
              <a:ext uri="{FF2B5EF4-FFF2-40B4-BE49-F238E27FC236}">
                <a16:creationId xmlns:a16="http://schemas.microsoft.com/office/drawing/2014/main" id="{3D0E5E44-B9CE-457B-9322-5A9DAEDB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762125"/>
            <a:ext cx="581977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D34F7935-3C52-49DC-893E-A1268255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4857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1575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RE:ACTION</a:t>
            </a:r>
          </a:p>
        </p:txBody>
      </p:sp>
      <p:sp>
        <p:nvSpPr>
          <p:cNvPr id="92" name="직사각형 91">
            <a:extLst xmlns:a="http://schemas.openxmlformats.org/drawingml/2006/main">
              <a:ext uri="{FF2B5EF4-FFF2-40B4-BE49-F238E27FC236}">
                <a16:creationId xmlns:a16="http://schemas.microsoft.com/office/drawing/2014/main" id="{465126D4-4CBE-4778-A5BE-3D0F8EC8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12763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9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95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사용자</a:t>
            </a:r>
          </a:p>
        </p:txBody>
      </p:sp>
      <p:sp>
        <p:nvSpPr>
          <p:cNvPr id="93" name="타원 92">
            <a:extLst xmlns:a="http://schemas.openxmlformats.org/drawingml/2006/main">
              <a:ext uri="{FF2B5EF4-FFF2-40B4-BE49-F238E27FC236}">
                <a16:creationId xmlns:a16="http://schemas.microsoft.com/office/drawing/2014/main" id="{78432A2C-3BE1-4C87-844F-3205C1E7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33625"/>
            <a:ext cx="4838700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UC-01  목표별 실행 계획 만들기</a:t>
            </a:r>
          </a:p>
        </p:txBody>
      </p:sp>
      <p:cxnSp>
        <p:nvCxnSpPr>
          <p:cNvPr id="162" name="직선 화살표 연결선 115"/>
          <p:cNvCxnSpPr>
            <a:stCxn xmlns:a="http://schemas.openxmlformats.org/drawingml/2006/main" id="92" idx="3"/>
            <a:endCxn xmlns:a="http://schemas.openxmlformats.org/drawingml/2006/main" id="93" idx="2"/>
          </p:cNvCxnSpPr>
          <p:nvPr/>
        </p:nvCxnSpPr>
        <p:spPr>
          <a:xfrm xmlns:a="http://schemas.openxmlformats.org/drawingml/2006/main" flipV="1">
            <a:off x="1733550" y="2624138"/>
            <a:ext cx="1733550" cy="135731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B5AA8"/>
            </a:solidFill>
          </a:ln>
        </p:spPr>
      </p:cxnSp>
      <p:sp>
        <p:nvSpPr>
          <p:cNvPr id="95" name="타원 94">
            <a:extLst xmlns:a="http://schemas.openxmlformats.org/drawingml/2006/main">
              <a:ext uri="{FF2B5EF4-FFF2-40B4-BE49-F238E27FC236}">
                <a16:creationId xmlns:a16="http://schemas.microsoft.com/office/drawing/2014/main" id="{EF73DD45-40F7-4220-A0E2-2844A40E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76575"/>
            <a:ext cx="4838700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UC-02  궁극적 목표와 만다라트</a:t>
            </a:r>
          </a:p>
        </p:txBody>
      </p:sp>
      <p:cxnSp>
        <p:nvCxnSpPr>
          <p:cNvPr id="164" name="직선 화살표 연결선 117"/>
          <p:cNvCxnSpPr>
            <a:stCxn xmlns:a="http://schemas.openxmlformats.org/drawingml/2006/main" id="92" idx="3"/>
            <a:endCxn xmlns:a="http://schemas.openxmlformats.org/drawingml/2006/main" id="95" idx="2"/>
          </p:cNvCxnSpPr>
          <p:nvPr/>
        </p:nvCxnSpPr>
        <p:spPr>
          <a:xfrm xmlns:a="http://schemas.openxmlformats.org/drawingml/2006/main" flipV="1">
            <a:off x="1733550" y="3367088"/>
            <a:ext cx="1733550" cy="61436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B5AA8"/>
            </a:solidFill>
          </a:ln>
        </p:spPr>
      </p:cxnSp>
      <p:sp>
        <p:nvSpPr>
          <p:cNvPr id="97" name="타원 96">
            <a:extLst xmlns:a="http://schemas.openxmlformats.org/drawingml/2006/main">
              <a:ext uri="{FF2B5EF4-FFF2-40B4-BE49-F238E27FC236}">
                <a16:creationId xmlns:a16="http://schemas.microsoft.com/office/drawing/2014/main" id="{6BC701CF-46AA-4C52-89CD-BB0E5D51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19525"/>
            <a:ext cx="4838700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UC-03  집중과 회복 기록</a:t>
            </a:r>
          </a:p>
        </p:txBody>
      </p:sp>
      <p:cxnSp>
        <p:nvCxnSpPr>
          <p:cNvPr id="166" name="직선 화살표 연결선 119"/>
          <p:cNvCxnSpPr>
            <a:stCxn xmlns:a="http://schemas.openxmlformats.org/drawingml/2006/main" id="92" idx="3"/>
            <a:endCxn xmlns:a="http://schemas.openxmlformats.org/drawingml/2006/main" id="97" idx="2"/>
          </p:cNvCxnSpPr>
          <p:nvPr/>
        </p:nvCxnSpPr>
        <p:spPr>
          <a:xfrm xmlns:a="http://schemas.openxmlformats.org/drawingml/2006/main">
            <a:off x="1733550" y="3981450"/>
            <a:ext cx="1733550" cy="12858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B5AA8"/>
            </a:solidFill>
          </a:ln>
        </p:spPr>
      </p:cxnSp>
      <p:sp>
        <p:nvSpPr>
          <p:cNvPr id="99" name="타원 98">
            <a:extLst xmlns:a="http://schemas.openxmlformats.org/drawingml/2006/main">
              <a:ext uri="{FF2B5EF4-FFF2-40B4-BE49-F238E27FC236}">
                <a16:creationId xmlns:a16="http://schemas.microsoft.com/office/drawing/2014/main" id="{C77C3EDF-A544-4D71-85DA-3D4DA0B6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62475"/>
            <a:ext cx="4838700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UC-04  주간 일정과 리뷰</a:t>
            </a:r>
          </a:p>
        </p:txBody>
      </p:sp>
      <p:cxnSp>
        <p:nvCxnSpPr>
          <p:cNvPr id="168" name="직선 화살표 연결선 121"/>
          <p:cNvCxnSpPr>
            <a:stCxn xmlns:a="http://schemas.openxmlformats.org/drawingml/2006/main" id="92" idx="3"/>
            <a:endCxn xmlns:a="http://schemas.openxmlformats.org/drawingml/2006/main" id="99" idx="2"/>
          </p:cNvCxnSpPr>
          <p:nvPr/>
        </p:nvCxnSpPr>
        <p:spPr>
          <a:xfrm xmlns:a="http://schemas.openxmlformats.org/drawingml/2006/main">
            <a:off x="1733550" y="3981450"/>
            <a:ext cx="1733550" cy="87153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B5AA8"/>
            </a:solidFill>
          </a:ln>
        </p:spPr>
      </p:cxnSp>
      <p:sp>
        <p:nvSpPr>
          <p:cNvPr id="101" name="타원 100">
            <a:extLst xmlns:a="http://schemas.openxmlformats.org/drawingml/2006/main">
              <a:ext uri="{FF2B5EF4-FFF2-40B4-BE49-F238E27FC236}">
                <a16:creationId xmlns:a16="http://schemas.microsoft.com/office/drawing/2014/main" id="{79DB7F9B-0D94-452D-9C45-344312DC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305425"/>
            <a:ext cx="4838700" cy="5810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4FA"/>
          </a:solidFill>
          <a:ln xmlns:a="http://schemas.openxmlformats.org/drawingml/2006/main" w="9525">
            <a:solidFill>
              <a:srgbClr val="3B5AA8"/>
            </a:solidFill>
          </a:ln>
        </p:spPr>
        <p:txBody>
          <a:bodyPr xmlns:a="http://schemas.openxmlformats.org/drawingml/2006/main" wrap="square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 eaLnBrk="0" latinLnBrk="0">
              <a:lnSpc>
                <a:spcPct val="116000"/>
              </a:lnSpc>
              <a:buNone/>
              <a:def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UC-05  메모를 목표와 할 일로 전환</a:t>
            </a:r>
          </a:p>
        </p:txBody>
      </p:sp>
      <p:cxnSp>
        <p:nvCxnSpPr>
          <p:cNvPr id="170" name="직선 화살표 연결선 123"/>
          <p:cNvCxnSpPr>
            <a:stCxn xmlns:a="http://schemas.openxmlformats.org/drawingml/2006/main" id="92" idx="3"/>
            <a:endCxn xmlns:a="http://schemas.openxmlformats.org/drawingml/2006/main" id="101" idx="2"/>
          </p:cNvCxnSpPr>
          <p:nvPr/>
        </p:nvCxnSpPr>
        <p:spPr>
          <a:xfrm xmlns:a="http://schemas.openxmlformats.org/drawingml/2006/main">
            <a:off x="1733550" y="3981450"/>
            <a:ext cx="1733550" cy="1614488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B5AA8"/>
            </a:solidFill>
          </a:ln>
        </p:spPr>
      </p:cxn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유즈케이스 정의서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9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46cf1e06347d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B34EB077-2A1E-4205-BB08-321D287C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시작 조건과 완료 결과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735EBCC0-6F37-48AB-BD3B-E890C654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기능 정의 / 시작 조건과 결과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5470A2A5-C3CC-4E75-AFEF-A60C3911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graphicFrame>
        <p:nvGraphicFramePr>
          <p:cNvPr id="103" name="표 100"/>
          <p:cNvGraphicFramePr/>
          <p:nvPr/>
        </p:nvGraphicFramePr>
        <p:xfrm>
          <a:off xmlns:a="http://schemas.openxmlformats.org/drawingml/2006/main" x="419100" y="1857375"/>
          <a:ext xmlns:a="http://schemas.openxmlformats.org/drawingml/2006/main" cx="8305800" cy="41910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600"/>
                <a:gridCol w="2790825"/>
                <a:gridCol w="3762375"/>
              </a:tblGrid>
              <a:tr h="381000"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 목적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시작 조건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 결과</a:t>
                      </a:r>
                    </a:p>
                  </a:txBody>
                  <a:tcPr marL="91440" marR="91440" marT="45720" marB="45720">
                    <a:solidFill>
                      <a:srgbClr val="3B5AA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UC-01</a:t>
                      </a:r>
                    </a:p>
                    <a:p>
                      <a:pPr eaLnBrk="0" latinLnBrk="0">
                        <a:buNone/>
                      </a:pPr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계획</a:t>
                      </a:r>
                    </a:p>
                  </a:txBody>
                  <a:tcPr marL="91440" marR="91440" marT="45720" marB="45720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새 목표를 입력하거나</a:t>
                      </a:r>
                    </a:p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미계획 목표를 선택한다.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수정하고 승인한 할 일이</a:t>
                      </a:r>
                    </a:p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오늘과 주간 일정에 표시된다.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UC-02</a:t>
                      </a:r>
                    </a:p>
                    <a:p>
                      <a:pPr eaLnBrk="0" latinLnBrk="0">
                        <a:buNone/>
                      </a:pPr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만다라트</a:t>
                      </a:r>
                    </a:p>
                  </a:txBody>
                  <a:tcPr marL="91440" marR="91440" marT="45720" marB="45720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관리에서</a:t>
                      </a:r>
                    </a:p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궁극적 목표를 만든다.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장기 목표, 하위 8개 영역,</a:t>
                      </a:r>
                    </a:p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영역별 행동을 관리한다.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UC-03</a:t>
                      </a:r>
                    </a:p>
                    <a:p>
                      <a:pPr eaLnBrk="0" latinLnBrk="0">
                        <a:buNone/>
                      </a:pPr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실행과 회복</a:t>
                      </a:r>
                    </a:p>
                  </a:txBody>
                  <a:tcPr marL="91440" marR="91440" marT="45720" marB="45720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오늘 할 일을 시작한다.</a:t>
                      </a:r>
                    </a:p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못한 경우 원인을 남긴다.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결과를 기록한다. 회복 선택에 따라</a:t>
                      </a:r>
                    </a:p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변경을 승인하거나 일정을 직접 고친다.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UC-04</a:t>
                      </a:r>
                    </a:p>
                    <a:p>
                      <a:pPr eaLnBrk="0" latinLnBrk="0">
                        <a:buNone/>
                      </a:pPr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일정과 리뷰</a:t>
                      </a:r>
                    </a:p>
                  </a:txBody>
                  <a:tcPr marL="91440" marR="91440" marT="45720" marB="45720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계획이나</a:t>
                      </a:r>
                    </a:p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리뷰를 연다.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수정 결과와 실행 기록,</a:t>
                      </a:r>
                    </a:p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습관 조정 제안을 확인한다.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UC-05</a:t>
                      </a:r>
                    </a:p>
                    <a:p>
                      <a:pPr eaLnBrk="0" latinLnBrk="0">
                        <a:buNone/>
                      </a:pPr>
                      <a:r>
                        <a:rPr sz="1500" b="1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기록 전환</a:t>
                      </a:r>
                    </a:p>
                  </a:txBody>
                  <a:tcPr marL="91440" marR="91440" marT="45720" marB="45720">
                    <a:solidFill>
                      <a:srgbClr val="F1F4FA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생각이나 자료를</a:t>
                      </a:r>
                    </a:p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인박스에 적어둔다.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원문을 남긴 채 목표, 할 일로</a:t>
                      </a:r>
                    </a:p>
                    <a:p>
                      <a:pPr eaLnBrk="0" latinLnBrk="0">
                        <a:buNone/>
                      </a:pPr>
                      <a:r>
                        <a:rPr sz="1500" b="0" lang="ko-KR">
                          <a:solidFill>
                            <a:srgbClr val="24292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옮기거나 자료 단계를 채택한다.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" name="직사각형 90">
            <a:extLst xmlns:a="http://schemas.openxmlformats.org/drawingml/2006/main">
              <a:ext uri="{FF2B5EF4-FFF2-40B4-BE49-F238E27FC236}">
                <a16:creationId xmlns:a16="http://schemas.microsoft.com/office/drawing/2014/main" id="{951BB04B-C7B9-4DEA-A345-C87036A5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53150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127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공통 조건: 로그인한 사용자. 저장하지 못한 경우에는 완료로 처리하지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보조 기능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2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1f22bea0f4e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4EC6B063-9A88-44E0-9FF3-09B7ABEE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인박스와 장기 목표 관리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5E3D4E5C-70D1-4718-8244-7FC83D0F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/ 실제 UI, 시연용 예시 데이터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A7E6031E-9598-4DC1-BFD8-20273EF0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7C9DA9A-38F0-42DD-9AF9-E334505F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383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인박스</a:t>
            </a:r>
          </a:p>
        </p:txBody>
      </p:sp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e9a2b3585b4c9f"/>
          <a:stretch xmlns:a="http://schemas.openxmlformats.org/drawingml/2006/main"/>
        </p:blipFill>
        <p:spPr>
          <a:xfrm xmlns:a="http://schemas.openxmlformats.org/drawingml/2006/main">
            <a:off x="887064" y="2219325"/>
            <a:ext cx="1540477" cy="3333750"/>
          </a:xfrm>
          <a:prstGeom xmlns:a="http://schemas.openxmlformats.org/drawingml/2006/main" prst="rect">
            <a:avLst/>
          </a:prstGeom>
        </p:spPr>
      </p:pic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2257357-B7F9-43A6-95DF-91793855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67375"/>
            <a:ext cx="247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메모와 자료를 모아두고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필요한 내용을 목표나 할 일로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전환한다. 원문은 함께 남긴다.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26A1987-52A5-48CB-8AF8-75578BBD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383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궁극적 목표 인터뷰</a:t>
            </a:r>
          </a:p>
        </p:txBody>
      </p:sp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126f2145e44774"/>
          <a:stretch xmlns:a="http://schemas.openxmlformats.org/drawingml/2006/main"/>
        </p:blipFill>
        <p:spPr>
          <a:xfrm xmlns:a="http://schemas.openxmlformats.org/drawingml/2006/main">
            <a:off x="3801714" y="2219325"/>
            <a:ext cx="1540477" cy="3333750"/>
          </a:xfrm>
          <a:prstGeom xmlns:a="http://schemas.openxmlformats.org/drawingml/2006/main" prst="rect">
            <a:avLst/>
          </a:prstGeom>
        </p:spPr>
      </p:pic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A434787-9DB7-4D28-A088-45FCAAF9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67375"/>
            <a:ext cx="247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이루고 싶은 결과에 답한다.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답변을 중심 목표로 정리하고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만다라트에서 행동으로 나눈다.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3576451-7F08-432D-8F1F-040A48DF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383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만다라트</a:t>
            </a:r>
          </a:p>
        </p:txBody>
      </p:sp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b6bc54c1443dd"/>
          <a:stretch xmlns:a="http://schemas.openxmlformats.org/drawingml/2006/main"/>
        </p:blipFill>
        <p:spPr>
          <a:xfrm xmlns:a="http://schemas.openxmlformats.org/drawingml/2006/main">
            <a:off x="6716364" y="2219325"/>
            <a:ext cx="1540477" cy="3333750"/>
          </a:xfrm>
          <a:prstGeom xmlns:a="http://schemas.openxmlformats.org/drawingml/2006/main" prst="rect">
            <a:avLst/>
          </a:prstGeom>
        </p:spPr>
      </p:pic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A1E5492-518C-474F-89B0-86F95525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67375"/>
            <a:ext cx="247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목표를 8개 영역으로 나눈다.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영역별 최대 8개 행동을 정하고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313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각 행동의 진행 상태를 확인한다.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87FE247D-BCD8-49C9-AB08-42C20460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4" y="0"/>
            <a:ext cx="3096344" cy="1124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5AA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/>
          </a:p>
        </p:txBody>
      </p:sp>
      <p:sp>
        <p:nvSpPr>
          <p:cNvPr id="25" name="직선 연결선 24">
            <a:extLst xmlns:a="http://schemas.openxmlformats.org/drawingml/2006/main">
              <a:ext uri="{FF2B5EF4-FFF2-40B4-BE49-F238E27FC236}">
                <a16:creationId xmlns:a16="http://schemas.microsoft.com/office/drawing/2014/main" id="{56E72A93-616C-44BF-B205-95E477EF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56" y="541195"/>
            <a:ext cx="2591728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>
                <a:lumMod val="9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6" name="직선 연결선 25">
            <a:extLst xmlns:a="http://schemas.openxmlformats.org/drawingml/2006/main">
              <a:ext uri="{FF2B5EF4-FFF2-40B4-BE49-F238E27FC236}">
                <a16:creationId xmlns:a16="http://schemas.microsoft.com/office/drawing/2014/main" id="{072C1394-538A-4BCF-9224-0784E0A0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856" y="548680"/>
            <a:ext cx="5328592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3B5AA8"/>
            </a:solidFill>
          </a:ln>
        </p:spPr>
        <p:style>
          <a:lnRef xmlns:a="http://schemas.openxmlformats.org/drawingml/2006/main" idx="1">
            <a:schemeClr val="accent4"/>
          </a:lnRef>
          <a:fillRef xmlns:a="http://schemas.openxmlformats.org/drawingml/2006/main" idx="0">
            <a:schemeClr val="accent4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eaLnBrk="0" latinLnBrk="0">
              <a:buNone/>
            </a:pPr>
            <a:endParaRPr lang="ko-KR"/>
          </a:p>
        </p:txBody>
      </p:sp>
      <p:sp>
        <p:nvSpPr>
          <p:cNvPr id="27" name="제목 12">
            <a:extLst xmlns:a="http://schemas.openxmlformats.org/drawingml/2006/main">
              <a:ext uri="{FF2B5EF4-FFF2-40B4-BE49-F238E27FC236}">
                <a16:creationId xmlns:a16="http://schemas.microsoft.com/office/drawing/2014/main" id="{99D20B54-FBA0-40C2-B7F4-249D25DD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692696"/>
            <a:ext cx="2880320" cy="2966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 eaLnBrk="0" latinLnBrk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1700" b="1" lang="ko-KR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700" b="1" i="0" u="none" cap="none" spc="0" lang="ko-KR">
                <a:ln>
                  <a:noFill/>
                </a:ln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프론트엔드 설계</a:t>
            </a:r>
            <a:endParaRPr sz="1700" b="0" i="0" u="none" kern="1200" cap="none" spc="-50" baseline="0" lang="ko-KR">
              <a:ln>
                <a:noFill/>
              </a:ln>
              <a:solidFill>
                <a:schemeClr val="bg1"/>
              </a:solidFill>
              <a:latin typeface="+mn-ea"/>
              <a:ea typeface="+mn-ea"/>
              <a:cs typeface="+mn-ea"/>
            </a:endParaRPr>
          </a:p>
        </p:txBody>
      </p:sp>
      <p:pic>
        <p:nvPicPr>
          <p:cNvPr id="10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4efeed7123475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6456" y="476671"/>
            <a:ext cx="454960" cy="158965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2" name="막힌 원호 31">
            <a:extLst xmlns:a="http://schemas.openxmlformats.org/drawingml/2006/main">
              <a:ext uri="{FF2B5EF4-FFF2-40B4-BE49-F238E27FC236}">
                <a16:creationId xmlns:a16="http://schemas.microsoft.com/office/drawing/2014/main" id="{9618B776-B49F-4D0C-880D-07488DEB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577697" y="-576001"/>
            <a:ext cx="1181047" cy="1167213"/>
          </a:xfrm>
          <a:prstGeom xmlns:a="http://schemas.openxmlformats.org/drawingml/2006/main" prst="blockArc">
            <a:avLst>
              <a:gd name="adj1" fmla="val 16158679"/>
              <a:gd name="adj2" fmla="val 0"/>
              <a:gd name="adj3" fmla="val 25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eaLnBrk="0" latinLnBrk="0">
              <a:buNone/>
            </a:pPr>
            <a:endParaRPr lang="ko-KR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 xmlns:a="http://schemas.openxmlformats.org/drawingml/2006/main">
              <a:ext uri="{FF2B5EF4-FFF2-40B4-BE49-F238E27FC236}">
                <a16:creationId xmlns:a16="http://schemas.microsoft.com/office/drawing/2014/main" id="{ADB8ABB9-2581-400D-8258-3EEBD1C8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32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5000"/>
              </a:lnSpc>
              <a:buNone/>
              <a:def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2100" b="1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네이티브 앱 구성과 지원 범위</a:t>
            </a:r>
          </a:p>
        </p:txBody>
      </p:sp>
      <p:sp>
        <p:nvSpPr>
          <p:cNvPr id="88" name="직사각형 87">
            <a:extLst xmlns:a="http://schemas.openxmlformats.org/drawingml/2006/main">
              <a:ext uri="{FF2B5EF4-FFF2-40B4-BE49-F238E27FC236}">
                <a16:creationId xmlns:a16="http://schemas.microsoft.com/office/drawing/2014/main" id="{DB38DE3F-D1A5-46DA-8585-2F31ACFB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24625"/>
            <a:ext cx="6953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RE:ACTION / 제작설계서</a:t>
            </a:r>
          </a:p>
        </p:txBody>
      </p:sp>
      <p:sp>
        <p:nvSpPr>
          <p:cNvPr id="89" name="직사각형 88">
            <a:extLst xmlns:a="http://schemas.openxmlformats.org/drawingml/2006/main">
              <a:ext uri="{FF2B5EF4-FFF2-40B4-BE49-F238E27FC236}">
                <a16:creationId xmlns:a16="http://schemas.microsoft.com/office/drawing/2014/main" id="{B67EB88F-E8D6-4094-A798-922F5D5B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524625"/>
            <a:ext cx="400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buNone/>
              <a:def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lang="ko-KR">
                <a:solidFill>
                  <a:srgbClr val="5B6570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EDDC744-EB24-450D-834C-799BB980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85950"/>
            <a:ext cx="830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Android, iOS 설치형 앱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ADE8D2C-5E84-4786-A257-D9A5F489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05050"/>
            <a:ext cx="8305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React 화면을 앱에 포함하는 도구인 Capacitor를 사용한다. Android와 iOS가 같은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화면 코드를 쓰며, Android는 스토어 제출용 파일(AAB)을 만드는 절차도 갖췄다.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C233E82-7296-42B3-B279-B901BE4B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409950"/>
            <a:ext cx="830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앱 알림과 캘린더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D6DDD28-D798-4F9D-BD3E-E5AE2BCD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29050"/>
            <a:ext cx="8305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앱 알림은 기기별 수신 정보를 서버에 등록하는 기능이 남아 있다.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Google 캘린더 자동 가져오기도 준비 중이므로 고정 일정은 직접 입력한다.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D6FB890-C701-4C45-8B8E-11ACCB88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33950"/>
            <a:ext cx="830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defRPr>
            </a:pPr>
            <a:r>
              <a:rPr sz="1650" b="1" lang="ko-KR">
                <a:solidFill>
                  <a:srgbClr val="3B5AA8"/>
                </a:solidFill>
                <a:latin typeface="맑은 고딕"/>
                <a:ea typeface="맑은 고딕"/>
                <a:cs typeface="맑은 고딕"/>
              </a:rPr>
              <a:t>회복안에 반영하는 시간 조건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F179DCF-557D-47A1-B7B1-8D121BBA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53050"/>
            <a:ext cx="83058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현재는 실패 사유로 회복 전략을 고르고, 기존 작업 시간과 현재 시각으로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새 일정을 계산한다. 남은 가용 시간을 회복안 생성에 직접 반영하는 것은</a:t>
            </a:r>
          </a:p>
          <a:p xmlns:a="http://schemas.openxmlformats.org/drawingml/2006/main">
            <a:pPr algn="l" eaLnBrk="0" latinLnBrk="0">
              <a:lnSpc>
                <a:spcPct val="123000"/>
              </a:lnSpc>
              <a:buNone/>
              <a:def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defRPr>
            </a:pPr>
            <a:r>
              <a:rPr sz="1538" b="0" lang="ko-KR">
                <a:solidFill>
                  <a:srgbClr val="24292F"/>
                </a:solidFill>
                <a:latin typeface="맑은 고딕"/>
                <a:ea typeface="맑은 고딕"/>
                <a:cs typeface="맑은 고딕"/>
              </a:rPr>
              <a:t>추가 구현 범위다.</a:t>
            </a:r>
          </a:p>
        </p:txBody>
      </p:sp>
    </p:spTree>
    <p:extLst>
      <p:ext uri="{BB962C8B-B14F-4D97-AF65-F5344CB8AC3E}">
        <p14:creationId xmlns:p14="http://schemas.microsoft.com/office/powerpoint/2010/main" val="3195766679"/>
      </p:ext>
    </p:extLst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2026-09-05T16:14:51.1770000Z</dcterms:created>
  <dcterms:modified xsi:type="dcterms:W3CDTF">2026-09-05T16:14:51.1770000Z</dcterms:modified>
</coreProperties>
</file>