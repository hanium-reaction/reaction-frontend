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authors.xml" ContentType="application/vnd.ms-powerpoint.author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51f8c299e8c469e" /><Relationship Type="http://schemas.openxmlformats.org/officeDocument/2006/relationships/extended-properties" Target="/docProps/app.xml" Id="R63f0b90eff654e9c" /><Relationship Type="http://schemas.openxmlformats.org/officeDocument/2006/relationships/officeDocument" Target="/ppt/presentation.xml" Id="Rf3fbfaebda48439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094e7c55d3749ac"/>
  </p:sldMasterIdLst>
  <p:notesMasterIdLst>
    <p:notesMasterId xmlns:r="http://schemas.openxmlformats.org/officeDocument/2006/relationships" r:id="Rd9dda73bd93e470d"/>
  </p:notesMasterIdLst>
  <p:sldIdLst>
    <p:sldId xmlns:r="http://schemas.openxmlformats.org/officeDocument/2006/relationships" id="256" r:id="R32387a80d3404341"/>
    <p:sldId xmlns:r="http://schemas.openxmlformats.org/officeDocument/2006/relationships" id="257" r:id="R7b6a2413c87248f8"/>
    <p:sldId xmlns:r="http://schemas.openxmlformats.org/officeDocument/2006/relationships" id="258" r:id="R00dadbbb5b8a48e6"/>
    <p:sldId xmlns:r="http://schemas.openxmlformats.org/officeDocument/2006/relationships" id="259" r:id="Re183ba13c73346e3"/>
    <p:sldId xmlns:r="http://schemas.openxmlformats.org/officeDocument/2006/relationships" id="260" r:id="Rb3dcd7a6ae524e37"/>
    <p:sldId xmlns:r="http://schemas.openxmlformats.org/officeDocument/2006/relationships" id="261" r:id="Rbd5c7f8d3ffe4970"/>
    <p:sldId xmlns:r="http://schemas.openxmlformats.org/officeDocument/2006/relationships" id="262" r:id="R492c53d2229e4f8a"/>
    <p:sldId xmlns:r="http://schemas.openxmlformats.org/officeDocument/2006/relationships" id="263" r:id="Red5a3423d8ec469b"/>
    <p:sldId xmlns:r="http://schemas.openxmlformats.org/officeDocument/2006/relationships" id="264" r:id="Rcc9a8b04be054a55"/>
    <p:sldId xmlns:r="http://schemas.openxmlformats.org/officeDocument/2006/relationships" id="265" r:id="Rd8e41b7a01ae4074"/>
    <p:sldId xmlns:r="http://schemas.openxmlformats.org/officeDocument/2006/relationships" id="266" r:id="Rb2737f3752d949e6"/>
    <p:sldId xmlns:r="http://schemas.openxmlformats.org/officeDocument/2006/relationships" id="267" r:id="Rf49b62cd17df485f"/>
    <p:sldId xmlns:r="http://schemas.openxmlformats.org/officeDocument/2006/relationships" id="268" r:id="R32273a5c4ec14de1"/>
    <p:sldId xmlns:r="http://schemas.openxmlformats.org/officeDocument/2006/relationships" id="269" r:id="R72da2d0d88b34a06"/>
  </p:sldIdLst>
  <p:sldSz cx="9144000" cy="6858000"/>
  <p:notesSz cx="6858000" cy="9144000"/>
</p:presentation>
</file>

<file path=ppt/authors.xml><?xml version="1.0" encoding="utf-8"?>
<p188:authorLst xmlns:p188="http://schemas.microsoft.com/office/powerpoint/2018/8/main">
  <p188:author id="{71E8E911-0CB3-8B38-B243-BD927FA74830}" name="이 상민" initials="상이" userId="S::lsm@fkiims.onmicrosoft.com::64505b25-1d12-486c-9a86-910d06e20881" providerId="AD"/>
</p188:authorLst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E25E649-3F16-4E02-A733-19D2CDBF48F0}" styleName="보통 스타일 3 - 강조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밝은 스타일 1 - 강조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p="http://schemas.openxmlformats.org/presentationml/2006/main"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2ca5b0728a447fa" /><Relationship Type="http://schemas.openxmlformats.org/officeDocument/2006/relationships/slideMaster" Target="/ppt/slideMasters/slideMaster1.xml" Id="R1094e7c55d3749ac" /><Relationship Type="http://schemas.openxmlformats.org/officeDocument/2006/relationships/notesMaster" Target="/ppt/notesMasters/notesMaster1.xml" Id="Rd9dda73bd93e470d" /><Relationship Type="http://schemas.openxmlformats.org/officeDocument/2006/relationships/presProps" Target="/ppt/presProps.xml" Id="Rfd1700a618934dd8" /><Relationship Type="http://schemas.openxmlformats.org/officeDocument/2006/relationships/viewProps" Target="/ppt/viewProps.xml" Id="R3845232a3e394e6a" /><Relationship Type="http://schemas.openxmlformats.org/officeDocument/2006/relationships/tableStyles" Target="/ppt/tableStyles.xml" Id="R6f83fd44e00d4816" /><Relationship Type="http://schemas.microsoft.com/office/2018/10/relationships/authors" Target="/ppt/authors.xml" Id="R7909b4c94b404d5a" /><Relationship Type="http://schemas.openxmlformats.org/officeDocument/2006/relationships/slide" Target="/ppt/slides/slide1.xml" Id="R32387a80d3404341" /><Relationship Type="http://schemas.openxmlformats.org/officeDocument/2006/relationships/slide" Target="/ppt/slides/slide2.xml" Id="R7b6a2413c87248f8" /><Relationship Type="http://schemas.openxmlformats.org/officeDocument/2006/relationships/slide" Target="/ppt/slides/slide3.xml" Id="R00dadbbb5b8a48e6" /><Relationship Type="http://schemas.openxmlformats.org/officeDocument/2006/relationships/slide" Target="/ppt/slides/slide4.xml" Id="Re183ba13c73346e3" /><Relationship Type="http://schemas.openxmlformats.org/officeDocument/2006/relationships/slide" Target="/ppt/slides/slide5.xml" Id="Rb3dcd7a6ae524e37" /><Relationship Type="http://schemas.openxmlformats.org/officeDocument/2006/relationships/slide" Target="/ppt/slides/slide6.xml" Id="Rbd5c7f8d3ffe4970" /><Relationship Type="http://schemas.openxmlformats.org/officeDocument/2006/relationships/slide" Target="/ppt/slides/slide7.xml" Id="R492c53d2229e4f8a" /><Relationship Type="http://schemas.openxmlformats.org/officeDocument/2006/relationships/slide" Target="/ppt/slides/slide8.xml" Id="Red5a3423d8ec469b" /><Relationship Type="http://schemas.openxmlformats.org/officeDocument/2006/relationships/slide" Target="/ppt/slides/slide9.xml" Id="Rcc9a8b04be054a55" /><Relationship Type="http://schemas.openxmlformats.org/officeDocument/2006/relationships/slide" Target="/ppt/slides/slide10.xml" Id="Rd8e41b7a01ae4074" /><Relationship Type="http://schemas.openxmlformats.org/officeDocument/2006/relationships/slide" Target="/ppt/slides/slide11.xml" Id="Rb2737f3752d949e6" /><Relationship Type="http://schemas.openxmlformats.org/officeDocument/2006/relationships/slide" Target="/ppt/slides/slide12.xml" Id="Rf49b62cd17df485f" /><Relationship Type="http://schemas.openxmlformats.org/officeDocument/2006/relationships/slide" Target="/ppt/slides/slide13.xml" Id="R32273a5c4ec14de1" /><Relationship Type="http://schemas.openxmlformats.org/officeDocument/2006/relationships/slide" Target="/ppt/slides/slide14.xml" Id="R72da2d0d88b34a0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7eb5065c513431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1855e6d22ec4f43" /><Relationship Type="http://schemas.openxmlformats.org/officeDocument/2006/relationships/notesMaster" Target="/ppt/notesMasters/notesMaster1.xml" Id="Rec5f418689494e2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b8b2ae9445c49c2" /><Relationship Type="http://schemas.openxmlformats.org/officeDocument/2006/relationships/notesMaster" Target="/ppt/notesMasters/notesMaster1.xml" Id="R61bb4d6f2b29426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e2eadfdc7184953" /><Relationship Type="http://schemas.openxmlformats.org/officeDocument/2006/relationships/notesMaster" Target="/ppt/notesMasters/notesMaster1.xml" Id="R2118cc6ae97d48b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ac94ffce8d743d7" /><Relationship Type="http://schemas.openxmlformats.org/officeDocument/2006/relationships/notesMaster" Target="/ppt/notesMasters/notesMaster1.xml" Id="R018c5dba524c48f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fa0ec996e8e4b9c" /><Relationship Type="http://schemas.openxmlformats.org/officeDocument/2006/relationships/notesMaster" Target="/ppt/notesMasters/notesMaster1.xml" Id="Ra11d50d91087438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aee0f02447a4514" /><Relationship Type="http://schemas.openxmlformats.org/officeDocument/2006/relationships/notesMaster" Target="/ppt/notesMasters/notesMaster1.xml" Id="Rbb710a43a839404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039257bde644317" /><Relationship Type="http://schemas.openxmlformats.org/officeDocument/2006/relationships/notesMaster" Target="/ppt/notesMasters/notesMaster1.xml" Id="R7380fac3630744a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6b935e4b4c74d4f" /><Relationship Type="http://schemas.openxmlformats.org/officeDocument/2006/relationships/notesMaster" Target="/ppt/notesMasters/notesMaster1.xml" Id="R6e941b4051b542c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588ce63148c44df" /><Relationship Type="http://schemas.openxmlformats.org/officeDocument/2006/relationships/notesMaster" Target="/ppt/notesMasters/notesMaster1.xml" Id="R31421615d2c9427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ea42218ec594d56" /><Relationship Type="http://schemas.openxmlformats.org/officeDocument/2006/relationships/notesMaster" Target="/ppt/notesMasters/notesMaster1.xml" Id="R557cc9cfc8a246b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ed9f9552ca645d4" /><Relationship Type="http://schemas.openxmlformats.org/officeDocument/2006/relationships/notesMaster" Target="/ppt/notesMasters/notesMaster1.xml" Id="R4e1a0b0db869436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a4bf547bb974956" /><Relationship Type="http://schemas.openxmlformats.org/officeDocument/2006/relationships/notesMaster" Target="/ppt/notesMasters/notesMaster1.xml" Id="R79cfdb22a646470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bd042e57c744f70" /><Relationship Type="http://schemas.openxmlformats.org/officeDocument/2006/relationships/notesMaster" Target="/ppt/notesMasters/notesMaster1.xml" Id="Re3f577409cbf4d8f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13d338bdf3340dd" /><Relationship Type="http://schemas.openxmlformats.org/officeDocument/2006/relationships/notesMaster" Target="/ppt/notesMasters/notesMaster1.xml" Id="Rc5e8e20b8a1845a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코드 기준: origin/main 9407c9d, 2026-09-05 확인.</a:t>
            </a:r>
          </a:p>
          <a:p xmlns:a="http://schemas.openxmlformats.org/drawingml/2006/main">
            <a:r>
              <a:t>범위: 프론트엔드의 화면과 사용자 동작, 입력과 실행 기록 처리.</a:t>
            </a:r>
          </a:p>
          <a:p xmlns:a="http://schemas.openxmlformats.org/drawingml/2006/main">
            <a:r>
              <a:t>https://github.com/hanium-reaction/reaction-frontend/blob/9407c9d/src/app/ReActionMerged.tsx</a:t>
            </a:r>
          </a:p>
          <a:p xmlns:a="http://schemas.openxmlformats.org/drawingml/2006/main">
            <a:r>
              <a:t>화면의 일정과 수치는 시연용 예시이며 실제 사용자 개인정보를 포함하지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코드 기준: origin/main 9407c9d, 2026-09-05 확인.</a:t>
            </a:r>
          </a:p>
          <a:p xmlns:a="http://schemas.openxmlformats.org/drawingml/2006/main">
            <a:r>
              <a:t>범위: 프론트엔드의 화면과 사용자 동작, 입력과 실행 기록 처리.</a:t>
            </a:r>
          </a:p>
          <a:p xmlns:a="http://schemas.openxmlformats.org/drawingml/2006/main">
            <a:r>
              <a:t>https://github.com/hanium-reaction/reaction-frontend/blob/9407c9d/src/app/ReActionMerged.tsx</a:t>
            </a:r>
          </a:p>
          <a:p xmlns:a="http://schemas.openxmlformats.org/drawingml/2006/main">
            <a:r>
              <a:t>https://github.com/hanium-reaction/reaction-frontend/blob/9407c9d/src/screens/RecoveryScreen.tsx</a:t>
            </a:r>
          </a:p>
          <a:p xmlns:a="http://schemas.openxmlformats.org/drawingml/2006/main">
            <a:r>
              <a:t>https://github.com/hanium-reaction/reaction-frontend/blob/9407c9d/src/screens/RecoveredScreen.tsx</a:t>
            </a:r>
          </a:p>
          <a:p xmlns:a="http://schemas.openxmlformats.org/drawingml/2006/main">
            <a:r>
              <a:t>화살표는 대표 사용 흐름이다. 회복은 실행 결과가 일부 완료 또는 실패일 때 이어지는 조건부 흐름이며 일시정지는 실패로 기록하지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코드 기준: origin/main 9407c9d, 2026-09-05 확인.</a:t>
            </a:r>
          </a:p>
          <a:p xmlns:a="http://schemas.openxmlformats.org/drawingml/2006/main">
            <a:r>
              <a:t>범위: 프론트엔드의 화면과 사용자 동작, 입력과 실행 기록 처리.</a:t>
            </a:r>
          </a:p>
          <a:p xmlns:a="http://schemas.openxmlformats.org/drawingml/2006/main">
            <a:r>
              <a:t>https://github.com/hanium-reaction/reaction-frontend/blob/9407c9d/src/app/ReActionMerged.tsx</a:t>
            </a:r>
          </a:p>
          <a:p xmlns:a="http://schemas.openxmlformats.org/drawingml/2006/main">
            <a:r>
              <a:t>연결선은 사용자와 사용 목적의 관계이며 실행 순서가 아니다. 로그인, 설정과 프로필은 공통 보조 기능이다. UC-03의 회복은 일부 완료 또는 실패 시에만 이어진다.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코드 기준: origin/main 9407c9d, 2026-09-05 확인.</a:t>
            </a:r>
          </a:p>
          <a:p xmlns:a="http://schemas.openxmlformats.org/drawingml/2006/main">
            <a:r>
              <a:t>범위: 프론트엔드의 화면과 사용자 동작, 입력과 실행 기록 처리.</a:t>
            </a:r>
          </a:p>
          <a:p xmlns:a="http://schemas.openxmlformats.org/drawingml/2006/main">
            <a:r>
              <a:t>https://github.com/hanium-reaction/reaction-frontend/blob/9407c9d/src/app/ReActionMerged.tsx</a:t>
            </a:r>
          </a:p>
          <a:p xmlns:a="http://schemas.openxmlformats.org/drawingml/2006/main">
            <a:r>
              <a:t>https://github.com/hanium-reaction/reaction-frontend/blob/9407c9d/src/screens/InboxScreen.tsx</a:t>
            </a:r>
          </a:p>
          <a:p xmlns:a="http://schemas.openxmlformats.org/drawingml/2006/main">
            <a:r>
              <a:t>https://github.com/hanium-reaction/reaction-frontend/blob/9407c9d/src/screens/RecoveredScreen.tsx</a:t>
            </a:r>
          </a:p>
          <a:p xmlns:a="http://schemas.openxmlformats.org/drawingml/2006/main">
            <a:r>
              <a:t>화면별 입력과 처리 방식은 6~12쪽에 설명한다. 주간 리뷰의 다음 2주 계획 승인 등 미완료 연결은 14쪽에서 구분한다.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코드 기준: origin/main 9407c9d, 2026-09-05 확인.</a:t>
            </a:r>
          </a:p>
          <a:p xmlns:a="http://schemas.openxmlformats.org/drawingml/2006/main">
            <a:r>
              <a:t>범위: 프론트엔드의 화면과 사용자 동작, 입력과 실행 기록 처리.</a:t>
            </a:r>
          </a:p>
          <a:p xmlns:a="http://schemas.openxmlformats.org/drawingml/2006/main">
            <a:r>
              <a:t>https://github.com/hanium-reaction/reaction-frontend/blob/9407c9d/src/app/ReActionMerged.tsx</a:t>
            </a:r>
          </a:p>
          <a:p xmlns:a="http://schemas.openxmlformats.org/drawingml/2006/main">
            <a:r>
              <a:t>https://github.com/hanium-reaction/reaction-frontend/blob/9407c9d/src/app/DesktopSidebar.tsx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코드 기준: origin/main 9407c9d, 2026-09-05 확인.</a:t>
            </a:r>
          </a:p>
          <a:p xmlns:a="http://schemas.openxmlformats.org/drawingml/2006/main">
            <a:r>
              <a:t>범위: 프론트엔드의 화면과 사용자 동작, 입력과 실행 기록 처리.</a:t>
            </a:r>
          </a:p>
          <a:p xmlns:a="http://schemas.openxmlformats.org/drawingml/2006/main">
            <a:r>
              <a:t>https://github.com/hanium-reaction/reaction-frontend/blob/9407c9d/src/screens/GoalIntakeScreen.tsx</a:t>
            </a:r>
          </a:p>
          <a:p xmlns:a="http://schemas.openxmlformats.org/drawingml/2006/main">
            <a:r>
              <a:t>https://github.com/hanium-reaction/reaction-frontend/blob/9407c9d/src/screens/GoalClassificationScreen.tsx</a:t>
            </a:r>
          </a:p>
          <a:p xmlns:a="http://schemas.openxmlformats.org/drawingml/2006/main">
            <a:r>
              <a:t>UC-01. 답변을 보내면 서버가 반환하는 추가 질문과 목표 후보를 화면에 반영한다. 현재 코드의 실제 UI에 시연용 응답을 사용한 캡처다. AI 목표 추출 로직 자체는 프론트엔드가 아닌 서버 영역이다.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코드 기준: origin/main 9407c9d, 2026-09-05 확인.</a:t>
            </a:r>
          </a:p>
          <a:p xmlns:a="http://schemas.openxmlformats.org/drawingml/2006/main">
            <a:r>
              <a:t>범위: 프론트엔드의 화면과 사용자 동작, 입력과 실행 기록 처리.</a:t>
            </a:r>
          </a:p>
          <a:p xmlns:a="http://schemas.openxmlformats.org/drawingml/2006/main">
            <a:r>
              <a:t>https://github.com/hanium-reaction/reaction-frontend/blob/9407c9d/src/screens/WeeklyPlanGenerationScreen.tsx</a:t>
            </a:r>
          </a:p>
          <a:p xmlns:a="http://schemas.openxmlformats.org/drawingml/2006/main">
            <a:r>
              <a:t>https://github.com/hanium-reaction/reaction-frontend/blob/9407c9d/src/screens/MilestoneConfirmScreen.tsx</a:t>
            </a:r>
          </a:p>
          <a:p xmlns:a="http://schemas.openxmlformats.org/drawingml/2006/main">
            <a:r>
              <a:t>https://github.com/hanium-reaction/reaction-frontend/blob/9407c9d/src/screens/MaterialsSearchScreen.tsx</a:t>
            </a:r>
          </a:p>
          <a:p xmlns:a="http://schemas.openxmlformats.org/drawingml/2006/main">
            <a:r>
              <a:t>UC-01. 실제 UI, 시연용 예시 데이터. 입력 확인 → draft 생성 → 편집 → approve. 참고 자료 화면의 현재 구현은 검색어와 본문 검토이며 별도 도서/영상 선택 과정은 14쪽에서 미완료로 구분한다.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코드 기준: origin/main 9407c9d, 2026-09-05 확인.</a:t>
            </a:r>
          </a:p>
          <a:p xmlns:a="http://schemas.openxmlformats.org/drawingml/2006/main">
            <a:r>
              <a:t>범위: 프론트엔드의 화면과 사용자 동작, 입력과 실행 기록 처리.</a:t>
            </a:r>
          </a:p>
          <a:p xmlns:a="http://schemas.openxmlformats.org/drawingml/2006/main">
            <a:r>
              <a:t>https://github.com/hanium-reaction/reaction-frontend/blob/9407c9d/src/screens/UltimateGoalInterviewScreen.tsx</a:t>
            </a:r>
          </a:p>
          <a:p xmlns:a="http://schemas.openxmlformats.org/drawingml/2006/main">
            <a:r>
              <a:t>https://github.com/hanium-reaction/reaction-frontend/blob/9407c9d/src/screens/MandalaDraftScreen.tsx</a:t>
            </a:r>
          </a:p>
          <a:p xmlns:a="http://schemas.openxmlformats.org/drawingml/2006/main">
            <a:r>
              <a:t>https://github.com/hanium-reaction/reaction-frontend/blob/9407c9d/src/screens/MandalaScreen.tsx</a:t>
            </a:r>
          </a:p>
          <a:p xmlns:a="http://schemas.openxmlformats.org/drawingml/2006/main">
            <a:r>
              <a:t>UC-02. 실제 UI, 시연용 예시 데이터. 실행 계획용 딥 인터뷰와 궁극적 목표 인터뷰는 다른 흐름이다. 만다라트는 목표 1개, 영역 8개, 행동 최대 64개이며 전체 최대 73개 노드다. 원본 캡처는 모든 칸을 한 화면에 펼친 것이 아니라 영역별로 보는 UI다. 생성/초안 수정 보존의 구현 파일은 저장소의 MandalaDraft 관련 화면을 참조한다.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코드 기준: origin/main 9407c9d, 2026-09-05 확인.</a:t>
            </a:r>
          </a:p>
          <a:p xmlns:a="http://schemas.openxmlformats.org/drawingml/2006/main">
            <a:r>
              <a:t>범위: 프론트엔드의 화면과 사용자 동작, 입력과 실행 기록 처리.</a:t>
            </a:r>
          </a:p>
          <a:p xmlns:a="http://schemas.openxmlformats.org/drawingml/2006/main">
            <a:r>
              <a:t>https://github.com/hanium-reaction/reaction-frontend/blob/9407c9d/src/screens/TodayScreen.tsx</a:t>
            </a:r>
          </a:p>
          <a:p xmlns:a="http://schemas.openxmlformats.org/drawingml/2006/main">
            <a:r>
              <a:t>https://github.com/hanium-reaction/reaction-frontend/blob/9407c9d/src/screens/FocusScreen.tsx</a:t>
            </a:r>
          </a:p>
          <a:p xmlns:a="http://schemas.openxmlformats.org/drawingml/2006/main">
            <a:r>
              <a:t>https://github.com/hanium-reaction/reaction-frontend/blob/9407c9d/src/app/ReActionMerged.tsx</a:t>
            </a:r>
          </a:p>
          <a:p xmlns:a="http://schemas.openxmlformats.org/drawingml/2006/main">
            <a:r>
              <a:t>UC-03. 실제 UI, 시연용 예시 데이터. 스크린샷 두 장은 각 화면의 대표 상태로, 동일한 한 실행의 연속 캡처가 아니다. Focus의 pause, partial, failed 경로를 분리한다. 실행 번호는 executionId다.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코드 기준: origin/main 9407c9d, 2026-09-05 확인.</a:t>
            </a:r>
          </a:p>
          <a:p xmlns:a="http://schemas.openxmlformats.org/drawingml/2006/main">
            <a:r>
              <a:t>범위: 프론트엔드의 화면과 사용자 동작, 입력과 실행 기록 처리.</a:t>
            </a:r>
          </a:p>
          <a:p xmlns:a="http://schemas.openxmlformats.org/drawingml/2006/main">
            <a:r>
              <a:t>https://github.com/hanium-reaction/reaction-frontend/blob/9407c9d/src/screens/FocusScreen.tsx</a:t>
            </a:r>
          </a:p>
          <a:p xmlns:a="http://schemas.openxmlformats.org/drawingml/2006/main">
            <a:r>
              <a:t>https://github.com/hanium-reaction/reaction-frontend/blob/9407c9d/src/screens/RecoveryScreen.tsx</a:t>
            </a:r>
          </a:p>
          <a:p xmlns:a="http://schemas.openxmlformats.org/drawingml/2006/main">
            <a:r>
              <a:t>https://github.com/hanium-reaction/reaction-frontend/blob/9407c9d/src/screens/RecoveredScreen.tsx</a:t>
            </a:r>
          </a:p>
          <a:p xmlns:a="http://schemas.openxmlformats.org/drawingml/2006/main">
            <a:r>
              <a:t>https://github.com/hanium-reaction/reaction-frontend/blob/9407c9d/src/app/ReActionMerged.tsx</a:t>
            </a:r>
          </a:p>
          <a:p xmlns:a="http://schemas.openxmlformats.org/drawingml/2006/main">
            <a:r>
              <a:t>UC-03. 실제 UI, 시연용 예시 데이터. 캡처의 회복 완료 문구와 별도로 실제 프론트엔드의 handleDone은 replanApi.approve 성공을 기다린 뒤 화면을 이동한다. 일시정지가 아닌 failed 결과일 때 원인 태그 1~2개를 요구한다. 제안은 DOWNSCOPE/RESCHEDULE/CARRY_OVER/PARK로 묶고 중복 유형을 정리한다.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코드 기준: origin/main 9407c9d, 2026-09-05 확인.</a:t>
            </a:r>
          </a:p>
          <a:p xmlns:a="http://schemas.openxmlformats.org/drawingml/2006/main">
            <a:r>
              <a:t>범위: 프론트엔드의 화면과 사용자 동작, 입력과 실행 기록 처리.</a:t>
            </a:r>
          </a:p>
          <a:p xmlns:a="http://schemas.openxmlformats.org/drawingml/2006/main">
            <a:r>
              <a:t>https://github.com/hanium-reaction/reaction-frontend/blob/9407c9d/src/screens/WeeklyCalendarScreen.tsx</a:t>
            </a:r>
          </a:p>
          <a:p xmlns:a="http://schemas.openxmlformats.org/drawingml/2006/main">
            <a:r>
              <a:t>https://github.com/hanium-reaction/reaction-frontend/blob/9407c9d/src/screens/WeeklyReviewScreen.tsx</a:t>
            </a:r>
          </a:p>
          <a:p xmlns:a="http://schemas.openxmlformats.org/drawingml/2006/main">
            <a:r>
              <a:t>UC-04. 실제 UI, 시연용 예시 데이터. 통계 수치는 성능이나 사용자 성과 주장이 아니다. 주간 리뷰의 후속 2주 계획 승인 연결은 완성된 기능으로 설명하지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코드 기준: origin/main 9407c9d, 2026-09-05 확인.</a:t>
            </a:r>
          </a:p>
          <a:p xmlns:a="http://schemas.openxmlformats.org/drawingml/2006/main">
            <a:r>
              <a:t>범위: 프론트엔드의 화면과 사용자 동작, 입력과 실행 기록 처리.</a:t>
            </a:r>
          </a:p>
          <a:p xmlns:a="http://schemas.openxmlformats.org/drawingml/2006/main">
            <a:r>
              <a:t>https://github.com/hanium-reaction/reaction-frontend/blob/9407c9d/src/screens/InboxScreen.tsx</a:t>
            </a:r>
          </a:p>
          <a:p xmlns:a="http://schemas.openxmlformats.org/drawingml/2006/main">
            <a:r>
              <a:t>UC-05. 실제 UI, 시연용 예시 데이터. 보관과 복원, 목표/할 일 전환, resource 상세와 단계 채택을 구분한다. 자료 단계 채택은 자료 ID와 단계 ID를 이용해 중복 요청을 구분한다.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코드 기준: origin/main 9407c9d, 2026-09-05 확인.</a:t>
            </a:r>
          </a:p>
          <a:p xmlns:a="http://schemas.openxmlformats.org/drawingml/2006/main">
            <a:r>
              <a:t>범위: 프론트엔드의 화면과 사용자 동작, 입력과 실행 기록 처리.</a:t>
            </a:r>
          </a:p>
          <a:p xmlns:a="http://schemas.openxmlformats.org/drawingml/2006/main">
            <a:r>
              <a:t>https://github.com/hanium-reaction/reaction-frontend/blob/9407c9d/src/app/ReActionMerged.tsx</a:t>
            </a:r>
          </a:p>
          <a:p xmlns:a="http://schemas.openxmlformats.org/drawingml/2006/main">
            <a:r>
              <a:t>https://github.com/hanium-reaction/reaction-frontend/blob/9407c9d/src/screens/RecoveredScreen.tsx</a:t>
            </a:r>
          </a:p>
          <a:p xmlns:a="http://schemas.openxmlformats.org/drawingml/2006/main">
            <a:r>
              <a:t>https://github.com/hanium-reaction/reaction-frontend/blob/9407c9d/src/screens/WeeklyPlanGenerationScreen.tsx</a:t>
            </a:r>
          </a:p>
          <a:p xmlns:a="http://schemas.openxmlformats.org/drawingml/2006/main">
            <a:r>
              <a:t>https://github.com/hanium-reaction/reaction-frontend/blob/9407c9d/src/screens/MandalaDraftScreen.tsx</a:t>
            </a:r>
          </a:p>
          <a:p xmlns:a="http://schemas.openxmlformats.org/drawingml/2006/main">
            <a:r>
              <a:t>RecoveredScreen: await replanApi.approve(executionId, `replan-${executionId}`); onDone();. 재시도마다 임의 키를 만들지 않고 같은 실행 번호로 키를 고정한다. 9407c9d에서는 회복 재진입이 기존 실행 기록을 재사용하도록 수정했다. 서버 내부 중복 방지 구현까지 이 프론트엔드 문서로 보증하지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코드 기준: origin/main 9407c9d, 2026-09-05 확인.</a:t>
            </a:r>
          </a:p>
          <a:p xmlns:a="http://schemas.openxmlformats.org/drawingml/2006/main">
            <a:r>
              <a:t>범위: 프론트엔드의 화면과 사용자 동작, 입력과 실행 기록 처리.</a:t>
            </a:r>
          </a:p>
          <a:p xmlns:a="http://schemas.openxmlformats.org/drawingml/2006/main">
            <a:r>
              <a:t>https://github.com/hanium-reaction/reaction-frontend/blob/9407c9d/src/screens/SettingsScreen.tsx</a:t>
            </a:r>
          </a:p>
          <a:p xmlns:a="http://schemas.openxmlformats.org/drawingml/2006/main">
            <a:r>
              <a:t>https://github.com/hanium-reaction/reaction-frontend/blob/9407c9d/src/screens/MaterialsSearchScreen.tsx</a:t>
            </a:r>
          </a:p>
          <a:p xmlns:a="http://schemas.openxmlformats.org/drawingml/2006/main">
            <a:r>
              <a:t>https://github.com/hanium-reaction/reaction-frontend/blob/9407c9d/src/screens/WeeklyCalendarScreen.tsx</a:t>
            </a:r>
          </a:p>
          <a:p xmlns:a="http://schemas.openxmlformats.org/drawingml/2006/main">
            <a:r>
              <a:t>https://github.com/hanium-reaction/reaction-frontend/blob/9407c9d/src/screens/WeeklyReviewScreen.tsx</a:t>
            </a:r>
          </a:p>
          <a:p xmlns:a="http://schemas.openxmlformats.org/drawingml/2006/main">
            <a:r>
              <a:t>기준일 2026-09-05의 미완료 작업.</a:t>
            </a:r>
          </a:p>
          <a:p xmlns:a="http://schemas.openxmlformats.org/drawingml/2006/main">
            <a:r>
              <a:t>https://github.com/hanium-reaction/reaction-frontend/issues/315</a:t>
            </a:r>
          </a:p>
          <a:p xmlns:a="http://schemas.openxmlformats.org/drawingml/2006/main">
            <a:r>
              <a:t>https://github.com/hanium-reaction/reaction-frontend/issues/311</a:t>
            </a:r>
          </a:p>
          <a:p xmlns:a="http://schemas.openxmlformats.org/drawingml/2006/main">
            <a:r>
              <a:t>https://github.com/hanium-reaction/reaction-frontend/issues/310</a:t>
            </a:r>
          </a:p>
          <a:p xmlns:a="http://schemas.openxmlformats.org/drawingml/2006/main">
            <a:r>
              <a:t>https://github.com/hanium-reaction/reaction-frontend/issues/260</a:t>
            </a:r>
          </a:p>
          <a:p xmlns:a="http://schemas.openxmlformats.org/drawingml/2006/main">
            <a:r>
              <a:t>현재 UI는 크림 배경 #FAF6EE, 카드 #FFFCF6, 주요 동작 #E26D4E/#9E472F, 완료 #5D9767/#487550과 Pretendard Variable을 사용한다.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42c188e498c4cf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d10e25b27984e9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91b209c358e42f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7101000074e4e94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e3859692a46441e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6719640c22e41c7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12d8a2376154255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9f4de44c6a5426f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08b1262524948f4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66b5d1b085b4ce7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a7dd84cfc9b436b" /></Relationships>
</file>

<file path=ppt/slideLayouts/slideLayout1.xml><?xml version="1.0" encoding="utf-8"?>
<p:sldLayout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제목 1">
            <a:extLst xmlns:a="http://schemas.openxmlformats.org/drawingml/2006/main">
              <a:ext uri="{FF2B5EF4-FFF2-40B4-BE49-F238E27FC236}">
                <a16:creationId xmlns:a16="http://schemas.microsoft.com/office/drawing/2014/main" id="{5B058B98-E26F-45C4-AD54-2282023DE25E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마스터 제목 스타일 편집</a:t>
            </a:r>
          </a:p>
        </p:txBody>
      </p:sp>
      <p:sp>
        <p:nvSpPr>
          <p:cNvPr id="3" name="부제목 2">
            <a:extLst xmlns:a="http://schemas.openxmlformats.org/drawingml/2006/main">
              <a:ext uri="{FF2B5EF4-FFF2-40B4-BE49-F238E27FC236}">
                <a16:creationId xmlns:a16="http://schemas.microsoft.com/office/drawing/2014/main" id="{16FD5AB0-9968-49DA-B73D-6D8FB51FB64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마스터 부제목 스타일 편집</a:t>
            </a:r>
          </a:p>
        </p:txBody>
      </p:sp>
      <p:sp>
        <p:nvSpPr>
          <p:cNvPr id="4" name="날짜 개체 틀 3">
            <a:extLst xmlns:a="http://schemas.openxmlformats.org/drawingml/2006/main">
              <a:ext uri="{FF2B5EF4-FFF2-40B4-BE49-F238E27FC236}">
                <a16:creationId xmlns:a16="http://schemas.microsoft.com/office/drawing/2014/main" id="{40FDD0BA-5770-435D-AE91-C8B47BAFD87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4F08C18-F846-4F83-9E4A-EF96E909B73F}" type="datetime1">
              <a:t>2026-07-02</a:t>
            </a:fld>
            <a:endParaRPr/>
          </a:p>
        </p:txBody>
      </p:sp>
      <p:sp>
        <p:nvSpPr>
          <p:cNvPr id="5" name="바닥글 개체 틀 4">
            <a:extLst xmlns:a="http://schemas.openxmlformats.org/drawingml/2006/main">
              <a:ext uri="{FF2B5EF4-FFF2-40B4-BE49-F238E27FC236}">
                <a16:creationId xmlns:a16="http://schemas.microsoft.com/office/drawing/2014/main" id="{BC399C6C-648C-4AA5-B332-4DFAC71A4E4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한이음 ▶ 프로그램 설계서</a:t>
            </a:r>
          </a:p>
        </p:txBody>
      </p:sp>
      <p:sp>
        <p:nvSpPr>
          <p:cNvPr id="6" name="슬라이드 번호 개체 틀 5">
            <a:extLst xmlns:a="http://schemas.openxmlformats.org/drawingml/2006/main">
              <a:ext uri="{FF2B5EF4-FFF2-40B4-BE49-F238E27FC236}">
                <a16:creationId xmlns:a16="http://schemas.microsoft.com/office/drawing/2014/main" id="{9897A017-1FDC-4CDD-BD7E-7FF90C17BA3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43FC95C-4A71-4760-A575-4AE7075BB6F0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제목 1">
            <a:extLst xmlns:a="http://schemas.openxmlformats.org/drawingml/2006/main">
              <a:ext uri="{FF2B5EF4-FFF2-40B4-BE49-F238E27FC236}">
                <a16:creationId xmlns:a16="http://schemas.microsoft.com/office/drawing/2014/main" id="{7EC41F90-E110-4DB3-A5D2-B08C0657447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마스터 제목 스타일 편집</a:t>
            </a:r>
          </a:p>
        </p:txBody>
      </p:sp>
      <p:sp>
        <p:nvSpPr>
          <p:cNvPr id="3" name="내용 개체 틀 2">
            <a:extLst xmlns:a="http://schemas.openxmlformats.org/drawingml/2006/main">
              <a:ext uri="{FF2B5EF4-FFF2-40B4-BE49-F238E27FC236}">
                <a16:creationId xmlns:a16="http://schemas.microsoft.com/office/drawing/2014/main" id="{866B3717-F937-4171-8ADF-7B28F0FC8EA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마스터 텍스트 스타일을 편집합니다</a:t>
            </a:r>
          </a:p>
          <a:p xmlns:a="http://schemas.openxmlformats.org/drawingml/2006/main">
            <a:pPr lvl="1">
              <a:buNone/>
            </a:pPr>
            <a:r>
              <a:t>둘째 수준</a:t>
            </a:r>
          </a:p>
          <a:p xmlns:a="http://schemas.openxmlformats.org/drawingml/2006/main">
            <a:pPr lvl="2">
              <a:buNone/>
            </a:pPr>
            <a:r>
              <a:t>셋째 수준</a:t>
            </a:r>
          </a:p>
          <a:p xmlns:a="http://schemas.openxmlformats.org/drawingml/2006/main">
            <a:pPr lvl="3">
              <a:buNone/>
            </a:pPr>
            <a:r>
              <a:t>넷째 수준</a:t>
            </a:r>
          </a:p>
          <a:p xmlns:a="http://schemas.openxmlformats.org/drawingml/2006/main">
            <a:pPr lvl="4">
              <a:buNone/>
            </a:pPr>
            <a:r>
              <a:t>다섯째 수준</a:t>
            </a:r>
          </a:p>
        </p:txBody>
      </p:sp>
      <p:sp>
        <p:nvSpPr>
          <p:cNvPr id="4" name="날짜 개체 틀 3">
            <a:extLst xmlns:a="http://schemas.openxmlformats.org/drawingml/2006/main">
              <a:ext uri="{FF2B5EF4-FFF2-40B4-BE49-F238E27FC236}">
                <a16:creationId xmlns:a16="http://schemas.microsoft.com/office/drawing/2014/main" id="{F3630CC2-A88D-49D9-8161-C83BAE5A831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A3DBE8A-08A0-4AE2-B806-C9B9A473B0ED}" type="datetime1">
              <a:t>2026-07-02</a:t>
            </a:fld>
            <a:endParaRPr/>
          </a:p>
        </p:txBody>
      </p:sp>
      <p:sp>
        <p:nvSpPr>
          <p:cNvPr id="5" name="바닥글 개체 틀 4">
            <a:extLst xmlns:a="http://schemas.openxmlformats.org/drawingml/2006/main">
              <a:ext uri="{FF2B5EF4-FFF2-40B4-BE49-F238E27FC236}">
                <a16:creationId xmlns:a16="http://schemas.microsoft.com/office/drawing/2014/main" id="{467AE01E-2A0E-4503-B51A-A0748CC155D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한이음 ▶ 프로그램 설계서</a:t>
            </a:r>
          </a:p>
        </p:txBody>
      </p:sp>
      <p:sp>
        <p:nvSpPr>
          <p:cNvPr id="6" name="슬라이드 번호 개체 틀 5">
            <a:extLst xmlns:a="http://schemas.openxmlformats.org/drawingml/2006/main">
              <a:ext uri="{FF2B5EF4-FFF2-40B4-BE49-F238E27FC236}">
                <a16:creationId xmlns:a16="http://schemas.microsoft.com/office/drawing/2014/main" id="{25CB21DF-7229-4A34-A7B4-38F44D5B743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553200" y="6617245"/>
            <a:ext cx="2133600" cy="196131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43FC95C-4A71-4760-A575-4AE7075BB6F0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제목 1">
            <a:extLst xmlns:a="http://schemas.openxmlformats.org/drawingml/2006/main">
              <a:ext uri="{FF2B5EF4-FFF2-40B4-BE49-F238E27FC236}">
                <a16:creationId xmlns:a16="http://schemas.microsoft.com/office/drawing/2014/main" id="{36B28905-715B-4C0E-A430-AE6A161A7C7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마스터 제목 스타일 편집</a:t>
            </a:r>
          </a:p>
        </p:txBody>
      </p:sp>
      <p:sp>
        <p:nvSpPr>
          <p:cNvPr id="3" name="텍스트 개체 틀 2">
            <a:extLst xmlns:a="http://schemas.openxmlformats.org/drawingml/2006/main">
              <a:ext uri="{FF2B5EF4-FFF2-40B4-BE49-F238E27FC236}">
                <a16:creationId xmlns:a16="http://schemas.microsoft.com/office/drawing/2014/main" id="{8442D429-631F-43A3-9F09-E98AF6A64A9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마스터 텍스트 스타일을 편집합니다</a:t>
            </a:r>
          </a:p>
        </p:txBody>
      </p:sp>
      <p:sp>
        <p:nvSpPr>
          <p:cNvPr id="4" name="날짜 개체 틀 3">
            <a:extLst xmlns:a="http://schemas.openxmlformats.org/drawingml/2006/main">
              <a:ext uri="{FF2B5EF4-FFF2-40B4-BE49-F238E27FC236}">
                <a16:creationId xmlns:a16="http://schemas.microsoft.com/office/drawing/2014/main" id="{05FF06AD-0418-4150-B773-9EA794541FA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7FE13E15-7006-4370-B5F6-60D7104AE3B4}" type="datetime1">
              <a:t>2026-07-02</a:t>
            </a:fld>
            <a:endParaRPr/>
          </a:p>
        </p:txBody>
      </p:sp>
      <p:sp>
        <p:nvSpPr>
          <p:cNvPr id="5" name="바닥글 개체 틀 4">
            <a:extLst xmlns:a="http://schemas.openxmlformats.org/drawingml/2006/main">
              <a:ext uri="{FF2B5EF4-FFF2-40B4-BE49-F238E27FC236}">
                <a16:creationId xmlns:a16="http://schemas.microsoft.com/office/drawing/2014/main" id="{A9562A13-CD99-4CB5-83E2-CF3530042FA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한이음 ▶ 프로그램 설계서</a:t>
            </a:r>
          </a:p>
        </p:txBody>
      </p:sp>
      <p:sp>
        <p:nvSpPr>
          <p:cNvPr id="6" name="슬라이드 번호 개체 틀 5">
            <a:extLst xmlns:a="http://schemas.openxmlformats.org/drawingml/2006/main">
              <a:ext uri="{FF2B5EF4-FFF2-40B4-BE49-F238E27FC236}">
                <a16:creationId xmlns:a16="http://schemas.microsoft.com/office/drawing/2014/main" id="{8B0D75F4-86E2-48C0-B6FD-50054E58393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43FC95C-4A71-4760-A575-4AE7075BB6F0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제목 1">
            <a:extLst xmlns:a="http://schemas.openxmlformats.org/drawingml/2006/main">
              <a:ext uri="{FF2B5EF4-FFF2-40B4-BE49-F238E27FC236}">
                <a16:creationId xmlns:a16="http://schemas.microsoft.com/office/drawing/2014/main" id="{BF9E9AA3-5851-4BDC-AF03-1950F26E7B4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마스터 제목 스타일 편집</a:t>
            </a:r>
          </a:p>
        </p:txBody>
      </p:sp>
      <p:sp>
        <p:nvSpPr>
          <p:cNvPr id="3" name="내용 개체 틀 2">
            <a:extLst xmlns:a="http://schemas.openxmlformats.org/drawingml/2006/main">
              <a:ext uri="{FF2B5EF4-FFF2-40B4-BE49-F238E27FC236}">
                <a16:creationId xmlns:a16="http://schemas.microsoft.com/office/drawing/2014/main" id="{9977436A-125E-4DA2-86BD-6C1BA903196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마스터 텍스트 스타일을 편집합니다</a:t>
            </a:r>
          </a:p>
          <a:p xmlns:a="http://schemas.openxmlformats.org/drawingml/2006/main">
            <a:pPr lvl="1">
              <a:buNone/>
            </a:pPr>
            <a:r>
              <a:t>둘째 수준</a:t>
            </a:r>
          </a:p>
          <a:p xmlns:a="http://schemas.openxmlformats.org/drawingml/2006/main">
            <a:pPr lvl="2">
              <a:buNone/>
            </a:pPr>
            <a:r>
              <a:t>셋째 수준</a:t>
            </a:r>
          </a:p>
          <a:p xmlns:a="http://schemas.openxmlformats.org/drawingml/2006/main">
            <a:pPr lvl="3">
              <a:buNone/>
            </a:pPr>
            <a:r>
              <a:t>넷째 수준</a:t>
            </a:r>
          </a:p>
          <a:p xmlns:a="http://schemas.openxmlformats.org/drawingml/2006/main">
            <a:pPr lvl="4">
              <a:buNone/>
            </a:pPr>
            <a:r>
              <a:t>다섯째 수준</a:t>
            </a:r>
          </a:p>
        </p:txBody>
      </p:sp>
      <p:sp>
        <p:nvSpPr>
          <p:cNvPr id="4" name="내용 개체 틀 3">
            <a:extLst xmlns:a="http://schemas.openxmlformats.org/drawingml/2006/main">
              <a:ext uri="{FF2B5EF4-FFF2-40B4-BE49-F238E27FC236}">
                <a16:creationId xmlns:a16="http://schemas.microsoft.com/office/drawing/2014/main" id="{37337566-314F-45B9-A81F-CB385C94BE3C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마스터 텍스트 스타일을 편집합니다</a:t>
            </a:r>
          </a:p>
          <a:p xmlns:a="http://schemas.openxmlformats.org/drawingml/2006/main">
            <a:pPr lvl="1">
              <a:buNone/>
            </a:pPr>
            <a:r>
              <a:t>둘째 수준</a:t>
            </a:r>
          </a:p>
          <a:p xmlns:a="http://schemas.openxmlformats.org/drawingml/2006/main">
            <a:pPr lvl="2">
              <a:buNone/>
            </a:pPr>
            <a:r>
              <a:t>셋째 수준</a:t>
            </a:r>
          </a:p>
          <a:p xmlns:a="http://schemas.openxmlformats.org/drawingml/2006/main">
            <a:pPr lvl="3">
              <a:buNone/>
            </a:pPr>
            <a:r>
              <a:t>넷째 수준</a:t>
            </a:r>
          </a:p>
          <a:p xmlns:a="http://schemas.openxmlformats.org/drawingml/2006/main">
            <a:pPr lvl="4">
              <a:buNone/>
            </a:pPr>
            <a:r>
              <a:t>다섯째 수준</a:t>
            </a:r>
          </a:p>
        </p:txBody>
      </p:sp>
      <p:sp>
        <p:nvSpPr>
          <p:cNvPr id="5" name="날짜 개체 틀 4">
            <a:extLst xmlns:a="http://schemas.openxmlformats.org/drawingml/2006/main">
              <a:ext uri="{FF2B5EF4-FFF2-40B4-BE49-F238E27FC236}">
                <a16:creationId xmlns:a16="http://schemas.microsoft.com/office/drawing/2014/main" id="{F681BA63-5B35-46D6-9474-985FA16F0CB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7D10D11-2C95-44F2-9DFC-D0C737CB5390}" type="datetime1">
              <a:t>2026-07-02</a:t>
            </a:fld>
            <a:endParaRPr/>
          </a:p>
        </p:txBody>
      </p:sp>
      <p:sp>
        <p:nvSpPr>
          <p:cNvPr id="6" name="바닥글 개체 틀 5">
            <a:extLst xmlns:a="http://schemas.openxmlformats.org/drawingml/2006/main">
              <a:ext uri="{FF2B5EF4-FFF2-40B4-BE49-F238E27FC236}">
                <a16:creationId xmlns:a16="http://schemas.microsoft.com/office/drawing/2014/main" id="{540C3A13-C943-41EA-8AD8-18B080F0060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한이음 ▶ 프로그램 설계서</a:t>
            </a:r>
          </a:p>
        </p:txBody>
      </p:sp>
      <p:sp>
        <p:nvSpPr>
          <p:cNvPr id="7" name="슬라이드 번호 개체 틀 6">
            <a:extLst xmlns:a="http://schemas.openxmlformats.org/drawingml/2006/main">
              <a:ext uri="{FF2B5EF4-FFF2-40B4-BE49-F238E27FC236}">
                <a16:creationId xmlns:a16="http://schemas.microsoft.com/office/drawing/2014/main" id="{A3CB917B-0DA6-4668-B466-0B0001A5E0A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43FC95C-4A71-4760-A575-4AE7075BB6F0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제목 1">
            <a:extLst xmlns:a="http://schemas.openxmlformats.org/drawingml/2006/main">
              <a:ext uri="{FF2B5EF4-FFF2-40B4-BE49-F238E27FC236}">
                <a16:creationId xmlns:a16="http://schemas.microsoft.com/office/drawing/2014/main" id="{F68E0910-7169-46FA-9B0F-9C1001F12DB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마스터 제목 스타일 편집</a:t>
            </a:r>
          </a:p>
        </p:txBody>
      </p:sp>
      <p:sp>
        <p:nvSpPr>
          <p:cNvPr id="3" name="텍스트 개체 틀 2">
            <a:extLst xmlns:a="http://schemas.openxmlformats.org/drawingml/2006/main">
              <a:ext uri="{FF2B5EF4-FFF2-40B4-BE49-F238E27FC236}">
                <a16:creationId xmlns:a16="http://schemas.microsoft.com/office/drawing/2014/main" id="{51B213A7-0AEB-42CE-94A5-5C344DB3264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마스터 텍스트 스타일을 편집합니다</a:t>
            </a:r>
          </a:p>
        </p:txBody>
      </p:sp>
      <p:sp>
        <p:nvSpPr>
          <p:cNvPr id="4" name="내용 개체 틀 3">
            <a:extLst xmlns:a="http://schemas.openxmlformats.org/drawingml/2006/main">
              <a:ext uri="{FF2B5EF4-FFF2-40B4-BE49-F238E27FC236}">
                <a16:creationId xmlns:a16="http://schemas.microsoft.com/office/drawing/2014/main" id="{EA2E6E3E-E08E-457D-8985-1DF1EA35A366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마스터 텍스트 스타일을 편집합니다</a:t>
            </a:r>
          </a:p>
          <a:p xmlns:a="http://schemas.openxmlformats.org/drawingml/2006/main">
            <a:pPr lvl="1">
              <a:buNone/>
            </a:pPr>
            <a:r>
              <a:t>둘째 수준</a:t>
            </a:r>
          </a:p>
          <a:p xmlns:a="http://schemas.openxmlformats.org/drawingml/2006/main">
            <a:pPr lvl="2">
              <a:buNone/>
            </a:pPr>
            <a:r>
              <a:t>셋째 수준</a:t>
            </a:r>
          </a:p>
          <a:p xmlns:a="http://schemas.openxmlformats.org/drawingml/2006/main">
            <a:pPr lvl="3">
              <a:buNone/>
            </a:pPr>
            <a:r>
              <a:t>넷째 수준</a:t>
            </a:r>
          </a:p>
          <a:p xmlns:a="http://schemas.openxmlformats.org/drawingml/2006/main">
            <a:pPr lvl="4">
              <a:buNone/>
            </a:pPr>
            <a:r>
              <a:t>다섯째 수준</a:t>
            </a:r>
          </a:p>
        </p:txBody>
      </p:sp>
      <p:sp>
        <p:nvSpPr>
          <p:cNvPr id="5" name="텍스트 개체 틀 4">
            <a:extLst xmlns:a="http://schemas.openxmlformats.org/drawingml/2006/main">
              <a:ext uri="{FF2B5EF4-FFF2-40B4-BE49-F238E27FC236}">
                <a16:creationId xmlns:a16="http://schemas.microsoft.com/office/drawing/2014/main" id="{3FAECCE1-9EC8-4C17-85FA-A93FEC81C15A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마스터 텍스트 스타일을 편집합니다</a:t>
            </a:r>
          </a:p>
        </p:txBody>
      </p:sp>
      <p:sp>
        <p:nvSpPr>
          <p:cNvPr id="6" name="내용 개체 틀 5">
            <a:extLst xmlns:a="http://schemas.openxmlformats.org/drawingml/2006/main">
              <a:ext uri="{FF2B5EF4-FFF2-40B4-BE49-F238E27FC236}">
                <a16:creationId xmlns:a16="http://schemas.microsoft.com/office/drawing/2014/main" id="{9033FE23-C0C5-4ADD-B2B5-38029CB7E300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마스터 텍스트 스타일을 편집합니다</a:t>
            </a:r>
          </a:p>
          <a:p xmlns:a="http://schemas.openxmlformats.org/drawingml/2006/main">
            <a:pPr lvl="1">
              <a:buNone/>
            </a:pPr>
            <a:r>
              <a:t>둘째 수준</a:t>
            </a:r>
          </a:p>
          <a:p xmlns:a="http://schemas.openxmlformats.org/drawingml/2006/main">
            <a:pPr lvl="2">
              <a:buNone/>
            </a:pPr>
            <a:r>
              <a:t>셋째 수준</a:t>
            </a:r>
          </a:p>
          <a:p xmlns:a="http://schemas.openxmlformats.org/drawingml/2006/main">
            <a:pPr lvl="3">
              <a:buNone/>
            </a:pPr>
            <a:r>
              <a:t>넷째 수준</a:t>
            </a:r>
          </a:p>
          <a:p xmlns:a="http://schemas.openxmlformats.org/drawingml/2006/main">
            <a:pPr lvl="4">
              <a:buNone/>
            </a:pPr>
            <a:r>
              <a:t>다섯째 수준</a:t>
            </a:r>
          </a:p>
        </p:txBody>
      </p:sp>
      <p:sp>
        <p:nvSpPr>
          <p:cNvPr id="7" name="날짜 개체 틀 6">
            <a:extLst xmlns:a="http://schemas.openxmlformats.org/drawingml/2006/main">
              <a:ext uri="{FF2B5EF4-FFF2-40B4-BE49-F238E27FC236}">
                <a16:creationId xmlns:a16="http://schemas.microsoft.com/office/drawing/2014/main" id="{3980AE80-6D44-41E3-BE2A-5FE60B1B430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5135845-0C4F-469E-8726-3EBFD71077A7}" type="datetime1">
              <a:t>2026-07-02</a:t>
            </a:fld>
            <a:endParaRPr/>
          </a:p>
        </p:txBody>
      </p:sp>
      <p:sp>
        <p:nvSpPr>
          <p:cNvPr id="8" name="바닥글 개체 틀 7">
            <a:extLst xmlns:a="http://schemas.openxmlformats.org/drawingml/2006/main">
              <a:ext uri="{FF2B5EF4-FFF2-40B4-BE49-F238E27FC236}">
                <a16:creationId xmlns:a16="http://schemas.microsoft.com/office/drawing/2014/main" id="{7CD01B1C-8511-4CCA-92D4-6FA80C873E0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한이음 ▶ 프로그램 설계서</a:t>
            </a:r>
          </a:p>
        </p:txBody>
      </p:sp>
      <p:sp>
        <p:nvSpPr>
          <p:cNvPr id="9" name="슬라이드 번호 개체 틀 8">
            <a:extLst xmlns:a="http://schemas.openxmlformats.org/drawingml/2006/main">
              <a:ext uri="{FF2B5EF4-FFF2-40B4-BE49-F238E27FC236}">
                <a16:creationId xmlns:a16="http://schemas.microsoft.com/office/drawing/2014/main" id="{B4643395-E6E9-4042-AD4B-F28264A80E3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43FC95C-4A71-4760-A575-4AE7075BB6F0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제목 1">
            <a:extLst xmlns:a="http://schemas.openxmlformats.org/drawingml/2006/main">
              <a:ext uri="{FF2B5EF4-FFF2-40B4-BE49-F238E27FC236}">
                <a16:creationId xmlns:a16="http://schemas.microsoft.com/office/drawing/2014/main" id="{592F7BD5-C0B3-43B6-92A8-B325534BBF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마스터 제목 스타일 편집</a:t>
            </a:r>
          </a:p>
        </p:txBody>
      </p:sp>
      <p:sp>
        <p:nvSpPr>
          <p:cNvPr id="3" name="날짜 개체 틀 2">
            <a:extLst xmlns:a="http://schemas.openxmlformats.org/drawingml/2006/main">
              <a:ext uri="{FF2B5EF4-FFF2-40B4-BE49-F238E27FC236}">
                <a16:creationId xmlns:a16="http://schemas.microsoft.com/office/drawing/2014/main" id="{07AB2A5D-0D48-4FBB-83C3-39EF706569A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80FC019-3CDA-4483-987D-B12D1EB4D233}" type="datetime1">
              <a:t>2026-07-02</a:t>
            </a:fld>
            <a:endParaRPr/>
          </a:p>
        </p:txBody>
      </p:sp>
      <p:sp>
        <p:nvSpPr>
          <p:cNvPr id="4" name="바닥글 개체 틀 3">
            <a:extLst xmlns:a="http://schemas.openxmlformats.org/drawingml/2006/main">
              <a:ext uri="{FF2B5EF4-FFF2-40B4-BE49-F238E27FC236}">
                <a16:creationId xmlns:a16="http://schemas.microsoft.com/office/drawing/2014/main" id="{C9C76022-8F01-40D2-9129-2569CDCD51C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한이음 ▶ 프로그램 설계서</a:t>
            </a:r>
          </a:p>
        </p:txBody>
      </p:sp>
      <p:sp>
        <p:nvSpPr>
          <p:cNvPr id="5" name="슬라이드 번호 개체 틀 4">
            <a:extLst xmlns:a="http://schemas.openxmlformats.org/drawingml/2006/main">
              <a:ext uri="{FF2B5EF4-FFF2-40B4-BE49-F238E27FC236}">
                <a16:creationId xmlns:a16="http://schemas.microsoft.com/office/drawing/2014/main" id="{21F8534D-DAC1-445F-8274-65C7B2818C7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43FC95C-4A71-4760-A575-4AE7075BB6F0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날짜 개체 틀 1">
            <a:extLst xmlns:a="http://schemas.openxmlformats.org/drawingml/2006/main">
              <a:ext uri="{FF2B5EF4-FFF2-40B4-BE49-F238E27FC236}">
                <a16:creationId xmlns:a16="http://schemas.microsoft.com/office/drawing/2014/main" id="{0C5F4DFE-A88C-440D-B611-3C3259CAE3C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5936E48-2907-481B-8F8C-35E94B4338B9}" type="datetime1">
              <a:t>2026-07-02</a:t>
            </a:fld>
            <a:endParaRPr/>
          </a:p>
        </p:txBody>
      </p:sp>
      <p:sp>
        <p:nvSpPr>
          <p:cNvPr id="3" name="바닥글 개체 틀 2">
            <a:extLst xmlns:a="http://schemas.openxmlformats.org/drawingml/2006/main">
              <a:ext uri="{FF2B5EF4-FFF2-40B4-BE49-F238E27FC236}">
                <a16:creationId xmlns:a16="http://schemas.microsoft.com/office/drawing/2014/main" id="{73F3C8DA-B84E-4E1A-A2F5-954B340EECA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한이음 ▶ 프로그램 설계서</a:t>
            </a:r>
          </a:p>
        </p:txBody>
      </p:sp>
      <p:sp>
        <p:nvSpPr>
          <p:cNvPr id="4" name="슬라이드 번호 개체 틀 3">
            <a:extLst xmlns:a="http://schemas.openxmlformats.org/drawingml/2006/main">
              <a:ext uri="{FF2B5EF4-FFF2-40B4-BE49-F238E27FC236}">
                <a16:creationId xmlns:a16="http://schemas.microsoft.com/office/drawing/2014/main" id="{CD8593F4-7A67-44CB-A658-C297355DF3A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43FC95C-4A71-4760-A575-4AE7075BB6F0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제목 1">
            <a:extLst xmlns:a="http://schemas.openxmlformats.org/drawingml/2006/main">
              <a:ext uri="{FF2B5EF4-FFF2-40B4-BE49-F238E27FC236}">
                <a16:creationId xmlns:a16="http://schemas.microsoft.com/office/drawing/2014/main" id="{BFBC0864-0027-49C8-B0C2-D6805F15331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마스터 제목 스타일 편집</a:t>
            </a:r>
          </a:p>
        </p:txBody>
      </p:sp>
      <p:sp>
        <p:nvSpPr>
          <p:cNvPr id="3" name="내용 개체 틀 2">
            <a:extLst xmlns:a="http://schemas.openxmlformats.org/drawingml/2006/main">
              <a:ext uri="{FF2B5EF4-FFF2-40B4-BE49-F238E27FC236}">
                <a16:creationId xmlns:a16="http://schemas.microsoft.com/office/drawing/2014/main" id="{7EBEBA95-1739-40A1-95B3-2CF5EBE4933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마스터 텍스트 스타일을 편집합니다</a:t>
            </a:r>
          </a:p>
          <a:p xmlns:a="http://schemas.openxmlformats.org/drawingml/2006/main">
            <a:pPr lvl="1">
              <a:buNone/>
            </a:pPr>
            <a:r>
              <a:t>둘째 수준</a:t>
            </a:r>
          </a:p>
          <a:p xmlns:a="http://schemas.openxmlformats.org/drawingml/2006/main">
            <a:pPr lvl="2">
              <a:buNone/>
            </a:pPr>
            <a:r>
              <a:t>셋째 수준</a:t>
            </a:r>
          </a:p>
          <a:p xmlns:a="http://schemas.openxmlformats.org/drawingml/2006/main">
            <a:pPr lvl="3">
              <a:buNone/>
            </a:pPr>
            <a:r>
              <a:t>넷째 수준</a:t>
            </a:r>
          </a:p>
          <a:p xmlns:a="http://schemas.openxmlformats.org/drawingml/2006/main">
            <a:pPr lvl="4">
              <a:buNone/>
            </a:pPr>
            <a:r>
              <a:t>다섯째 수준</a:t>
            </a:r>
          </a:p>
        </p:txBody>
      </p:sp>
      <p:sp>
        <p:nvSpPr>
          <p:cNvPr id="4" name="텍스트 개체 틀 3">
            <a:extLst xmlns:a="http://schemas.openxmlformats.org/drawingml/2006/main">
              <a:ext uri="{FF2B5EF4-FFF2-40B4-BE49-F238E27FC236}">
                <a16:creationId xmlns:a16="http://schemas.microsoft.com/office/drawing/2014/main" id="{2F776F4F-6FBB-4B5E-9629-6E73D1CF566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마스터 텍스트 스타일을 편집합니다</a:t>
            </a:r>
          </a:p>
        </p:txBody>
      </p:sp>
      <p:sp>
        <p:nvSpPr>
          <p:cNvPr id="5" name="날짜 개체 틀 4">
            <a:extLst xmlns:a="http://schemas.openxmlformats.org/drawingml/2006/main">
              <a:ext uri="{FF2B5EF4-FFF2-40B4-BE49-F238E27FC236}">
                <a16:creationId xmlns:a16="http://schemas.microsoft.com/office/drawing/2014/main" id="{19E93325-AB57-455E-9550-3109A2D1729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76D1E666-04C9-40C3-88DF-F7C22C7A6172}" type="datetime1">
              <a:t>2026-07-02</a:t>
            </a:fld>
            <a:endParaRPr/>
          </a:p>
        </p:txBody>
      </p:sp>
      <p:sp>
        <p:nvSpPr>
          <p:cNvPr id="6" name="바닥글 개체 틀 5">
            <a:extLst xmlns:a="http://schemas.openxmlformats.org/drawingml/2006/main">
              <a:ext uri="{FF2B5EF4-FFF2-40B4-BE49-F238E27FC236}">
                <a16:creationId xmlns:a16="http://schemas.microsoft.com/office/drawing/2014/main" id="{9AC30FE3-A212-479D-808D-DE8C95471BB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한이음 ▶ 프로그램 설계서</a:t>
            </a:r>
          </a:p>
        </p:txBody>
      </p:sp>
      <p:sp>
        <p:nvSpPr>
          <p:cNvPr id="7" name="슬라이드 번호 개체 틀 6">
            <a:extLst xmlns:a="http://schemas.openxmlformats.org/drawingml/2006/main">
              <a:ext uri="{FF2B5EF4-FFF2-40B4-BE49-F238E27FC236}">
                <a16:creationId xmlns:a16="http://schemas.microsoft.com/office/drawing/2014/main" id="{191731E1-408D-4F8E-8B7B-0556923FEBD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43FC95C-4A71-4760-A575-4AE7075BB6F0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제목 1">
            <a:extLst xmlns:a="http://schemas.openxmlformats.org/drawingml/2006/main">
              <a:ext uri="{FF2B5EF4-FFF2-40B4-BE49-F238E27FC236}">
                <a16:creationId xmlns:a16="http://schemas.microsoft.com/office/drawing/2014/main" id="{0B59D4B2-A015-44A0-8C2E-90853C3088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마스터 제목 스타일 편집</a:t>
            </a:r>
          </a:p>
        </p:txBody>
      </p:sp>
      <p:sp>
        <p:nvSpPr>
          <p:cNvPr id="3" name="그림 개체 틀 2">
            <a:extLst xmlns:a="http://schemas.openxmlformats.org/drawingml/2006/main">
              <a:ext uri="{FF2B5EF4-FFF2-40B4-BE49-F238E27FC236}">
                <a16:creationId xmlns:a16="http://schemas.microsoft.com/office/drawing/2014/main" id="{06C564D9-5731-41BB-9A40-00A26755750C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텍스트 개체 틀 3">
            <a:extLst xmlns:a="http://schemas.openxmlformats.org/drawingml/2006/main">
              <a:ext uri="{FF2B5EF4-FFF2-40B4-BE49-F238E27FC236}">
                <a16:creationId xmlns:a16="http://schemas.microsoft.com/office/drawing/2014/main" id="{EF3BDB84-AC51-4C27-99D4-CB3A402CA9B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마스터 텍스트 스타일을 편집합니다</a:t>
            </a:r>
          </a:p>
        </p:txBody>
      </p:sp>
      <p:sp>
        <p:nvSpPr>
          <p:cNvPr id="5" name="날짜 개체 틀 4">
            <a:extLst xmlns:a="http://schemas.openxmlformats.org/drawingml/2006/main">
              <a:ext uri="{FF2B5EF4-FFF2-40B4-BE49-F238E27FC236}">
                <a16:creationId xmlns:a16="http://schemas.microsoft.com/office/drawing/2014/main" id="{D1CC2E4D-4A98-46B5-BEE9-7AC89720E49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1D27B48-006F-4BC1-BDC8-3C8CA726AC13}" type="datetime1">
              <a:t>2026-07-02</a:t>
            </a:fld>
            <a:endParaRPr/>
          </a:p>
        </p:txBody>
      </p:sp>
      <p:sp>
        <p:nvSpPr>
          <p:cNvPr id="6" name="바닥글 개체 틀 5">
            <a:extLst xmlns:a="http://schemas.openxmlformats.org/drawingml/2006/main">
              <a:ext uri="{FF2B5EF4-FFF2-40B4-BE49-F238E27FC236}">
                <a16:creationId xmlns:a16="http://schemas.microsoft.com/office/drawing/2014/main" id="{8A901FAA-4401-4549-9FB9-A94771858D9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한이음 ▶ 프로그램 설계서</a:t>
            </a:r>
          </a:p>
        </p:txBody>
      </p:sp>
      <p:sp>
        <p:nvSpPr>
          <p:cNvPr id="7" name="슬라이드 번호 개체 틀 6">
            <a:extLst xmlns:a="http://schemas.openxmlformats.org/drawingml/2006/main">
              <a:ext uri="{FF2B5EF4-FFF2-40B4-BE49-F238E27FC236}">
                <a16:creationId xmlns:a16="http://schemas.microsoft.com/office/drawing/2014/main" id="{50CE4E39-FABE-4B2A-B020-E25BCD5F57F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43FC95C-4A71-4760-A575-4AE7075BB6F0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제목 1">
            <a:extLst xmlns:a="http://schemas.openxmlformats.org/drawingml/2006/main">
              <a:ext uri="{FF2B5EF4-FFF2-40B4-BE49-F238E27FC236}">
                <a16:creationId xmlns:a16="http://schemas.microsoft.com/office/drawing/2014/main" id="{1695D5C8-159C-45E4-8A78-130CA297C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마스터 제목 스타일 편집</a:t>
            </a:r>
          </a:p>
        </p:txBody>
      </p:sp>
      <p:sp>
        <p:nvSpPr>
          <p:cNvPr id="3" name="세로 텍스트 개체 틀 2">
            <a:extLst xmlns:a="http://schemas.openxmlformats.org/drawingml/2006/main">
              <a:ext uri="{FF2B5EF4-FFF2-40B4-BE49-F238E27FC236}">
                <a16:creationId xmlns:a16="http://schemas.microsoft.com/office/drawing/2014/main" id="{E2FE8E52-747A-45EA-916D-2DC1F4FD1B8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마스터 텍스트 스타일을 편집합니다</a:t>
            </a:r>
          </a:p>
          <a:p xmlns:a="http://schemas.openxmlformats.org/drawingml/2006/main">
            <a:pPr lvl="1">
              <a:buNone/>
            </a:pPr>
            <a:r>
              <a:t>둘째 수준</a:t>
            </a:r>
          </a:p>
          <a:p xmlns:a="http://schemas.openxmlformats.org/drawingml/2006/main">
            <a:pPr lvl="2">
              <a:buNone/>
            </a:pPr>
            <a:r>
              <a:t>셋째 수준</a:t>
            </a:r>
          </a:p>
          <a:p xmlns:a="http://schemas.openxmlformats.org/drawingml/2006/main">
            <a:pPr lvl="3">
              <a:buNone/>
            </a:pPr>
            <a:r>
              <a:t>넷째 수준</a:t>
            </a:r>
          </a:p>
          <a:p xmlns:a="http://schemas.openxmlformats.org/drawingml/2006/main">
            <a:pPr lvl="4">
              <a:buNone/>
            </a:pPr>
            <a:r>
              <a:t>다섯째 수준</a:t>
            </a:r>
          </a:p>
        </p:txBody>
      </p:sp>
      <p:sp>
        <p:nvSpPr>
          <p:cNvPr id="4" name="날짜 개체 틀 3">
            <a:extLst xmlns:a="http://schemas.openxmlformats.org/drawingml/2006/main">
              <a:ext uri="{FF2B5EF4-FFF2-40B4-BE49-F238E27FC236}">
                <a16:creationId xmlns:a16="http://schemas.microsoft.com/office/drawing/2014/main" id="{ECC91281-7798-4DF9-B80D-DE7E0C0DBB9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022DE9A-8BD0-4588-90EC-B8326F0668FE}" type="datetime1">
              <a:t>2026-07-02</a:t>
            </a:fld>
            <a:endParaRPr/>
          </a:p>
        </p:txBody>
      </p:sp>
      <p:sp>
        <p:nvSpPr>
          <p:cNvPr id="5" name="바닥글 개체 틀 4">
            <a:extLst xmlns:a="http://schemas.openxmlformats.org/drawingml/2006/main">
              <a:ext uri="{FF2B5EF4-FFF2-40B4-BE49-F238E27FC236}">
                <a16:creationId xmlns:a16="http://schemas.microsoft.com/office/drawing/2014/main" id="{341046F2-E688-4FC3-AE67-105DABA0497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한이음 ▶ 프로그램 설계서</a:t>
            </a:r>
          </a:p>
        </p:txBody>
      </p:sp>
      <p:sp>
        <p:nvSpPr>
          <p:cNvPr id="6" name="슬라이드 번호 개체 틀 5">
            <a:extLst xmlns:a="http://schemas.openxmlformats.org/drawingml/2006/main">
              <a:ext uri="{FF2B5EF4-FFF2-40B4-BE49-F238E27FC236}">
                <a16:creationId xmlns:a16="http://schemas.microsoft.com/office/drawing/2014/main" id="{548CBBC4-BACC-45CB-A96C-36F8498A504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43FC95C-4A71-4760-A575-4AE7075BB6F0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세로 제목 1">
            <a:extLst xmlns:a="http://schemas.openxmlformats.org/drawingml/2006/main">
              <a:ext uri="{FF2B5EF4-FFF2-40B4-BE49-F238E27FC236}">
                <a16:creationId xmlns:a16="http://schemas.microsoft.com/office/drawing/2014/main" id="{0AF13A5C-CC02-4240-BE7E-D457350089C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마스터 제목 스타일 편집</a:t>
            </a:r>
          </a:p>
        </p:txBody>
      </p:sp>
      <p:sp>
        <p:nvSpPr>
          <p:cNvPr id="3" name="세로 텍스트 개체 틀 2">
            <a:extLst xmlns:a="http://schemas.openxmlformats.org/drawingml/2006/main">
              <a:ext uri="{FF2B5EF4-FFF2-40B4-BE49-F238E27FC236}">
                <a16:creationId xmlns:a16="http://schemas.microsoft.com/office/drawing/2014/main" id="{9E29E3F2-5CC0-4AAC-9C3B-F3766BEC589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마스터 텍스트 스타일을 편집합니다</a:t>
            </a:r>
          </a:p>
          <a:p xmlns:a="http://schemas.openxmlformats.org/drawingml/2006/main">
            <a:pPr lvl="1">
              <a:buNone/>
            </a:pPr>
            <a:r>
              <a:t>둘째 수준</a:t>
            </a:r>
          </a:p>
          <a:p xmlns:a="http://schemas.openxmlformats.org/drawingml/2006/main">
            <a:pPr lvl="2">
              <a:buNone/>
            </a:pPr>
            <a:r>
              <a:t>셋째 수준</a:t>
            </a:r>
          </a:p>
          <a:p xmlns:a="http://schemas.openxmlformats.org/drawingml/2006/main">
            <a:pPr lvl="3">
              <a:buNone/>
            </a:pPr>
            <a:r>
              <a:t>넷째 수준</a:t>
            </a:r>
          </a:p>
          <a:p xmlns:a="http://schemas.openxmlformats.org/drawingml/2006/main">
            <a:pPr lvl="4">
              <a:buNone/>
            </a:pPr>
            <a:r>
              <a:t>다섯째 수준</a:t>
            </a:r>
          </a:p>
        </p:txBody>
      </p:sp>
      <p:sp>
        <p:nvSpPr>
          <p:cNvPr id="4" name="날짜 개체 틀 3">
            <a:extLst xmlns:a="http://schemas.openxmlformats.org/drawingml/2006/main">
              <a:ext uri="{FF2B5EF4-FFF2-40B4-BE49-F238E27FC236}">
                <a16:creationId xmlns:a16="http://schemas.microsoft.com/office/drawing/2014/main" id="{5B2119A9-D711-4C46-B146-FEE05016FDF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77F8B5EE-9957-45ED-8881-249F27AAE9BD}" type="datetime1">
              <a:t>2026-07-02</a:t>
            </a:fld>
            <a:endParaRPr/>
          </a:p>
        </p:txBody>
      </p:sp>
      <p:sp>
        <p:nvSpPr>
          <p:cNvPr id="5" name="바닥글 개체 틀 4">
            <a:extLst xmlns:a="http://schemas.openxmlformats.org/drawingml/2006/main">
              <a:ext uri="{FF2B5EF4-FFF2-40B4-BE49-F238E27FC236}">
                <a16:creationId xmlns:a16="http://schemas.microsoft.com/office/drawing/2014/main" id="{7B9FF057-95E0-49AC-9809-73422CFFA96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한이음 ▶ 프로그램 설계서</a:t>
            </a:r>
          </a:p>
        </p:txBody>
      </p:sp>
      <p:sp>
        <p:nvSpPr>
          <p:cNvPr id="6" name="슬라이드 번호 개체 틀 5">
            <a:extLst xmlns:a="http://schemas.openxmlformats.org/drawingml/2006/main">
              <a:ext uri="{FF2B5EF4-FFF2-40B4-BE49-F238E27FC236}">
                <a16:creationId xmlns:a16="http://schemas.microsoft.com/office/drawing/2014/main" id="{23C8B054-9EFC-4404-AEF6-56800CAB2B6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43FC95C-4A71-4760-A575-4AE7075BB6F0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aa618acbc804609" /><Relationship Type="http://schemas.openxmlformats.org/officeDocument/2006/relationships/slideLayout" Target="/ppt/slideLayouts/slideLayout1.xml" Id="R696dd979e7ba46ee" /><Relationship Type="http://schemas.openxmlformats.org/officeDocument/2006/relationships/slideLayout" Target="/ppt/slideLayouts/slideLayout2.xml" Id="R3957ff3392184e15" /><Relationship Type="http://schemas.openxmlformats.org/officeDocument/2006/relationships/slideLayout" Target="/ppt/slideLayouts/slideLayout3.xml" Id="R65dd130601684da1" /><Relationship Type="http://schemas.openxmlformats.org/officeDocument/2006/relationships/slideLayout" Target="/ppt/slideLayouts/slideLayout4.xml" Id="R94fd42ce0d26495e" /><Relationship Type="http://schemas.openxmlformats.org/officeDocument/2006/relationships/slideLayout" Target="/ppt/slideLayouts/slideLayout5.xml" Id="Rc8c1fc3e43894cdd" /><Relationship Type="http://schemas.openxmlformats.org/officeDocument/2006/relationships/slideLayout" Target="/ppt/slideLayouts/slideLayout6.xml" Id="Radfcd3a8b32b448d" /><Relationship Type="http://schemas.openxmlformats.org/officeDocument/2006/relationships/slideLayout" Target="/ppt/slideLayouts/slideLayout7.xml" Id="Rc305c51fbf6a4250" /><Relationship Type="http://schemas.openxmlformats.org/officeDocument/2006/relationships/slideLayout" Target="/ppt/slideLayouts/slideLayout8.xml" Id="Rad176233ee8c44ff" /><Relationship Type="http://schemas.openxmlformats.org/officeDocument/2006/relationships/slideLayout" Target="/ppt/slideLayouts/slideLayout9.xml" Id="R03e1112c5f034741" /><Relationship Type="http://schemas.openxmlformats.org/officeDocument/2006/relationships/slideLayout" Target="/ppt/slideLayouts/slideLayout10.xml" Id="Rd5161b7a335c4ca9" /><Relationship Type="http://schemas.openxmlformats.org/officeDocument/2006/relationships/slideLayout" Target="/ppt/slideLayouts/slideLayout11.xml" Id="R35b4d502fc7d490f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제목 개체 틀 1">
            <a:extLst xmlns:a="http://schemas.openxmlformats.org/drawingml/2006/main">
              <a:ext uri="{FF2B5EF4-FFF2-40B4-BE49-F238E27FC236}">
                <a16:creationId xmlns:a16="http://schemas.microsoft.com/office/drawing/2014/main" id="{5222677E-F595-41DE-901C-E9946DD27B7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마스터 제목 스타일 편집</a:t>
            </a:r>
          </a:p>
        </p:txBody>
      </p:sp>
      <p:sp>
        <p:nvSpPr>
          <p:cNvPr id="3" name="텍스트 개체 틀 2">
            <a:extLst xmlns:a="http://schemas.openxmlformats.org/drawingml/2006/main">
              <a:ext uri="{FF2B5EF4-FFF2-40B4-BE49-F238E27FC236}">
                <a16:creationId xmlns:a16="http://schemas.microsoft.com/office/drawing/2014/main" id="{421CDBBE-061D-43D1-BA2A-14F2DB5C903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마스터 텍스트 스타일을 편집합니다</a:t>
            </a:r>
          </a:p>
          <a:p xmlns:a="http://schemas.openxmlformats.org/drawingml/2006/main">
            <a:pPr lvl="1">
              <a:buNone/>
            </a:pPr>
            <a:r>
              <a:t>둘째 수준</a:t>
            </a:r>
          </a:p>
          <a:p xmlns:a="http://schemas.openxmlformats.org/drawingml/2006/main">
            <a:pPr lvl="2">
              <a:buNone/>
            </a:pPr>
            <a:r>
              <a:t>셋째 수준</a:t>
            </a:r>
          </a:p>
          <a:p xmlns:a="http://schemas.openxmlformats.org/drawingml/2006/main">
            <a:pPr lvl="3">
              <a:buNone/>
            </a:pPr>
            <a:r>
              <a:t>넷째 수준</a:t>
            </a:r>
          </a:p>
          <a:p xmlns:a="http://schemas.openxmlformats.org/drawingml/2006/main">
            <a:pPr lvl="4">
              <a:buNone/>
            </a:pPr>
            <a:r>
              <a:t>다섯째 수준</a:t>
            </a:r>
          </a:p>
        </p:txBody>
      </p:sp>
      <p:sp>
        <p:nvSpPr>
          <p:cNvPr id="4" name="날짜 개체 틀 3">
            <a:extLst xmlns:a="http://schemas.openxmlformats.org/drawingml/2006/main">
              <a:ext uri="{FF2B5EF4-FFF2-40B4-BE49-F238E27FC236}">
                <a16:creationId xmlns:a16="http://schemas.microsoft.com/office/drawing/2014/main" id="{B2271BB6-B75A-4B0D-9469-A71BA8FD7836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4926EC2E-D34C-4476-B4C7-64731BF56572}" type="datetime1">
              <a:t>2026-07-02</a:t>
            </a:fld>
            <a:endParaRPr/>
          </a:p>
        </p:txBody>
      </p:sp>
      <p:sp>
        <p:nvSpPr>
          <p:cNvPr id="5" name="바닥글 개체 틀 4">
            <a:extLst xmlns:a="http://schemas.openxmlformats.org/drawingml/2006/main">
              <a:ext uri="{FF2B5EF4-FFF2-40B4-BE49-F238E27FC236}">
                <a16:creationId xmlns:a16="http://schemas.microsoft.com/office/drawing/2014/main" id="{5088A60C-94D7-4815-A625-646827715A7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한이음 ▶ 프로그램 설계서</a:t>
            </a:r>
          </a:p>
        </p:txBody>
      </p:sp>
      <p:sp>
        <p:nvSpPr>
          <p:cNvPr id="6" name="슬라이드 번호 개체 틀 5">
            <a:extLst xmlns:a="http://schemas.openxmlformats.org/drawingml/2006/main">
              <a:ext uri="{FF2B5EF4-FFF2-40B4-BE49-F238E27FC236}">
                <a16:creationId xmlns:a16="http://schemas.microsoft.com/office/drawing/2014/main" id="{308CC7DD-ED11-4EB4-99CA-698879F3840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343FC95C-4A71-4760-A575-4AE7075BB6F0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96dd979e7ba46ee"/>
    <p:sldLayoutId xmlns:r="http://schemas.openxmlformats.org/officeDocument/2006/relationships" id="2147483650" r:id="R3957ff3392184e15"/>
    <p:sldLayoutId xmlns:r="http://schemas.openxmlformats.org/officeDocument/2006/relationships" id="2147483651" r:id="R65dd130601684da1"/>
    <p:sldLayoutId xmlns:r="http://schemas.openxmlformats.org/officeDocument/2006/relationships" id="2147483652" r:id="R94fd42ce0d26495e"/>
    <p:sldLayoutId xmlns:r="http://schemas.openxmlformats.org/officeDocument/2006/relationships" id="2147483653" r:id="Rc8c1fc3e43894cdd"/>
    <p:sldLayoutId xmlns:r="http://schemas.openxmlformats.org/officeDocument/2006/relationships" id="2147483654" r:id="Radfcd3a8b32b448d"/>
    <p:sldLayoutId xmlns:r="http://schemas.openxmlformats.org/officeDocument/2006/relationships" id="2147483655" r:id="Rc305c51fbf6a4250"/>
    <p:sldLayoutId xmlns:r="http://schemas.openxmlformats.org/officeDocument/2006/relationships" id="2147483656" r:id="Rad176233ee8c44ff"/>
    <p:sldLayoutId xmlns:r="http://schemas.openxmlformats.org/officeDocument/2006/relationships" id="2147483657" r:id="R03e1112c5f034741"/>
    <p:sldLayoutId xmlns:r="http://schemas.openxmlformats.org/officeDocument/2006/relationships" id="2147483658" r:id="Rd5161b7a335c4ca9"/>
    <p:sldLayoutId xmlns:r="http://schemas.openxmlformats.org/officeDocument/2006/relationships" id="2147483659" r:id="R35b4d502fc7d490f"/>
  </p:sldLayoutIdLst>
  <p:hf sldNum="0" hd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ff44d5b729458a" /><Relationship Type="http://schemas.openxmlformats.org/officeDocument/2006/relationships/image" Target="/ppt/media/image.png" Id="R6d5865b174474825" /><Relationship Type="http://schemas.openxmlformats.org/officeDocument/2006/relationships/image" Target="/ppt/media/image2.png" Id="R70b2df94db544ca9" /><Relationship Type="http://schemas.openxmlformats.org/officeDocument/2006/relationships/notesSlide" Target="/ppt/notesSlides/notesSlide1.xml" Id="R82883811271a429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fa31fa666c441aa" /><Relationship Type="http://schemas.openxmlformats.org/officeDocument/2006/relationships/image" Target="/ppt/media/image3.png" Id="R934f581070fc42dc" /><Relationship Type="http://schemas.openxmlformats.org/officeDocument/2006/relationships/notesSlide" Target="/ppt/notesSlides/notesSlide2.xml" Id="R29dd060d23c3406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e145a0f60454490" /><Relationship Type="http://schemas.openxmlformats.org/officeDocument/2006/relationships/image" Target="/ppt/media/image3.png" Id="R08b6750c40f147a5" /><Relationship Type="http://schemas.openxmlformats.org/officeDocument/2006/relationships/notesSlide" Target="/ppt/notesSlides/notesSlide3.xml" Id="Rc81b5975f964422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88acea7257d4bdd" /><Relationship Type="http://schemas.openxmlformats.org/officeDocument/2006/relationships/image" Target="/ppt/media/image3.png" Id="R7924ce4db9e244f3" /><Relationship Type="http://schemas.openxmlformats.org/officeDocument/2006/relationships/notesSlide" Target="/ppt/notesSlides/notesSlide4.xml" Id="R05eb6f2366b9496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ee36388fc70406b" /><Relationship Type="http://schemas.openxmlformats.org/officeDocument/2006/relationships/image" Target="/ppt/media/image3.png" Id="R1947d530c4cf4930" /><Relationship Type="http://schemas.openxmlformats.org/officeDocument/2006/relationships/notesSlide" Target="/ppt/notesSlides/notesSlide5.xml" Id="R6ae460e1b52e460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aeedccefb0f4220" /><Relationship Type="http://schemas.openxmlformats.org/officeDocument/2006/relationships/image" Target="/ppt/media/image3.png" Id="R230cdeef9d314715" /><Relationship Type="http://schemas.openxmlformats.org/officeDocument/2006/relationships/image" Target="/ppt/media/image4.png" Id="Rcece5743afd64b66" /><Relationship Type="http://schemas.openxmlformats.org/officeDocument/2006/relationships/image" Target="/ppt/media/image5.png" Id="R87395353070c4de8" /><Relationship Type="http://schemas.openxmlformats.org/officeDocument/2006/relationships/notesSlide" Target="/ppt/notesSlides/notesSlide6.xml" Id="R0abe2df944924c0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81b2d0d463d45be" /><Relationship Type="http://schemas.openxmlformats.org/officeDocument/2006/relationships/image" Target="/ppt/media/image3.png" Id="Rb6fb9bde1d5d42b7" /><Relationship Type="http://schemas.openxmlformats.org/officeDocument/2006/relationships/image" Target="/ppt/media/image6.png" Id="Rc0fac3cae5bd4c17" /><Relationship Type="http://schemas.openxmlformats.org/officeDocument/2006/relationships/notesSlide" Target="/ppt/notesSlides/notesSlide7.xml" Id="R47184342a65b4a9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d67ab338f974be7" /><Relationship Type="http://schemas.openxmlformats.org/officeDocument/2006/relationships/image" Target="/ppt/media/image3.png" Id="R9142c327ddaf409f" /><Relationship Type="http://schemas.openxmlformats.org/officeDocument/2006/relationships/image" Target="/ppt/media/image7.png" Id="R43acfa845076408d" /><Relationship Type="http://schemas.openxmlformats.org/officeDocument/2006/relationships/image" Target="/ppt/media/image8.png" Id="Rdb5b0b0e6cd34380" /><Relationship Type="http://schemas.openxmlformats.org/officeDocument/2006/relationships/notesSlide" Target="/ppt/notesSlides/notesSlide8.xml" Id="R91692695a940496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9ba146ccc9f4e87" /><Relationship Type="http://schemas.openxmlformats.org/officeDocument/2006/relationships/image" Target="/ppt/media/image3.png" Id="Re26faf5210be4831" /><Relationship Type="http://schemas.openxmlformats.org/officeDocument/2006/relationships/image" Target="/ppt/media/image9.png" Id="R6069748e1518435e" /><Relationship Type="http://schemas.openxmlformats.org/officeDocument/2006/relationships/image" Target="/ppt/media/image10.png" Id="Re193ffe4db2947f6" /><Relationship Type="http://schemas.openxmlformats.org/officeDocument/2006/relationships/notesSlide" Target="/ppt/notesSlides/notesSlide9.xml" Id="R83c6227b859b4b0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3146811e1d5400d" /><Relationship Type="http://schemas.openxmlformats.org/officeDocument/2006/relationships/image" Target="/ppt/media/image3.png" Id="R5ee3044b0d0944db" /><Relationship Type="http://schemas.openxmlformats.org/officeDocument/2006/relationships/image" Target="/ppt/media/image11.png" Id="Rbb82ac84a9284a1b" /><Relationship Type="http://schemas.openxmlformats.org/officeDocument/2006/relationships/image" Target="/ppt/media/image12.png" Id="R347798df48144b46" /><Relationship Type="http://schemas.openxmlformats.org/officeDocument/2006/relationships/notesSlide" Target="/ppt/notesSlides/notesSlide10.xml" Id="Ra5bf7b32414b42d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b96b85289ca4c31" /><Relationship Type="http://schemas.openxmlformats.org/officeDocument/2006/relationships/image" Target="/ppt/media/image3.png" Id="R3302214353d545cc" /><Relationship Type="http://schemas.openxmlformats.org/officeDocument/2006/relationships/image" Target="/ppt/media/image13.png" Id="Rd86fcd7c099247c0" /><Relationship Type="http://schemas.openxmlformats.org/officeDocument/2006/relationships/image" Target="/ppt/media/image14.png" Id="R2e4ce10a6d6c44dc" /><Relationship Type="http://schemas.openxmlformats.org/officeDocument/2006/relationships/notesSlide" Target="/ppt/notesSlides/notesSlide11.xml" Id="R801cfd6e71bf4de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d70061ca7174cae" /><Relationship Type="http://schemas.openxmlformats.org/officeDocument/2006/relationships/image" Target="/ppt/media/image3.png" Id="R04c3fc08806142a0" /><Relationship Type="http://schemas.openxmlformats.org/officeDocument/2006/relationships/image" Target="/ppt/media/image15.png" Id="Ra2974b5e71e046e4" /><Relationship Type="http://schemas.openxmlformats.org/officeDocument/2006/relationships/notesSlide" Target="/ppt/notesSlides/notesSlide12.xml" Id="Re766335ec6b44456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06cc09f6b4744ec" /><Relationship Type="http://schemas.openxmlformats.org/officeDocument/2006/relationships/image" Target="/ppt/media/image3.png" Id="Rff68f58a5de84651" /><Relationship Type="http://schemas.openxmlformats.org/officeDocument/2006/relationships/notesSlide" Target="/ppt/notesSlides/notesSlide13.xml" Id="R5acfb3fee136456a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c7f55e25885470e" /><Relationship Type="http://schemas.openxmlformats.org/officeDocument/2006/relationships/image" Target="/ppt/media/image3.png" Id="Re8f6c01316da4a0c" /><Relationship Type="http://schemas.openxmlformats.org/officeDocument/2006/relationships/notesSlide" Target="/ppt/notesSlides/notesSlide14.xml" Id="R0f17256dcc324c4a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직사각형 19">
            <a:extLst xmlns:a="http://schemas.openxmlformats.org/drawingml/2006/main">
              <a:ext uri="{FF2B5EF4-FFF2-40B4-BE49-F238E27FC236}">
                <a16:creationId xmlns:a16="http://schemas.microsoft.com/office/drawing/2014/main" id="{F2A6B4A0-DDF5-4F46-B14B-0A3A85671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09120"/>
            <a:ext cx="9144000" cy="2348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6EB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39" name="Picture 1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d5865b174474825"/>
          <a:srcRect xmlns:a="http://schemas.openxmlformats.org/drawingml/2006/main" l="1036" t="0" r="0" b="0"/>
          <a:stretch xmlns:a="http://schemas.openxmlformats.org/drawingml/2006/main"/>
        </p:blipFill>
        <p:spPr>
          <a:xfrm xmlns:a="http://schemas.openxmlformats.org/drawingml/2006/main" rot="21600000">
            <a:off x="0" y="764704"/>
            <a:ext cx="4716016" cy="3524387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40" name="그림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b2df94db544ca9"/>
          <a:srcRect xmlns:a="http://schemas.openxmlformats.org/drawingml/2006/main" l="21956" t="40516" r="21023" b="44641"/>
          <a:stretch xmlns:a="http://schemas.openxmlformats.org/drawingml/2006/main"/>
        </p:blipFill>
        <p:spPr>
          <a:xfrm xmlns:a="http://schemas.openxmlformats.org/drawingml/2006/main">
            <a:off x="7528235" y="98344"/>
            <a:ext cx="1498208" cy="347199"/>
          </a:xfrm>
          <a:prstGeom xmlns:a="http://schemas.openxmlformats.org/drawingml/2006/main" prst="rect">
            <a:avLst/>
          </a:prstGeom>
        </p:spPr>
      </p:pic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838B818-4722-41D6-9999-FF5BF3727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019300"/>
            <a:ext cx="73152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9A3535"/>
                </a:solidFill>
                <a:latin typeface="맑은 고딕"/>
                <a:ea typeface="맑은 고딕"/>
                <a:cs typeface="맑은 고딕"/>
              </a:defRPr>
            </a:pPr>
            <a:r>
              <a:rPr sz="3675" b="1">
                <a:solidFill>
                  <a:srgbClr val="9A3535"/>
                </a:solidFill>
                <a:latin typeface="맑은 고딕"/>
                <a:ea typeface="맑은 고딕"/>
                <a:cs typeface="맑은 고딕"/>
              </a:rPr>
              <a:t>응용소프트웨어 제작설계서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7AD1061-17E8-466C-B723-EFB59BE31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886200"/>
            <a:ext cx="6134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77787A"/>
                </a:solidFill>
                <a:latin typeface="맑은 고딕"/>
                <a:ea typeface="맑은 고딕"/>
                <a:cs typeface="맑은 고딕"/>
              </a:defRPr>
            </a:pPr>
            <a:r>
              <a:rPr sz="2400" b="1">
                <a:solidFill>
                  <a:srgbClr val="77787A"/>
                </a:solidFill>
                <a:latin typeface="맑은 고딕"/>
                <a:ea typeface="맑은 고딕"/>
                <a:cs typeface="맑은 고딕"/>
              </a:rPr>
              <a:t>RE:ACTION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0D12458-C72B-4807-9B2D-D568ACD8C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819650"/>
            <a:ext cx="55816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424649"/>
                </a:solidFill>
                <a:latin typeface="맑은 고딕"/>
                <a:ea typeface="맑은 고딕"/>
                <a:cs typeface="맑은 고딕"/>
              </a:defRPr>
            </a:pPr>
            <a:r>
              <a:rPr sz="1950" b="0">
                <a:solidFill>
                  <a:srgbClr val="424649"/>
                </a:solidFill>
                <a:latin typeface="맑은 고딕"/>
                <a:ea typeface="맑은 고딕"/>
                <a:cs typeface="맑은 고딕"/>
              </a:rPr>
              <a:t>주요 기능과 화면 설계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3F00555-8D46-42A9-8560-52F269D84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5353050"/>
            <a:ext cx="2333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424649"/>
                </a:solidFill>
                <a:latin typeface="맑은 고딕"/>
                <a:ea typeface="맑은 고딕"/>
                <a:cs typeface="맑은 고딕"/>
              </a:defRPr>
            </a:pPr>
            <a:r>
              <a:rPr sz="1725" b="0">
                <a:solidFill>
                  <a:srgbClr val="424649"/>
                </a:solidFill>
                <a:latin typeface="맑은 고딕"/>
                <a:ea typeface="맑은 고딕"/>
                <a:cs typeface="맑은 고딕"/>
              </a:rPr>
              <a:t>2026. 09. 05</a:t>
            </a:r>
          </a:p>
        </p:txBody>
      </p:sp>
    </p:spTree>
    <p:extLst>
      <p:ext uri="{BB962C8B-B14F-4D97-AF65-F5344CB8AC3E}">
        <p14:creationId xmlns:p14="http://schemas.microsoft.com/office/powerpoint/2010/main" val="33892568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직사각형 23">
            <a:extLst xmlns:a="http://schemas.openxmlformats.org/drawingml/2006/main">
              <a:ext uri="{FF2B5EF4-FFF2-40B4-BE49-F238E27FC236}">
                <a16:creationId xmlns:a16="http://schemas.microsoft.com/office/drawing/2014/main" id="{87FE247D-BCD8-49C9-AB08-42C204606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504" y="0"/>
            <a:ext cx="3096344" cy="1124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5AA8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5" name="직선 연결선 24">
            <a:extLst xmlns:a="http://schemas.openxmlformats.org/drawingml/2006/main">
              <a:ext uri="{FF2B5EF4-FFF2-40B4-BE49-F238E27FC236}">
                <a16:creationId xmlns:a16="http://schemas.microsoft.com/office/drawing/2014/main" id="{56E72A93-616C-44BF-B205-95E477EF8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356" y="541195"/>
            <a:ext cx="2591728" cy="0"/>
          </a:xfrm>
          <a:prstGeom xmlns:a="http://schemas.openxmlformats.org/drawingml/2006/main" prst="line">
            <a:avLst/>
          </a:prstGeom>
          <a:ln xmlns:a="http://schemas.openxmlformats.org/drawingml/2006/main" w="28575">
            <a:solidFill>
              <a:schemeClr val="bg1">
                <a:lumMod val="95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6" name="직선 연결선 25">
            <a:extLst xmlns:a="http://schemas.openxmlformats.org/drawingml/2006/main">
              <a:ext uri="{FF2B5EF4-FFF2-40B4-BE49-F238E27FC236}">
                <a16:creationId xmlns:a16="http://schemas.microsoft.com/office/drawing/2014/main" id="{072C1394-538A-4BCF-9224-0784E0A04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5856" y="548680"/>
            <a:ext cx="5328592" cy="0"/>
          </a:xfrm>
          <a:prstGeom xmlns:a="http://schemas.openxmlformats.org/drawingml/2006/main" prst="line">
            <a:avLst/>
          </a:prstGeom>
          <a:ln xmlns:a="http://schemas.openxmlformats.org/drawingml/2006/main" w="28575">
            <a:solidFill>
              <a:srgbClr val="3B5AA8"/>
            </a:solidFill>
          </a:ln>
        </p:spPr>
        <p:style>
          <a:lnRef xmlns:a="http://schemas.openxmlformats.org/drawingml/2006/main" idx="1">
            <a:schemeClr val="accent4"/>
          </a:lnRef>
          <a:fillRef xmlns:a="http://schemas.openxmlformats.org/drawingml/2006/main" idx="0">
            <a:schemeClr val="accent4"/>
          </a:fillRef>
          <a:effectRef xmlns:a="http://schemas.openxmlformats.org/drawingml/2006/main" idx="0">
            <a:schemeClr val="accent4"/>
          </a:effectRef>
          <a:fontRef xmlns:a="http://schemas.openxmlformats.org/drawingml/2006/main" idx="minor">
            <a:schemeClr val="tx1"/>
          </a:fontRef>
        </p:style>
      </p:sp>
      <p:sp>
        <p:nvSpPr>
          <p:cNvPr id="27" name="제목 12">
            <a:extLst xmlns:a="http://schemas.openxmlformats.org/drawingml/2006/main">
              <a:ext uri="{FF2B5EF4-FFF2-40B4-BE49-F238E27FC236}">
                <a16:creationId xmlns:a16="http://schemas.microsoft.com/office/drawing/2014/main" id="{99D20B54-FBA0-40C2-B7F4-249D25DD9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528" y="692696"/>
            <a:ext cx="2880320" cy="29663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 defTabSz="91440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 sz="17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defRPr>
            </a:pPr>
            <a:r>
              <a:rPr sz="1700" b="1" i="0" u="none" cap="none" spc="0">
                <a:ln>
                  <a:noFill/>
                </a:ln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서비스 개요</a:t>
            </a:r>
            <a:endParaRPr sz="1700" b="0" i="0" u="none" kern="1200" cap="none" spc="-50" baseline="0">
              <a:ln>
                <a:noFill/>
              </a:ln>
              <a:solidFill>
                <a:schemeClr val="bg1"/>
              </a:solidFill>
              <a:latin typeface="+mn-ea"/>
              <a:ea typeface="+mn-ea"/>
              <a:cs typeface="+mn-ea"/>
            </a:endParaRPr>
          </a:p>
        </p:txBody>
      </p:sp>
      <p:pic>
        <p:nvPicPr>
          <p:cNvPr id="115" name="Pictur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4f581070fc42dc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676456" y="476671"/>
            <a:ext cx="454960" cy="158965"/>
          </a:xfrm>
          <a:prstGeom xmlns:a="http://schemas.openxmlformats.org/drawingml/2006/main" prst="rect">
            <a:avLst/>
          </a:prstGeom>
          <a:ln xmlns:a="http://schemas.openxmlformats.org/drawingml/2006/main" w="9525">
            <a:noFill/>
            <a:miter/>
          </a:ln>
        </p:spPr>
      </p:pic>
      <p:sp>
        <p:nvSpPr>
          <p:cNvPr id="32" name="막힌 원호 31">
            <a:extLst xmlns:a="http://schemas.openxmlformats.org/drawingml/2006/main">
              <a:ext uri="{FF2B5EF4-FFF2-40B4-BE49-F238E27FC236}">
                <a16:creationId xmlns:a16="http://schemas.microsoft.com/office/drawing/2014/main" id="{9618B776-B49F-4D0C-880D-07488DEBF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-577697" y="-576001"/>
            <a:ext cx="1181047" cy="1167213"/>
          </a:xfrm>
          <a:prstGeom xmlns:a="http://schemas.openxmlformats.org/drawingml/2006/main" prst="blockArc">
            <a:avLst>
              <a:gd name="adj1" fmla="val 16158679"/>
              <a:gd name="adj2" fmla="val 0"/>
              <a:gd name="adj3" fmla="val 25000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solidFill>
                <a:schemeClr val="tx1"/>
              </a:solidFill>
            </a:endParaRP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24D1E2BC-51CC-4B56-AAAC-9076DC199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38250"/>
            <a:ext cx="8324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24292F"/>
                </a:solidFill>
                <a:latin typeface="맑은 고딕"/>
                <a:ea typeface="맑은 고딕"/>
                <a:cs typeface="맑은 고딕"/>
              </a:defRPr>
            </a:pPr>
            <a:r>
              <a:rPr sz="2100" b="1">
                <a:solidFill>
                  <a:srgbClr val="24292F"/>
                </a:solidFill>
                <a:latin typeface="맑은 고딕"/>
                <a:ea typeface="맑은 고딕"/>
                <a:cs typeface="맑은 고딕"/>
              </a:rPr>
              <a:t>목표 계획과 실행 회복 흐름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0D0C55DC-EBD7-4090-A629-E22B7E130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48425"/>
            <a:ext cx="69532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B6570"/>
                </a:solidFill>
                <a:latin typeface="맑은 고딕"/>
                <a:ea typeface="맑은 고딕"/>
                <a:cs typeface="맑은 고딕"/>
              </a:defRPr>
            </a:pPr>
            <a:r>
              <a:rPr sz="900" b="0">
                <a:solidFill>
                  <a:srgbClr val="5B6570"/>
                </a:solidFill>
                <a:latin typeface="맑은 고딕"/>
                <a:ea typeface="맑은 고딕"/>
                <a:cs typeface="맑은 고딕"/>
              </a:rPr>
              <a:t>RE:ACTION  /  제작설계서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FCDE6A9A-9722-4FBE-B95F-D23E859C2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6448425"/>
            <a:ext cx="4000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B6570"/>
                </a:solidFill>
                <a:latin typeface="맑은 고딕"/>
                <a:ea typeface="맑은 고딕"/>
                <a:cs typeface="맑은 고딕"/>
              </a:defRPr>
            </a:pPr>
            <a:r>
              <a:rPr sz="900" b="0">
                <a:solidFill>
                  <a:srgbClr val="5B6570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FA435629-A812-4B20-B1A4-C7DC9C43C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828800"/>
            <a:ext cx="8286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24292F"/>
                </a:solidFill>
                <a:latin typeface="맑은 고딕"/>
                <a:ea typeface="맑은 고딕"/>
                <a:cs typeface="맑은 고딕"/>
              </a:defRPr>
            </a:pPr>
            <a:r>
              <a:rPr sz="1875" b="1">
                <a:solidFill>
                  <a:srgbClr val="24292F"/>
                </a:solidFill>
                <a:latin typeface="맑은 고딕"/>
                <a:ea typeface="맑은 고딕"/>
                <a:cs typeface="맑은 고딕"/>
              </a:rPr>
              <a:t>해야 할 일을 정하고, 실행이 끊기면 못한 이유를 확인한다.</a:t>
            </a:r>
          </a:p>
          <a:p xmlns:a="http://schemas.openxmlformats.org/drawingml/2006/main">
            <a:pPr>
              <a:defRPr sz="1875" b="1">
                <a:solidFill>
                  <a:srgbClr val="24292F"/>
                </a:solidFill>
                <a:latin typeface="맑은 고딕"/>
                <a:ea typeface="맑은 고딕"/>
                <a:cs typeface="맑은 고딕"/>
              </a:defRPr>
            </a:pPr>
            <a:r>
              <a:rPr sz="1875" b="1">
                <a:solidFill>
                  <a:srgbClr val="24292F"/>
                </a:solidFill>
                <a:latin typeface="맑은 고딕"/>
                <a:ea typeface="맑은 고딕"/>
                <a:cs typeface="맑은 고딕"/>
              </a:rPr>
              <a:t>다시 할 수 있도록 분량과 시간을 조정한다.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E8E1509D-6288-4A7F-88BA-744874E10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876550"/>
            <a:ext cx="18859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A"/>
          </a:solidFill>
          <a:ln xmlns:a="http://schemas.openxmlformats.org/drawingml/2006/main" w="9525">
            <a:solidFill>
              <a:srgbClr val="3B5AA8"/>
            </a:solidFill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4B684200-6370-40AA-A507-806D2674D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876550"/>
            <a:ext cx="18859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A"/>
          </a:solidFill>
          <a:ln xmlns:a="http://schemas.openxmlformats.org/drawingml/2006/main" w="9525">
            <a:solidFill>
              <a:srgbClr val="3B5AA8"/>
            </a:solidFill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06FC9AC4-2370-4D93-931C-B8C308E20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876550"/>
            <a:ext cx="18859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A"/>
          </a:solidFill>
          <a:ln xmlns:a="http://schemas.openxmlformats.org/drawingml/2006/main" w="9525">
            <a:solidFill>
              <a:srgbClr val="3B5AA8"/>
            </a:solidFill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59E35A67-AEC7-4F2F-9FC1-D4D9536B0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876550"/>
            <a:ext cx="18859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A"/>
          </a:solidFill>
          <a:ln xmlns:a="http://schemas.openxmlformats.org/drawingml/2006/main" w="9525">
            <a:solidFill>
              <a:srgbClr val="3B5AA8"/>
            </a:solidFill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8CA1EFAA-43C4-4768-8B55-DBE08CCEE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19425"/>
            <a:ext cx="16573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4292F"/>
                </a:solidFill>
                <a:latin typeface="맑은 고딕"/>
                <a:ea typeface="맑은 고딕"/>
                <a:cs typeface="맑은 고딕"/>
              </a:defRPr>
            </a:pPr>
            <a:r>
              <a:rPr sz="1800" b="1">
                <a:solidFill>
                  <a:srgbClr val="24292F"/>
                </a:solidFill>
                <a:latin typeface="맑은 고딕"/>
                <a:ea typeface="맑은 고딕"/>
                <a:cs typeface="맑은 고딕"/>
              </a:rPr>
              <a:t>목표 파악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77172029-5FE3-415A-8D57-74E88FF85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019425"/>
            <a:ext cx="16573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4292F"/>
                </a:solidFill>
                <a:latin typeface="맑은 고딕"/>
                <a:ea typeface="맑은 고딕"/>
                <a:cs typeface="맑은 고딕"/>
              </a:defRPr>
            </a:pPr>
            <a:r>
              <a:rPr sz="1800" b="1">
                <a:solidFill>
                  <a:srgbClr val="24292F"/>
                </a:solidFill>
                <a:latin typeface="맑은 고딕"/>
                <a:ea typeface="맑은 고딕"/>
                <a:cs typeface="맑은 고딕"/>
              </a:rPr>
              <a:t>주간 계획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88DF20EE-870F-4F39-B3ED-ECA81B7FD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3019425"/>
            <a:ext cx="16573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4292F"/>
                </a:solidFill>
                <a:latin typeface="맑은 고딕"/>
                <a:ea typeface="맑은 고딕"/>
                <a:cs typeface="맑은 고딕"/>
              </a:defRPr>
            </a:pPr>
            <a:r>
              <a:rPr sz="1800" b="1">
                <a:solidFill>
                  <a:srgbClr val="24292F"/>
                </a:solidFill>
                <a:latin typeface="맑은 고딕"/>
                <a:ea typeface="맑은 고딕"/>
                <a:cs typeface="맑은 고딕"/>
              </a:rPr>
              <a:t>오늘 실행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0C10E245-D849-460A-8BC6-5F9BEE990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019425"/>
            <a:ext cx="16573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4292F"/>
                </a:solidFill>
                <a:latin typeface="맑은 고딕"/>
                <a:ea typeface="맑은 고딕"/>
                <a:cs typeface="맑은 고딕"/>
              </a:defRPr>
            </a:pPr>
            <a:r>
              <a:rPr sz="1800" b="1">
                <a:solidFill>
                  <a:srgbClr val="24292F"/>
                </a:solidFill>
                <a:latin typeface="맑은 고딕"/>
                <a:ea typeface="맑은 고딕"/>
                <a:cs typeface="맑은 고딕"/>
              </a:rPr>
              <a:t>주간 리뷰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5E760252-1C03-4626-B894-CDA59348F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505200"/>
            <a:ext cx="16573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B6570"/>
                </a:solidFill>
                <a:latin typeface="맑은 고딕"/>
                <a:ea typeface="맑은 고딕"/>
                <a:cs typeface="맑은 고딕"/>
              </a:defRPr>
            </a:pPr>
            <a:r>
              <a:rPr sz="1350" b="0">
                <a:solidFill>
                  <a:srgbClr val="5B6570"/>
                </a:solidFill>
                <a:latin typeface="맑은 고딕"/>
                <a:ea typeface="맑은 고딕"/>
                <a:cs typeface="맑은 고딕"/>
              </a:rPr>
              <a:t>목표와 조건 입력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2CDEB3C9-EB6D-454C-891A-D4CD3BF55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505200"/>
            <a:ext cx="16573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B6570"/>
                </a:solidFill>
                <a:latin typeface="맑은 고딕"/>
                <a:ea typeface="맑은 고딕"/>
                <a:cs typeface="맑은 고딕"/>
              </a:defRPr>
            </a:pPr>
            <a:r>
              <a:rPr sz="1350" b="0">
                <a:solidFill>
                  <a:srgbClr val="5B6570"/>
                </a:solidFill>
                <a:latin typeface="맑은 고딕"/>
                <a:ea typeface="맑은 고딕"/>
                <a:cs typeface="맑은 고딕"/>
              </a:rPr>
              <a:t>초안 수정과 승인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17029D7A-9E82-4FAF-B338-E8643C60D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3505200"/>
            <a:ext cx="16573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B6570"/>
                </a:solidFill>
                <a:latin typeface="맑은 고딕"/>
                <a:ea typeface="맑은 고딕"/>
                <a:cs typeface="맑은 고딕"/>
              </a:defRPr>
            </a:pPr>
            <a:r>
              <a:rPr sz="1350" b="0">
                <a:solidFill>
                  <a:srgbClr val="5B6570"/>
                </a:solidFill>
                <a:latin typeface="맑은 고딕"/>
                <a:ea typeface="맑은 고딕"/>
                <a:cs typeface="맑은 고딕"/>
              </a:rPr>
              <a:t>집중과 결과 기록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A5E91860-7743-473F-8744-740D81060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505200"/>
            <a:ext cx="16573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B6570"/>
                </a:solidFill>
                <a:latin typeface="맑은 고딕"/>
                <a:ea typeface="맑은 고딕"/>
                <a:cs typeface="맑은 고딕"/>
              </a:defRPr>
            </a:pPr>
            <a:r>
              <a:rPr sz="1350" b="0">
                <a:solidFill>
                  <a:srgbClr val="5B6570"/>
                </a:solidFill>
                <a:latin typeface="맑은 고딕"/>
                <a:ea typeface="맑은 고딕"/>
                <a:cs typeface="맑은 고딕"/>
              </a:rPr>
              <a:t>기록을 보고 조정</a:t>
            </a:r>
          </a:p>
        </p:txBody>
      </p:sp>
      <p:cxnSp>
        <p:nvCxnSpPr>
          <p:cNvPr id="133" name=""/>
          <p:cNvCxnSpPr>
            <a:stCxn xmlns:a="http://schemas.openxmlformats.org/drawingml/2006/main" id="91" idx="3"/>
            <a:endCxn xmlns:a="http://schemas.openxmlformats.org/drawingml/2006/main" id="92" idx="1"/>
          </p:cNvCxnSpPr>
          <p:nvPr/>
        </p:nvCxnSpPr>
        <p:spPr>
          <a:xfrm xmlns:a="http://schemas.openxmlformats.org/drawingml/2006/main">
            <a:off x="2305050" y="3409950"/>
            <a:ext cx="24765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3B5AA8"/>
            </a:solidFill>
            <a:tailEnd type="triangle" w="med" len="med"/>
          </a:ln>
        </p:spPr>
      </p:cxnSp>
      <p:cxnSp>
        <p:nvCxnSpPr>
          <p:cNvPr id="134" name=""/>
          <p:cNvCxnSpPr>
            <a:stCxn xmlns:a="http://schemas.openxmlformats.org/drawingml/2006/main" id="92" idx="3"/>
            <a:endCxn xmlns:a="http://schemas.openxmlformats.org/drawingml/2006/main" id="93" idx="1"/>
          </p:cNvCxnSpPr>
          <p:nvPr/>
        </p:nvCxnSpPr>
        <p:spPr>
          <a:xfrm xmlns:a="http://schemas.openxmlformats.org/drawingml/2006/main">
            <a:off x="4438650" y="3409950"/>
            <a:ext cx="24765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3B5AA8"/>
            </a:solidFill>
            <a:tailEnd type="triangle" w="med" len="med"/>
          </a:ln>
        </p:spPr>
      </p:cxnSp>
      <p:cxnSp>
        <p:nvCxnSpPr>
          <p:cNvPr id="135" name=""/>
          <p:cNvCxnSpPr>
            <a:stCxn xmlns:a="http://schemas.openxmlformats.org/drawingml/2006/main" id="93" idx="3"/>
            <a:endCxn xmlns:a="http://schemas.openxmlformats.org/drawingml/2006/main" id="94" idx="1"/>
          </p:cNvCxnSpPr>
          <p:nvPr/>
        </p:nvCxnSpPr>
        <p:spPr>
          <a:xfrm xmlns:a="http://schemas.openxmlformats.org/drawingml/2006/main">
            <a:off x="6572250" y="3409950"/>
            <a:ext cx="24765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3B5AA8"/>
            </a:solidFill>
            <a:tailEnd type="triangle" w="med" len="med"/>
          </a:ln>
        </p:spPr>
      </p:cxn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6E58BAF0-66C4-4E74-82B6-9129189DA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762500"/>
            <a:ext cx="24955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9"/>
          </a:solidFill>
          <a:ln xmlns:a="http://schemas.openxmlformats.org/drawingml/2006/main" w="9525">
            <a:solidFill>
              <a:srgbClr val="3B5AA8"/>
            </a:solidFill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9E472F"/>
                </a:solidFill>
                <a:latin typeface="맑은 고딕"/>
                <a:ea typeface="맑은 고딕"/>
                <a:cs typeface="맑은 고딕"/>
              </a:defRPr>
            </a:pPr>
            <a:r>
              <a:rPr sz="1800" b="1">
                <a:solidFill>
                  <a:srgbClr val="9E472F"/>
                </a:solidFill>
                <a:latin typeface="맑은 고딕"/>
                <a:ea typeface="맑은 고딕"/>
                <a:cs typeface="맑은 고딕"/>
              </a:rPr>
              <a:t>회복 계획 선택</a:t>
            </a:r>
          </a:p>
        </p:txBody>
      </p:sp>
      <p:cxnSp>
        <p:nvCxnSpPr>
          <p:cNvPr id="137" name=""/>
          <p:cNvCxnSpPr>
            <a:stCxn xmlns:a="http://schemas.openxmlformats.org/drawingml/2006/main" id="93" idx="2"/>
            <a:endCxn xmlns:a="http://schemas.openxmlformats.org/drawingml/2006/main" id="106" idx="0"/>
          </p:cNvCxnSpPr>
          <p:nvPr/>
        </p:nvCxnSpPr>
        <p:spPr>
          <a:xfrm xmlns:a="http://schemas.openxmlformats.org/drawingml/2006/main">
            <a:off x="5629275" y="3943350"/>
            <a:ext cx="152400" cy="8191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4288">
            <a:solidFill>
              <a:srgbClr val="3B5AA8"/>
            </a:solidFill>
            <a:tailEnd type="triangle" w="med" len="med"/>
          </a:ln>
        </p:spPr>
      </p:cxnSp>
      <p:cxnSp>
        <p:nvCxnSpPr>
          <p:cNvPr id="138" name=""/>
          <p:cNvCxnSpPr>
            <a:stCxn xmlns:a="http://schemas.openxmlformats.org/drawingml/2006/main" id="106" idx="1"/>
            <a:endCxn xmlns:a="http://schemas.openxmlformats.org/drawingml/2006/main" id="92" idx="2"/>
          </p:cNvCxnSpPr>
          <p:nvPr/>
        </p:nvCxnSpPr>
        <p:spPr>
          <a:xfrm xmlns:a="http://schemas.openxmlformats.org/drawingml/2006/main" flipH="1" flipV="1">
            <a:off x="3495675" y="3943350"/>
            <a:ext cx="1038225" cy="1133475"/>
          </a:xfrm>
          <a:prstGeom xmlns:a="http://schemas.openxmlformats.org/drawingml/2006/main" prst="bentConnector2">
            <a:avLst/>
          </a:prstGeom>
          <a:ln xmlns:a="http://schemas.openxmlformats.org/drawingml/2006/main" w="14288">
            <a:solidFill>
              <a:srgbClr val="3B5AA8"/>
            </a:solidFill>
            <a:tailEnd type="triangle" w="med" len="med"/>
          </a:ln>
        </p:spPr>
      </p:cxn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52A486A5-4DA3-41EC-A480-2ECA1CB3C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362450"/>
            <a:ext cx="20669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9E472F"/>
                </a:solidFill>
                <a:latin typeface="맑은 고딕"/>
                <a:ea typeface="맑은 고딕"/>
                <a:cs typeface="맑은 고딕"/>
              </a:defRPr>
            </a:pPr>
            <a:r>
              <a:rPr sz="1350" b="0">
                <a:solidFill>
                  <a:srgbClr val="9E472F"/>
                </a:solidFill>
                <a:latin typeface="맑은 고딕"/>
                <a:ea typeface="맑은 고딕"/>
                <a:cs typeface="맑은 고딕"/>
              </a:rPr>
              <a:t>일부 완료 또는 실패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74F92AC0-E30C-42BA-804D-BFAB672B1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819775"/>
            <a:ext cx="82486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defRPr>
            </a:pPr>
            <a:r>
              <a:rPr sz="1650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rPr>
              <a:t>분량을 줄이거나 시간을 바꾼다. 사용자가 확인한 변경만 반영한다.</a:t>
            </a:r>
          </a:p>
        </p:txBody>
      </p:sp>
    </p:spTree>
    <p:extLst>
      <p:ext uri="{BB962C8B-B14F-4D97-AF65-F5344CB8AC3E}">
        <p14:creationId xmlns:p14="http://schemas.microsoft.com/office/powerpoint/2010/main" val="3195766679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직사각형 23">
            <a:extLst xmlns:a="http://schemas.openxmlformats.org/drawingml/2006/main">
              <a:ext uri="{FF2B5EF4-FFF2-40B4-BE49-F238E27FC236}">
                <a16:creationId xmlns:a16="http://schemas.microsoft.com/office/drawing/2014/main" id="{87FE247D-BCD8-49C9-AB08-42C204606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504" y="0"/>
            <a:ext cx="3096344" cy="1124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5AA8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5" name="직선 연결선 24">
            <a:extLst xmlns:a="http://schemas.openxmlformats.org/drawingml/2006/main">
              <a:ext uri="{FF2B5EF4-FFF2-40B4-BE49-F238E27FC236}">
                <a16:creationId xmlns:a16="http://schemas.microsoft.com/office/drawing/2014/main" id="{56E72A93-616C-44BF-B205-95E477EF8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356" y="541195"/>
            <a:ext cx="2591728" cy="0"/>
          </a:xfrm>
          <a:prstGeom xmlns:a="http://schemas.openxmlformats.org/drawingml/2006/main" prst="line">
            <a:avLst/>
          </a:prstGeom>
          <a:ln xmlns:a="http://schemas.openxmlformats.org/drawingml/2006/main" w="28575">
            <a:solidFill>
              <a:schemeClr val="bg1">
                <a:lumMod val="95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6" name="직선 연결선 25">
            <a:extLst xmlns:a="http://schemas.openxmlformats.org/drawingml/2006/main">
              <a:ext uri="{FF2B5EF4-FFF2-40B4-BE49-F238E27FC236}">
                <a16:creationId xmlns:a16="http://schemas.microsoft.com/office/drawing/2014/main" id="{072C1394-538A-4BCF-9224-0784E0A04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5856" y="548680"/>
            <a:ext cx="5328592" cy="0"/>
          </a:xfrm>
          <a:prstGeom xmlns:a="http://schemas.openxmlformats.org/drawingml/2006/main" prst="line">
            <a:avLst/>
          </a:prstGeom>
          <a:ln xmlns:a="http://schemas.openxmlformats.org/drawingml/2006/main" w="28575">
            <a:solidFill>
              <a:srgbClr val="3B5AA8"/>
            </a:solidFill>
          </a:ln>
        </p:spPr>
        <p:style>
          <a:lnRef xmlns:a="http://schemas.openxmlformats.org/drawingml/2006/main" idx="1">
            <a:schemeClr val="accent4"/>
          </a:lnRef>
          <a:fillRef xmlns:a="http://schemas.openxmlformats.org/drawingml/2006/main" idx="0">
            <a:schemeClr val="accent4"/>
          </a:fillRef>
          <a:effectRef xmlns:a="http://schemas.openxmlformats.org/drawingml/2006/main" idx="0">
            <a:schemeClr val="accent4"/>
          </a:effectRef>
          <a:fontRef xmlns:a="http://schemas.openxmlformats.org/drawingml/2006/main" idx="minor">
            <a:schemeClr val="tx1"/>
          </a:fontRef>
        </p:style>
      </p:sp>
      <p:sp>
        <p:nvSpPr>
          <p:cNvPr id="27" name="제목 12">
            <a:extLst xmlns:a="http://schemas.openxmlformats.org/drawingml/2006/main">
              <a:ext uri="{FF2B5EF4-FFF2-40B4-BE49-F238E27FC236}">
                <a16:creationId xmlns:a16="http://schemas.microsoft.com/office/drawing/2014/main" id="{99D20B54-FBA0-40C2-B7F4-249D25DD9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528" y="692696"/>
            <a:ext cx="2880320" cy="29663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 defTabSz="91440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 sz="17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defRPr>
            </a:pPr>
            <a:r>
              <a:rPr sz="1700" b="1" i="0" u="none" cap="none" spc="0">
                <a:ln>
                  <a:noFill/>
                </a:ln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유즈케이스 정의서</a:t>
            </a:r>
            <a:endParaRPr sz="1700" b="0" i="0" u="none" kern="1200" cap="none" spc="-50" baseline="0">
              <a:ln>
                <a:noFill/>
              </a:ln>
              <a:solidFill>
                <a:schemeClr val="bg1"/>
              </a:solidFill>
              <a:latin typeface="+mn-ea"/>
              <a:ea typeface="+mn-ea"/>
              <a:cs typeface="+mn-ea"/>
            </a:endParaRPr>
          </a:p>
        </p:txBody>
      </p:sp>
      <p:pic>
        <p:nvPicPr>
          <p:cNvPr id="107" name="Pictur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b6750c40f147a5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676456" y="476671"/>
            <a:ext cx="454960" cy="158965"/>
          </a:xfrm>
          <a:prstGeom xmlns:a="http://schemas.openxmlformats.org/drawingml/2006/main" prst="rect">
            <a:avLst/>
          </a:prstGeom>
          <a:ln xmlns:a="http://schemas.openxmlformats.org/drawingml/2006/main" w="9525">
            <a:noFill/>
            <a:miter/>
          </a:ln>
        </p:spPr>
      </p:pic>
      <p:sp>
        <p:nvSpPr>
          <p:cNvPr id="32" name="막힌 원호 31">
            <a:extLst xmlns:a="http://schemas.openxmlformats.org/drawingml/2006/main">
              <a:ext uri="{FF2B5EF4-FFF2-40B4-BE49-F238E27FC236}">
                <a16:creationId xmlns:a16="http://schemas.microsoft.com/office/drawing/2014/main" id="{9618B776-B49F-4D0C-880D-07488DEBF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-577697" y="-576001"/>
            <a:ext cx="1181047" cy="1167213"/>
          </a:xfrm>
          <a:prstGeom xmlns:a="http://schemas.openxmlformats.org/drawingml/2006/main" prst="blockArc">
            <a:avLst>
              <a:gd name="adj1" fmla="val 16158679"/>
              <a:gd name="adj2" fmla="val 0"/>
              <a:gd name="adj3" fmla="val 25000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solidFill>
                <a:schemeClr val="tx1"/>
              </a:solidFill>
            </a:endParaRP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9FE50F3F-71C9-4FA1-8008-8A6D76BD8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38250"/>
            <a:ext cx="8324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24292F"/>
                </a:solidFill>
                <a:latin typeface="맑은 고딕"/>
                <a:ea typeface="맑은 고딕"/>
                <a:cs typeface="맑은 고딕"/>
              </a:defRPr>
            </a:pPr>
            <a:r>
              <a:rPr sz="2100" b="1">
                <a:solidFill>
                  <a:srgbClr val="24292F"/>
                </a:solidFill>
                <a:latin typeface="맑은 고딕"/>
                <a:ea typeface="맑은 고딕"/>
                <a:cs typeface="맑은 고딕"/>
              </a:rPr>
              <a:t>사용자와 주요 사용 목적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29ED21C8-A5D5-4F2C-8CB4-E1A31926E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48425"/>
            <a:ext cx="69532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B6570"/>
                </a:solidFill>
                <a:latin typeface="맑은 고딕"/>
                <a:ea typeface="맑은 고딕"/>
                <a:cs typeface="맑은 고딕"/>
              </a:defRPr>
            </a:pPr>
            <a:r>
              <a:rPr sz="900" b="0">
                <a:solidFill>
                  <a:srgbClr val="5B6570"/>
                </a:solidFill>
                <a:latin typeface="맑은 고딕"/>
                <a:ea typeface="맑은 고딕"/>
                <a:cs typeface="맑은 고딕"/>
              </a:rPr>
              <a:t>RE:ACTION  /  제작설계서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8BDF2A46-962C-445F-A8F6-5BD37D887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6448425"/>
            <a:ext cx="4000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B6570"/>
                </a:solidFill>
                <a:latin typeface="맑은 고딕"/>
                <a:ea typeface="맑은 고딕"/>
                <a:cs typeface="맑은 고딕"/>
              </a:defRPr>
            </a:pPr>
            <a:r>
              <a:rPr sz="900" b="0">
                <a:solidFill>
                  <a:srgbClr val="5B6570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3D0E5E44-B9CE-457B-9322-5A9DAEDB2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762125"/>
            <a:ext cx="5819775" cy="447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B5AA8"/>
            </a:solidFill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D34F7935-3C52-49DC-893E-A12682550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1866900"/>
            <a:ext cx="48577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3B5AA8"/>
                </a:solidFill>
                <a:latin typeface="맑은 고딕"/>
                <a:ea typeface="맑은 고딕"/>
                <a:cs typeface="맑은 고딕"/>
              </a:defRPr>
            </a:pPr>
            <a:r>
              <a:rPr sz="1575" b="1">
                <a:solidFill>
                  <a:srgbClr val="3B5AA8"/>
                </a:solidFill>
                <a:latin typeface="맑은 고딕"/>
                <a:ea typeface="맑은 고딕"/>
                <a:cs typeface="맑은 고딕"/>
              </a:rPr>
              <a:t>RE:ACTION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465126D4-4CBE-4778-A5BE-3D0F8EC81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38550"/>
            <a:ext cx="12763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B5AA8"/>
            </a:solidFill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24292F"/>
                </a:solidFill>
                <a:latin typeface="맑은 고딕"/>
                <a:ea typeface="맑은 고딕"/>
                <a:cs typeface="맑은 고딕"/>
              </a:defRPr>
            </a:pPr>
            <a:r>
              <a:rPr sz="1950" b="1">
                <a:solidFill>
                  <a:srgbClr val="24292F"/>
                </a:solidFill>
                <a:latin typeface="맑은 고딕"/>
                <a:ea typeface="맑은 고딕"/>
                <a:cs typeface="맑은 고딕"/>
              </a:rPr>
              <a:t>사용자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78432A2C-3BE1-4C87-844F-3205C1E7B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333625"/>
            <a:ext cx="4838700" cy="5810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1F4FA"/>
          </a:solidFill>
          <a:ln xmlns:a="http://schemas.openxmlformats.org/drawingml/2006/main" w="9525">
            <a:solidFill>
              <a:srgbClr val="3B5AA8"/>
            </a:solidFill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defRPr>
            </a:pPr>
            <a:r>
              <a:rPr sz="1575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rPr>
              <a:t>UC-01  목표별 실행 계획 만들기</a:t>
            </a:r>
          </a:p>
        </p:txBody>
      </p:sp>
      <p:cxnSp>
        <p:nvCxnSpPr>
          <p:cNvPr id="116" name=""/>
          <p:cNvCxnSpPr>
            <a:stCxn xmlns:a="http://schemas.openxmlformats.org/drawingml/2006/main" id="92" idx="3"/>
            <a:endCxn xmlns:a="http://schemas.openxmlformats.org/drawingml/2006/main" id="93" idx="2"/>
          </p:cNvCxnSpPr>
          <p:nvPr/>
        </p:nvCxnSpPr>
        <p:spPr>
          <a:xfrm xmlns:a="http://schemas.openxmlformats.org/drawingml/2006/main" flipV="1">
            <a:off x="1733550" y="2624138"/>
            <a:ext cx="1733550" cy="1357313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3B5AA8"/>
            </a:solidFill>
          </a:ln>
        </p:spPr>
      </p:cxn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EF73DD45-40F7-4220-A0E2-2844A40E1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3076575"/>
            <a:ext cx="4838700" cy="5810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1F4FA"/>
          </a:solidFill>
          <a:ln xmlns:a="http://schemas.openxmlformats.org/drawingml/2006/main" w="9525">
            <a:solidFill>
              <a:srgbClr val="3B5AA8"/>
            </a:solidFill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defRPr>
            </a:pPr>
            <a:r>
              <a:rPr sz="1575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rPr>
              <a:t>UC-02  궁극적 목표와 만다라트</a:t>
            </a:r>
          </a:p>
        </p:txBody>
      </p:sp>
      <p:cxnSp>
        <p:nvCxnSpPr>
          <p:cNvPr id="118" name=""/>
          <p:cNvCxnSpPr>
            <a:stCxn xmlns:a="http://schemas.openxmlformats.org/drawingml/2006/main" id="92" idx="3"/>
            <a:endCxn xmlns:a="http://schemas.openxmlformats.org/drawingml/2006/main" id="95" idx="2"/>
          </p:cNvCxnSpPr>
          <p:nvPr/>
        </p:nvCxnSpPr>
        <p:spPr>
          <a:xfrm xmlns:a="http://schemas.openxmlformats.org/drawingml/2006/main" flipV="1">
            <a:off x="1733550" y="3367088"/>
            <a:ext cx="1733550" cy="614363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3B5AA8"/>
            </a:solidFill>
          </a:ln>
        </p:spPr>
      </p:cxn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6BC701CF-46AA-4C52-89CD-BB0E5D51C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3819525"/>
            <a:ext cx="4838700" cy="5810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1F4FA"/>
          </a:solidFill>
          <a:ln xmlns:a="http://schemas.openxmlformats.org/drawingml/2006/main" w="9525">
            <a:solidFill>
              <a:srgbClr val="3B5AA8"/>
            </a:solidFill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defRPr>
            </a:pPr>
            <a:r>
              <a:rPr sz="1575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rPr>
              <a:t>UC-03  집중과 회복 기록</a:t>
            </a:r>
          </a:p>
        </p:txBody>
      </p:sp>
      <p:cxnSp>
        <p:nvCxnSpPr>
          <p:cNvPr id="120" name=""/>
          <p:cNvCxnSpPr>
            <a:stCxn xmlns:a="http://schemas.openxmlformats.org/drawingml/2006/main" id="92" idx="3"/>
            <a:endCxn xmlns:a="http://schemas.openxmlformats.org/drawingml/2006/main" id="97" idx="2"/>
          </p:cNvCxnSpPr>
          <p:nvPr/>
        </p:nvCxnSpPr>
        <p:spPr>
          <a:xfrm xmlns:a="http://schemas.openxmlformats.org/drawingml/2006/main">
            <a:off x="1733550" y="3981450"/>
            <a:ext cx="1733550" cy="128588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3B5AA8"/>
            </a:solidFill>
          </a:ln>
        </p:spPr>
      </p:cxn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C77C3EDF-A544-4D71-85DA-3D4DA0B60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4562475"/>
            <a:ext cx="4838700" cy="5810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1F4FA"/>
          </a:solidFill>
          <a:ln xmlns:a="http://schemas.openxmlformats.org/drawingml/2006/main" w="9525">
            <a:solidFill>
              <a:srgbClr val="3B5AA8"/>
            </a:solidFill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defRPr>
            </a:pPr>
            <a:r>
              <a:rPr sz="1575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rPr>
              <a:t>UC-04  주간 일정과 리뷰</a:t>
            </a:r>
          </a:p>
        </p:txBody>
      </p:sp>
      <p:cxnSp>
        <p:nvCxnSpPr>
          <p:cNvPr id="122" name=""/>
          <p:cNvCxnSpPr>
            <a:stCxn xmlns:a="http://schemas.openxmlformats.org/drawingml/2006/main" id="92" idx="3"/>
            <a:endCxn xmlns:a="http://schemas.openxmlformats.org/drawingml/2006/main" id="99" idx="2"/>
          </p:cNvCxnSpPr>
          <p:nvPr/>
        </p:nvCxnSpPr>
        <p:spPr>
          <a:xfrm xmlns:a="http://schemas.openxmlformats.org/drawingml/2006/main">
            <a:off x="1733550" y="3981450"/>
            <a:ext cx="1733550" cy="871538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3B5AA8"/>
            </a:solidFill>
          </a:ln>
        </p:spPr>
      </p:cxn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79DB7F9B-0D94-452D-9C45-344312DCD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5305425"/>
            <a:ext cx="4838700" cy="5810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1F4FA"/>
          </a:solidFill>
          <a:ln xmlns:a="http://schemas.openxmlformats.org/drawingml/2006/main" w="9525">
            <a:solidFill>
              <a:srgbClr val="3B5AA8"/>
            </a:solidFill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defRPr>
            </a:pPr>
            <a:r>
              <a:rPr sz="1575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rPr>
              <a:t>UC-05  메모를 목표와 할 일로 전환</a:t>
            </a:r>
          </a:p>
        </p:txBody>
      </p:sp>
      <p:cxnSp>
        <p:nvCxnSpPr>
          <p:cNvPr id="124" name=""/>
          <p:cNvCxnSpPr>
            <a:stCxn xmlns:a="http://schemas.openxmlformats.org/drawingml/2006/main" id="92" idx="3"/>
            <a:endCxn xmlns:a="http://schemas.openxmlformats.org/drawingml/2006/main" id="101" idx="2"/>
          </p:cNvCxnSpPr>
          <p:nvPr/>
        </p:nvCxnSpPr>
        <p:spPr>
          <a:xfrm xmlns:a="http://schemas.openxmlformats.org/drawingml/2006/main">
            <a:off x="1733550" y="3981450"/>
            <a:ext cx="1733550" cy="1614488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3B5AA8"/>
            </a:solidFill>
          </a:ln>
        </p:spPr>
      </p:cxnSp>
    </p:spTree>
    <p:extLst>
      <p:ext uri="{BB962C8B-B14F-4D97-AF65-F5344CB8AC3E}">
        <p14:creationId xmlns:p14="http://schemas.microsoft.com/office/powerpoint/2010/main" val="3195766679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직사각형 23">
            <a:extLst xmlns:a="http://schemas.openxmlformats.org/drawingml/2006/main">
              <a:ext uri="{FF2B5EF4-FFF2-40B4-BE49-F238E27FC236}">
                <a16:creationId xmlns:a16="http://schemas.microsoft.com/office/drawing/2014/main" id="{87FE247D-BCD8-49C9-AB08-42C204606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504" y="0"/>
            <a:ext cx="3096344" cy="1124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5AA8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5" name="직선 연결선 24">
            <a:extLst xmlns:a="http://schemas.openxmlformats.org/drawingml/2006/main">
              <a:ext uri="{FF2B5EF4-FFF2-40B4-BE49-F238E27FC236}">
                <a16:creationId xmlns:a16="http://schemas.microsoft.com/office/drawing/2014/main" id="{56E72A93-616C-44BF-B205-95E477EF8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356" y="541195"/>
            <a:ext cx="2591728" cy="0"/>
          </a:xfrm>
          <a:prstGeom xmlns:a="http://schemas.openxmlformats.org/drawingml/2006/main" prst="line">
            <a:avLst/>
          </a:prstGeom>
          <a:ln xmlns:a="http://schemas.openxmlformats.org/drawingml/2006/main" w="28575">
            <a:solidFill>
              <a:schemeClr val="bg1">
                <a:lumMod val="95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6" name="직선 연결선 25">
            <a:extLst xmlns:a="http://schemas.openxmlformats.org/drawingml/2006/main">
              <a:ext uri="{FF2B5EF4-FFF2-40B4-BE49-F238E27FC236}">
                <a16:creationId xmlns:a16="http://schemas.microsoft.com/office/drawing/2014/main" id="{072C1394-538A-4BCF-9224-0784E0A04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5856" y="548680"/>
            <a:ext cx="5328592" cy="0"/>
          </a:xfrm>
          <a:prstGeom xmlns:a="http://schemas.openxmlformats.org/drawingml/2006/main" prst="line">
            <a:avLst/>
          </a:prstGeom>
          <a:ln xmlns:a="http://schemas.openxmlformats.org/drawingml/2006/main" w="28575">
            <a:solidFill>
              <a:srgbClr val="3B5AA8"/>
            </a:solidFill>
          </a:ln>
        </p:spPr>
        <p:style>
          <a:lnRef xmlns:a="http://schemas.openxmlformats.org/drawingml/2006/main" idx="1">
            <a:schemeClr val="accent4"/>
          </a:lnRef>
          <a:fillRef xmlns:a="http://schemas.openxmlformats.org/drawingml/2006/main" idx="0">
            <a:schemeClr val="accent4"/>
          </a:fillRef>
          <a:effectRef xmlns:a="http://schemas.openxmlformats.org/drawingml/2006/main" idx="0">
            <a:schemeClr val="accent4"/>
          </a:effectRef>
          <a:fontRef xmlns:a="http://schemas.openxmlformats.org/drawingml/2006/main" idx="minor">
            <a:schemeClr val="tx1"/>
          </a:fontRef>
        </p:style>
      </p:sp>
      <p:sp>
        <p:nvSpPr>
          <p:cNvPr id="27" name="제목 12">
            <a:extLst xmlns:a="http://schemas.openxmlformats.org/drawingml/2006/main">
              <a:ext uri="{FF2B5EF4-FFF2-40B4-BE49-F238E27FC236}">
                <a16:creationId xmlns:a16="http://schemas.microsoft.com/office/drawing/2014/main" id="{99D20B54-FBA0-40C2-B7F4-249D25DD9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528" y="692696"/>
            <a:ext cx="2880320" cy="29663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 defTabSz="91440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 sz="17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defRPr>
            </a:pPr>
            <a:r>
              <a:rPr sz="1700" b="1" i="0" u="none" cap="none" spc="0">
                <a:ln>
                  <a:noFill/>
                </a:ln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유즈케이스 정의서</a:t>
            </a:r>
            <a:endParaRPr sz="1700" b="0" i="0" u="none" kern="1200" cap="none" spc="-50" baseline="0">
              <a:ln>
                <a:noFill/>
              </a:ln>
              <a:solidFill>
                <a:schemeClr val="bg1"/>
              </a:solidFill>
              <a:latin typeface="+mn-ea"/>
              <a:ea typeface="+mn-ea"/>
              <a:cs typeface="+mn-ea"/>
            </a:endParaRPr>
          </a:p>
        </p:txBody>
      </p:sp>
      <p:pic>
        <p:nvPicPr>
          <p:cNvPr id="96" name="Pictur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24ce4db9e244f3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676456" y="476671"/>
            <a:ext cx="454960" cy="158965"/>
          </a:xfrm>
          <a:prstGeom xmlns:a="http://schemas.openxmlformats.org/drawingml/2006/main" prst="rect">
            <a:avLst/>
          </a:prstGeom>
          <a:ln xmlns:a="http://schemas.openxmlformats.org/drawingml/2006/main" w="9525">
            <a:noFill/>
            <a:miter/>
          </a:ln>
        </p:spPr>
      </p:pic>
      <p:sp>
        <p:nvSpPr>
          <p:cNvPr id="32" name="막힌 원호 31">
            <a:extLst xmlns:a="http://schemas.openxmlformats.org/drawingml/2006/main">
              <a:ext uri="{FF2B5EF4-FFF2-40B4-BE49-F238E27FC236}">
                <a16:creationId xmlns:a16="http://schemas.microsoft.com/office/drawing/2014/main" id="{9618B776-B49F-4D0C-880D-07488DEBF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-577697" y="-576001"/>
            <a:ext cx="1181047" cy="1167213"/>
          </a:xfrm>
          <a:prstGeom xmlns:a="http://schemas.openxmlformats.org/drawingml/2006/main" prst="blockArc">
            <a:avLst>
              <a:gd name="adj1" fmla="val 16158679"/>
              <a:gd name="adj2" fmla="val 0"/>
              <a:gd name="adj3" fmla="val 25000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solidFill>
                <a:schemeClr val="tx1"/>
              </a:solidFill>
            </a:endParaRP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B34EB077-2A1E-4205-BB08-321D287CE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38250"/>
            <a:ext cx="8324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24292F"/>
                </a:solidFill>
                <a:latin typeface="맑은 고딕"/>
                <a:ea typeface="맑은 고딕"/>
                <a:cs typeface="맑은 고딕"/>
              </a:defRPr>
            </a:pPr>
            <a:r>
              <a:rPr sz="2100" b="1">
                <a:solidFill>
                  <a:srgbClr val="24292F"/>
                </a:solidFill>
                <a:latin typeface="맑은 고딕"/>
                <a:ea typeface="맑은 고딕"/>
                <a:cs typeface="맑은 고딕"/>
              </a:rPr>
              <a:t>시작 조건과 완료 결과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735EBCC0-6F37-48AB-BD3B-E890C654C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48425"/>
            <a:ext cx="69532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B6570"/>
                </a:solidFill>
                <a:latin typeface="맑은 고딕"/>
                <a:ea typeface="맑은 고딕"/>
                <a:cs typeface="맑은 고딕"/>
              </a:defRPr>
            </a:pPr>
            <a:r>
              <a:rPr sz="900" b="0">
                <a:solidFill>
                  <a:srgbClr val="5B6570"/>
                </a:solidFill>
                <a:latin typeface="맑은 고딕"/>
                <a:ea typeface="맑은 고딕"/>
                <a:cs typeface="맑은 고딕"/>
              </a:rPr>
              <a:t>RE:ACTION  /  제작설계서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5470A2A5-C3CC-4E75-AFEF-A60C39110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6448425"/>
            <a:ext cx="4000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B6570"/>
                </a:solidFill>
                <a:latin typeface="맑은 고딕"/>
                <a:ea typeface="맑은 고딕"/>
                <a:cs typeface="맑은 고딕"/>
              </a:defRPr>
            </a:pPr>
            <a:r>
              <a:rPr sz="900" b="0">
                <a:solidFill>
                  <a:srgbClr val="5B6570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graphicFrame>
        <p:nvGraphicFramePr>
          <p:cNvPr id="101" name=""/>
          <p:cNvGraphicFramePr/>
          <p:nvPr/>
        </p:nvGraphicFramePr>
        <p:xfrm>
          <a:off xmlns:a="http://schemas.openxmlformats.org/drawingml/2006/main" x="419100" y="1857375"/>
          <a:ext xmlns:a="http://schemas.openxmlformats.org/drawingml/2006/main" cx="8305800" cy="419100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1752600"/>
                <a:gridCol w="2790825"/>
                <a:gridCol w="3762375"/>
              </a:tblGrid>
              <a:tr h="381000">
                <a:tc>
                  <a:txBody>
                    <a:bodyPr wrap="square">
                      <a:noAutofit/>
                    </a:bodyPr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 목적</a:t>
                      </a:r>
                    </a:p>
                  </a:txBody>
                  <a:tcPr marL="91440" marR="91440" marT="45720" marB="45720">
                    <a:solidFill>
                      <a:srgbClr val="3B5AA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시작 조건</a:t>
                      </a:r>
                    </a:p>
                  </a:txBody>
                  <a:tcPr marL="91440" marR="91440" marT="45720" marB="45720">
                    <a:solidFill>
                      <a:srgbClr val="3B5AA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 결과</a:t>
                      </a:r>
                    </a:p>
                  </a:txBody>
                  <a:tcPr marL="91440" marR="91440" marT="45720" marB="45720">
                    <a:solidFill>
                      <a:srgbClr val="3B5AA8"/>
                    </a:solidFill>
                  </a:tcPr>
                </a:tc>
              </a:tr>
              <a:tr h="762000">
                <a:tc>
                  <a:txBody>
                    <a:bodyPr wrap="square">
                      <a:noAutofit/>
                    </a:bodyPr>
                    <a:lstStyle/>
                    <a:p>
                      <a:r>
                        <a:rPr sz="1500" b="1">
                          <a:solidFill>
                            <a:srgbClr val="24292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UC-01</a:t>
                      </a:r>
                    </a:p>
                    <a:p>
                      <a:r>
                        <a:rPr sz="1500" b="1">
                          <a:solidFill>
                            <a:srgbClr val="24292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실행 계획</a:t>
                      </a:r>
                    </a:p>
                  </a:txBody>
                  <a:tcPr marL="91440" marR="91440" marT="45720" marB="45720">
                    <a:solidFill>
                      <a:srgbClr val="F1F4FA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r>
                        <a:rPr sz="1500" b="0">
                          <a:solidFill>
                            <a:srgbClr val="24292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새 목표를 입력하거나</a:t>
                      </a:r>
                    </a:p>
                    <a:p>
                      <a:r>
                        <a:rPr sz="1500" b="0">
                          <a:solidFill>
                            <a:srgbClr val="24292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미계획 목표를 선택한다.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r>
                        <a:rPr sz="1500" b="0">
                          <a:solidFill>
                            <a:srgbClr val="24292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수정하고 승인한 할 일이</a:t>
                      </a:r>
                    </a:p>
                    <a:p>
                      <a:r>
                        <a:rPr sz="1500" b="0">
                          <a:solidFill>
                            <a:srgbClr val="24292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오늘과 주간 일정에 표시된다.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 wrap="square">
                      <a:noAutofit/>
                    </a:bodyPr>
                    <a:lstStyle/>
                    <a:p>
                      <a:r>
                        <a:rPr sz="1500" b="1">
                          <a:solidFill>
                            <a:srgbClr val="24292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UC-02</a:t>
                      </a:r>
                    </a:p>
                    <a:p>
                      <a:r>
                        <a:rPr sz="1500" b="1">
                          <a:solidFill>
                            <a:srgbClr val="24292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만다라트</a:t>
                      </a:r>
                    </a:p>
                  </a:txBody>
                  <a:tcPr marL="91440" marR="91440" marT="45720" marB="45720">
                    <a:solidFill>
                      <a:srgbClr val="F1F4FA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r>
                        <a:rPr sz="1500" b="0">
                          <a:solidFill>
                            <a:srgbClr val="24292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 관리에서</a:t>
                      </a:r>
                    </a:p>
                    <a:p>
                      <a:r>
                        <a:rPr sz="1500" b="0">
                          <a:solidFill>
                            <a:srgbClr val="24292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궁극적 목표를 만든다.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r>
                        <a:rPr sz="1500" b="0">
                          <a:solidFill>
                            <a:srgbClr val="24292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장기 목표, 하위 8개 영역,</a:t>
                      </a:r>
                    </a:p>
                    <a:p>
                      <a:r>
                        <a:rPr sz="1500" b="0">
                          <a:solidFill>
                            <a:srgbClr val="24292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영역별 행동을 관리한다.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 wrap="square">
                      <a:noAutofit/>
                    </a:bodyPr>
                    <a:lstStyle/>
                    <a:p>
                      <a:r>
                        <a:rPr sz="1500" b="1">
                          <a:solidFill>
                            <a:srgbClr val="24292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UC-03</a:t>
                      </a:r>
                    </a:p>
                    <a:p>
                      <a:r>
                        <a:rPr sz="1500" b="1">
                          <a:solidFill>
                            <a:srgbClr val="24292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실행과 회복</a:t>
                      </a:r>
                    </a:p>
                  </a:txBody>
                  <a:tcPr marL="91440" marR="91440" marT="45720" marB="45720">
                    <a:solidFill>
                      <a:srgbClr val="F1F4FA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r>
                        <a:rPr sz="1500" b="0">
                          <a:solidFill>
                            <a:srgbClr val="24292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오늘 할 일을 시작한다.</a:t>
                      </a:r>
                    </a:p>
                    <a:p>
                      <a:r>
                        <a:rPr sz="1500" b="0">
                          <a:solidFill>
                            <a:srgbClr val="24292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못한 경우 원인을 남긴다.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r>
                        <a:rPr sz="1500" b="0">
                          <a:solidFill>
                            <a:srgbClr val="24292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실행 결과를 기록한다. 필요하면</a:t>
                      </a:r>
                    </a:p>
                    <a:p>
                      <a:r>
                        <a:rPr sz="1500" b="0">
                          <a:solidFill>
                            <a:srgbClr val="24292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변경 계획을 확인하고 반영한다.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 wrap="square">
                      <a:noAutofit/>
                    </a:bodyPr>
                    <a:lstStyle/>
                    <a:p>
                      <a:r>
                        <a:rPr sz="1500" b="1">
                          <a:solidFill>
                            <a:srgbClr val="24292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UC-04</a:t>
                      </a:r>
                    </a:p>
                    <a:p>
                      <a:r>
                        <a:rPr sz="1500" b="1">
                          <a:solidFill>
                            <a:srgbClr val="24292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일정과 리뷰</a:t>
                      </a:r>
                    </a:p>
                  </a:txBody>
                  <a:tcPr marL="91440" marR="91440" marT="45720" marB="45720">
                    <a:solidFill>
                      <a:srgbClr val="F1F4FA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r>
                        <a:rPr sz="1500" b="0">
                          <a:solidFill>
                            <a:srgbClr val="24292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 계획이나</a:t>
                      </a:r>
                    </a:p>
                    <a:p>
                      <a:r>
                        <a:rPr sz="1500" b="0">
                          <a:solidFill>
                            <a:srgbClr val="24292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 리뷰를 연다.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r>
                        <a:rPr sz="1500" b="0">
                          <a:solidFill>
                            <a:srgbClr val="24292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일정 수정 결과와 실행 기록,</a:t>
                      </a:r>
                    </a:p>
                    <a:p>
                      <a:r>
                        <a:rPr sz="1500" b="0">
                          <a:solidFill>
                            <a:srgbClr val="24292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습관 조정 제안을 확인한다.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 wrap="square">
                      <a:noAutofit/>
                    </a:bodyPr>
                    <a:lstStyle/>
                    <a:p>
                      <a:r>
                        <a:rPr sz="1500" b="1">
                          <a:solidFill>
                            <a:srgbClr val="24292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UC-05</a:t>
                      </a:r>
                    </a:p>
                    <a:p>
                      <a:r>
                        <a:rPr sz="1500" b="1">
                          <a:solidFill>
                            <a:srgbClr val="24292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기록 전환</a:t>
                      </a:r>
                    </a:p>
                  </a:txBody>
                  <a:tcPr marL="91440" marR="91440" marT="45720" marB="45720">
                    <a:solidFill>
                      <a:srgbClr val="F1F4FA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r>
                        <a:rPr sz="1500" b="0">
                          <a:solidFill>
                            <a:srgbClr val="24292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생각이나 자료를</a:t>
                      </a:r>
                    </a:p>
                    <a:p>
                      <a:r>
                        <a:rPr sz="1500" b="0">
                          <a:solidFill>
                            <a:srgbClr val="24292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인박스에 적어둔다.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r>
                        <a:rPr sz="1500" b="0">
                          <a:solidFill>
                            <a:srgbClr val="24292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원문을 남긴 채 목표, 할 일로</a:t>
                      </a:r>
                    </a:p>
                    <a:p>
                      <a:r>
                        <a:rPr sz="1500" b="0">
                          <a:solidFill>
                            <a:srgbClr val="24292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옮기거나 자료 단계를 채택한다.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951BB04B-C7B9-4DEA-A345-C87036A54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153150"/>
            <a:ext cx="828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B6570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0">
                <a:solidFill>
                  <a:srgbClr val="5B6570"/>
                </a:solidFill>
                <a:latin typeface="맑은 고딕"/>
                <a:ea typeface="맑은 고딕"/>
                <a:cs typeface="맑은 고딕"/>
              </a:rPr>
              <a:t>공통 조건: 로그인한 사용자. 저장하지 못한 경우에는 완료로 처리하지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3195766679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직사각형 23">
            <a:extLst xmlns:a="http://schemas.openxmlformats.org/drawingml/2006/main">
              <a:ext uri="{FF2B5EF4-FFF2-40B4-BE49-F238E27FC236}">
                <a16:creationId xmlns:a16="http://schemas.microsoft.com/office/drawing/2014/main" id="{87FE247D-BCD8-49C9-AB08-42C204606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504" y="0"/>
            <a:ext cx="3096344" cy="1124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5AA8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5" name="직선 연결선 24">
            <a:extLst xmlns:a="http://schemas.openxmlformats.org/drawingml/2006/main">
              <a:ext uri="{FF2B5EF4-FFF2-40B4-BE49-F238E27FC236}">
                <a16:creationId xmlns:a16="http://schemas.microsoft.com/office/drawing/2014/main" id="{56E72A93-616C-44BF-B205-95E477EF8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356" y="541195"/>
            <a:ext cx="2591728" cy="0"/>
          </a:xfrm>
          <a:prstGeom xmlns:a="http://schemas.openxmlformats.org/drawingml/2006/main" prst="line">
            <a:avLst/>
          </a:prstGeom>
          <a:ln xmlns:a="http://schemas.openxmlformats.org/drawingml/2006/main" w="28575">
            <a:solidFill>
              <a:schemeClr val="bg1">
                <a:lumMod val="95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6" name="직선 연결선 25">
            <a:extLst xmlns:a="http://schemas.openxmlformats.org/drawingml/2006/main">
              <a:ext uri="{FF2B5EF4-FFF2-40B4-BE49-F238E27FC236}">
                <a16:creationId xmlns:a16="http://schemas.microsoft.com/office/drawing/2014/main" id="{072C1394-538A-4BCF-9224-0784E0A04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5856" y="548680"/>
            <a:ext cx="5328592" cy="0"/>
          </a:xfrm>
          <a:prstGeom xmlns:a="http://schemas.openxmlformats.org/drawingml/2006/main" prst="line">
            <a:avLst/>
          </a:prstGeom>
          <a:ln xmlns:a="http://schemas.openxmlformats.org/drawingml/2006/main" w="28575">
            <a:solidFill>
              <a:srgbClr val="3B5AA8"/>
            </a:solidFill>
          </a:ln>
        </p:spPr>
        <p:style>
          <a:lnRef xmlns:a="http://schemas.openxmlformats.org/drawingml/2006/main" idx="1">
            <a:schemeClr val="accent4"/>
          </a:lnRef>
          <a:fillRef xmlns:a="http://schemas.openxmlformats.org/drawingml/2006/main" idx="0">
            <a:schemeClr val="accent4"/>
          </a:fillRef>
          <a:effectRef xmlns:a="http://schemas.openxmlformats.org/drawingml/2006/main" idx="0">
            <a:schemeClr val="accent4"/>
          </a:effectRef>
          <a:fontRef xmlns:a="http://schemas.openxmlformats.org/drawingml/2006/main" idx="minor">
            <a:schemeClr val="tx1"/>
          </a:fontRef>
        </p:style>
      </p:sp>
      <p:sp>
        <p:nvSpPr>
          <p:cNvPr id="27" name="제목 12">
            <a:extLst xmlns:a="http://schemas.openxmlformats.org/drawingml/2006/main">
              <a:ext uri="{FF2B5EF4-FFF2-40B4-BE49-F238E27FC236}">
                <a16:creationId xmlns:a16="http://schemas.microsoft.com/office/drawing/2014/main" id="{99D20B54-FBA0-40C2-B7F4-249D25DD9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528" y="692696"/>
            <a:ext cx="2880320" cy="29663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 defTabSz="91440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 sz="17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defRPr>
            </a:pPr>
            <a:r>
              <a:rPr sz="1700" b="1" i="0" u="none" cap="none" spc="0">
                <a:ln>
                  <a:noFill/>
                </a:ln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메뉴 구성도</a:t>
            </a:r>
            <a:endParaRPr sz="1700" b="0" i="0" u="none" kern="1200" cap="none" spc="-50" baseline="0">
              <a:ln>
                <a:noFill/>
              </a:ln>
              <a:solidFill>
                <a:schemeClr val="bg1"/>
              </a:solidFill>
              <a:latin typeface="+mn-ea"/>
              <a:ea typeface="+mn-ea"/>
              <a:cs typeface="+mn-ea"/>
            </a:endParaRPr>
          </a:p>
        </p:txBody>
      </p:sp>
      <p:pic>
        <p:nvPicPr>
          <p:cNvPr id="110" name="Pictur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47d530c4cf4930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676456" y="476671"/>
            <a:ext cx="454960" cy="158965"/>
          </a:xfrm>
          <a:prstGeom xmlns:a="http://schemas.openxmlformats.org/drawingml/2006/main" prst="rect">
            <a:avLst/>
          </a:prstGeom>
          <a:ln xmlns:a="http://schemas.openxmlformats.org/drawingml/2006/main" w="9525">
            <a:noFill/>
            <a:miter/>
          </a:ln>
        </p:spPr>
      </p:pic>
      <p:sp>
        <p:nvSpPr>
          <p:cNvPr id="32" name="막힌 원호 31">
            <a:extLst xmlns:a="http://schemas.openxmlformats.org/drawingml/2006/main">
              <a:ext uri="{FF2B5EF4-FFF2-40B4-BE49-F238E27FC236}">
                <a16:creationId xmlns:a16="http://schemas.microsoft.com/office/drawing/2014/main" id="{9618B776-B49F-4D0C-880D-07488DEBF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-577697" y="-576001"/>
            <a:ext cx="1181047" cy="1167213"/>
          </a:xfrm>
          <a:prstGeom xmlns:a="http://schemas.openxmlformats.org/drawingml/2006/main" prst="blockArc">
            <a:avLst>
              <a:gd name="adj1" fmla="val 16158679"/>
              <a:gd name="adj2" fmla="val 0"/>
              <a:gd name="adj3" fmla="val 25000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solidFill>
                <a:schemeClr val="tx1"/>
              </a:solidFill>
            </a:endParaRP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D86192D7-02EE-4793-9464-85B92A03C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38250"/>
            <a:ext cx="8324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24292F"/>
                </a:solidFill>
                <a:latin typeface="맑은 고딕"/>
                <a:ea typeface="맑은 고딕"/>
                <a:cs typeface="맑은 고딕"/>
              </a:defRPr>
            </a:pPr>
            <a:r>
              <a:rPr sz="2100" b="1">
                <a:solidFill>
                  <a:srgbClr val="24292F"/>
                </a:solidFill>
                <a:latin typeface="맑은 고딕"/>
                <a:ea typeface="맑은 고딕"/>
                <a:cs typeface="맑은 고딕"/>
              </a:rPr>
              <a:t>처음 이용과 일상 사용 메뉴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7B520D46-E900-4769-843B-CCCC028B5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48425"/>
            <a:ext cx="69532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B6570"/>
                </a:solidFill>
                <a:latin typeface="맑은 고딕"/>
                <a:ea typeface="맑은 고딕"/>
                <a:cs typeface="맑은 고딕"/>
              </a:defRPr>
            </a:pPr>
            <a:r>
              <a:rPr sz="900" b="0">
                <a:solidFill>
                  <a:srgbClr val="5B6570"/>
                </a:solidFill>
                <a:latin typeface="맑은 고딕"/>
                <a:ea typeface="맑은 고딕"/>
                <a:cs typeface="맑은 고딕"/>
              </a:rPr>
              <a:t>RE:ACTION  /  제작설계서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031900F6-1EA1-4A72-9EDA-89EFF5A76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6448425"/>
            <a:ext cx="4000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B6570"/>
                </a:solidFill>
                <a:latin typeface="맑은 고딕"/>
                <a:ea typeface="맑은 고딕"/>
                <a:cs typeface="맑은 고딕"/>
              </a:defRPr>
            </a:pPr>
            <a:r>
              <a:rPr sz="900" b="0">
                <a:solidFill>
                  <a:srgbClr val="5B6570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02E09298-9A33-420E-BC95-8F1320993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819275"/>
            <a:ext cx="82486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3B5AA8"/>
                </a:solidFill>
                <a:latin typeface="맑은 고딕"/>
                <a:ea typeface="맑은 고딕"/>
                <a:cs typeface="맑은 고딕"/>
              </a:defRPr>
            </a:pPr>
            <a:r>
              <a:rPr sz="1650" b="1">
                <a:solidFill>
                  <a:srgbClr val="3B5AA8"/>
                </a:solidFill>
                <a:latin typeface="맑은 고딕"/>
                <a:ea typeface="맑은 고딕"/>
                <a:cs typeface="맑은 고딕"/>
              </a:rPr>
              <a:t>처음 이용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3DFE1A53-5D07-44EC-A6C1-4D263C0B5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228850"/>
            <a:ext cx="25527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A"/>
          </a:solidFill>
          <a:ln xmlns:a="http://schemas.openxmlformats.org/drawingml/2006/main" w="9525">
            <a:solidFill>
              <a:srgbClr val="3B5AA8"/>
            </a:solidFill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defRPr>
            </a:pPr>
            <a:r>
              <a:rPr sz="1650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rPr>
              <a:t>목표 파악과 분류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6DA0BD47-A4D3-4110-89F0-39C817EB9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228850"/>
            <a:ext cx="25527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A"/>
          </a:solidFill>
          <a:ln xmlns:a="http://schemas.openxmlformats.org/drawingml/2006/main" w="9525">
            <a:solidFill>
              <a:srgbClr val="3B5AA8"/>
            </a:solidFill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defRPr>
            </a:pPr>
            <a:r>
              <a:rPr sz="1650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rPr>
              <a:t>생활 조건과 자료 확인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221D35C0-ED8C-4227-B9D3-333A0D7F8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228850"/>
            <a:ext cx="25527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A"/>
          </a:solidFill>
          <a:ln xmlns:a="http://schemas.openxmlformats.org/drawingml/2006/main" w="9525">
            <a:solidFill>
              <a:srgbClr val="3B5AA8"/>
            </a:solidFill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defRPr>
            </a:pPr>
            <a:r>
              <a:rPr sz="1650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rPr>
              <a:t>주간 초안 수정과 승인</a:t>
            </a:r>
          </a:p>
        </p:txBody>
      </p:sp>
      <p:cxnSp>
        <p:nvCxnSpPr>
          <p:cNvPr id="119" name=""/>
          <p:cNvCxnSpPr>
            <a:stCxn xmlns:a="http://schemas.openxmlformats.org/drawingml/2006/main" id="91" idx="3"/>
            <a:endCxn xmlns:a="http://schemas.openxmlformats.org/drawingml/2006/main" id="92" idx="1"/>
          </p:cNvCxnSpPr>
          <p:nvPr/>
        </p:nvCxnSpPr>
        <p:spPr>
          <a:xfrm xmlns:a="http://schemas.openxmlformats.org/drawingml/2006/main">
            <a:off x="2971800" y="2524125"/>
            <a:ext cx="32385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3B5AA8"/>
            </a:solidFill>
            <a:tailEnd type="triangle" w="med" len="med"/>
          </a:ln>
        </p:spPr>
      </p:cxnSp>
      <p:cxnSp>
        <p:nvCxnSpPr>
          <p:cNvPr id="120" name=""/>
          <p:cNvCxnSpPr>
            <a:stCxn xmlns:a="http://schemas.openxmlformats.org/drawingml/2006/main" id="92" idx="3"/>
            <a:endCxn xmlns:a="http://schemas.openxmlformats.org/drawingml/2006/main" id="93" idx="1"/>
          </p:cNvCxnSpPr>
          <p:nvPr/>
        </p:nvCxnSpPr>
        <p:spPr>
          <a:xfrm xmlns:a="http://schemas.openxmlformats.org/drawingml/2006/main">
            <a:off x="5848350" y="2524125"/>
            <a:ext cx="32385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3B5AA8"/>
            </a:solidFill>
            <a:tailEnd type="triangle" w="med" len="med"/>
          </a:ln>
        </p:spPr>
      </p:cxn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B7ED214A-6623-4336-BD8D-C2C0A84C5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171825"/>
            <a:ext cx="82486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3B5AA8"/>
                </a:solidFill>
                <a:latin typeface="맑은 고딕"/>
                <a:ea typeface="맑은 고딕"/>
                <a:cs typeface="맑은 고딕"/>
              </a:defRPr>
            </a:pPr>
            <a:r>
              <a:rPr sz="1650" b="1">
                <a:solidFill>
                  <a:srgbClr val="3B5AA8"/>
                </a:solidFill>
                <a:latin typeface="맑은 고딕"/>
                <a:ea typeface="맑은 고딕"/>
                <a:cs typeface="맑은 고딕"/>
              </a:rPr>
              <a:t>일상 사용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AF368507-5419-4BB3-9190-BF41B9D41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590925"/>
            <a:ext cx="25908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A"/>
          </a:solidFill>
          <a:ln xmlns:a="http://schemas.openxmlformats.org/drawingml/2006/main" w="9525">
            <a:solidFill>
              <a:srgbClr val="3B5AA8"/>
            </a:solidFill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4292F"/>
                </a:solidFill>
                <a:latin typeface="맑은 고딕"/>
                <a:ea typeface="맑은 고딕"/>
                <a:cs typeface="맑은 고딕"/>
              </a:defRPr>
            </a:pPr>
            <a:r>
              <a:rPr sz="1650" b="1">
                <a:solidFill>
                  <a:srgbClr val="24292F"/>
                </a:solidFill>
                <a:latin typeface="맑은 고딕"/>
                <a:ea typeface="맑은 고딕"/>
                <a:cs typeface="맑은 고딕"/>
              </a:rPr>
              <a:t>오늘 실행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AE2E0E7B-0FE8-40BF-AACA-C49DE3CFC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14825"/>
            <a:ext cx="23526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defRPr>
            </a:pPr>
            <a:r>
              <a:rPr sz="1575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rPr>
              <a:t>오늘 할 일과 집중</a:t>
            </a:r>
          </a:p>
          <a:p xmlns:a="http://schemas.openxmlformats.org/drawingml/2006/main">
            <a:pPr>
              <a:defRPr sz="1575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defRPr>
            </a:pPr>
            <a:r>
              <a:rPr sz="1575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rPr>
              <a:t>결과 기록과 회복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FF4D2C00-C5F6-4B20-A99F-A9A002BCC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3590925"/>
            <a:ext cx="25908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A"/>
          </a:solidFill>
          <a:ln xmlns:a="http://schemas.openxmlformats.org/drawingml/2006/main" w="9525">
            <a:solidFill>
              <a:srgbClr val="3B5AA8"/>
            </a:solidFill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4292F"/>
                </a:solidFill>
                <a:latin typeface="맑은 고딕"/>
                <a:ea typeface="맑은 고딕"/>
                <a:cs typeface="맑은 고딕"/>
              </a:defRPr>
            </a:pPr>
            <a:r>
              <a:rPr sz="1650" b="1">
                <a:solidFill>
                  <a:srgbClr val="24292F"/>
                </a:solidFill>
                <a:latin typeface="맑은 고딕"/>
                <a:ea typeface="맑은 고딕"/>
                <a:cs typeface="맑은 고딕"/>
              </a:rPr>
              <a:t>주간 계획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CBC434AB-5D74-433A-914A-5DCD9145A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314825"/>
            <a:ext cx="23526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defRPr>
            </a:pPr>
            <a:r>
              <a:rPr sz="1575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rPr>
              <a:t>주간 달력과 일정 수정</a:t>
            </a:r>
          </a:p>
          <a:p xmlns:a="http://schemas.openxmlformats.org/drawingml/2006/main">
            <a:pPr>
              <a:defRPr sz="1575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defRPr>
            </a:pPr>
            <a:r>
              <a:rPr sz="1575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rPr>
              <a:t>주간 리뷰와 습관 조정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B3FA3B4D-E3F4-4B6A-8B34-227D3EC5F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590925"/>
            <a:ext cx="25908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A"/>
          </a:solidFill>
          <a:ln xmlns:a="http://schemas.openxmlformats.org/drawingml/2006/main" w="9525">
            <a:solidFill>
              <a:srgbClr val="3B5AA8"/>
            </a:solidFill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4292F"/>
                </a:solidFill>
                <a:latin typeface="맑은 고딕"/>
                <a:ea typeface="맑은 고딕"/>
                <a:cs typeface="맑은 고딕"/>
              </a:defRPr>
            </a:pPr>
            <a:r>
              <a:rPr sz="1650" b="1">
                <a:solidFill>
                  <a:srgbClr val="24292F"/>
                </a:solidFill>
                <a:latin typeface="맑은 고딕"/>
                <a:ea typeface="맑은 고딕"/>
                <a:cs typeface="맑은 고딕"/>
              </a:rPr>
              <a:t>인박스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C3A31F0D-20DC-4C9F-98DD-5543B1173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314825"/>
            <a:ext cx="23526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defRPr>
            </a:pPr>
            <a:r>
              <a:rPr sz="1575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rPr>
              <a:t>메모와 자료 보관</a:t>
            </a:r>
          </a:p>
          <a:p xmlns:a="http://schemas.openxmlformats.org/drawingml/2006/main">
            <a:pPr>
              <a:defRPr sz="1575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defRPr>
            </a:pPr>
            <a:r>
              <a:rPr sz="1575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rPr>
              <a:t>목표와 할 일로 전환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362C708D-4191-4E1A-A0C4-422F1BDC4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343525"/>
            <a:ext cx="1600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3B5AA8"/>
                </a:solidFill>
                <a:latin typeface="맑은 고딕"/>
                <a:ea typeface="맑은 고딕"/>
                <a:cs typeface="맑은 고딕"/>
              </a:defRPr>
            </a:pPr>
            <a:r>
              <a:rPr sz="1650" b="1">
                <a:solidFill>
                  <a:srgbClr val="3B5AA8"/>
                </a:solidFill>
                <a:latin typeface="맑은 고딕"/>
                <a:ea typeface="맑은 고딕"/>
                <a:cs typeface="맑은 고딕"/>
              </a:rPr>
              <a:t>추가 메뉴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AD0EDDA8-4D28-4B4D-BFE6-B2E8062B2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343525"/>
            <a:ext cx="65913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defRPr>
            </a:pPr>
            <a:r>
              <a:rPr sz="1575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rPr>
              <a:t>목표 관리 → 재인터뷰, 궁극적 목표와 만다라트</a:t>
            </a:r>
          </a:p>
          <a:p xmlns:a="http://schemas.openxmlformats.org/drawingml/2006/main">
            <a:pPr>
              <a:defRPr sz="1575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defRPr>
            </a:pPr>
            <a:r>
              <a:rPr sz="1575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rPr>
              <a:t>저녁 체크인, 설정과 내 정보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03D83723-0ACE-4725-89A1-25699A64F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143625"/>
            <a:ext cx="82105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B6570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0">
                <a:solidFill>
                  <a:srgbClr val="5B6570"/>
                </a:solidFill>
                <a:latin typeface="맑은 고딕"/>
                <a:ea typeface="맑은 고딕"/>
                <a:cs typeface="맑은 고딕"/>
              </a:rPr>
              <a:t>모바일은 하단 탭, 데스크톱은 사이드바를 사용한다.</a:t>
            </a:r>
          </a:p>
        </p:txBody>
      </p:sp>
    </p:spTree>
    <p:extLst>
      <p:ext uri="{BB962C8B-B14F-4D97-AF65-F5344CB8AC3E}">
        <p14:creationId xmlns:p14="http://schemas.microsoft.com/office/powerpoint/2010/main" val="3195766679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직사각형 23">
            <a:extLst xmlns:a="http://schemas.openxmlformats.org/drawingml/2006/main">
              <a:ext uri="{FF2B5EF4-FFF2-40B4-BE49-F238E27FC236}">
                <a16:creationId xmlns:a16="http://schemas.microsoft.com/office/drawing/2014/main" id="{87FE247D-BCD8-49C9-AB08-42C204606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504" y="0"/>
            <a:ext cx="3096344" cy="1124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5AA8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5" name="직선 연결선 24">
            <a:extLst xmlns:a="http://schemas.openxmlformats.org/drawingml/2006/main">
              <a:ext uri="{FF2B5EF4-FFF2-40B4-BE49-F238E27FC236}">
                <a16:creationId xmlns:a16="http://schemas.microsoft.com/office/drawing/2014/main" id="{56E72A93-616C-44BF-B205-95E477EF8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356" y="541195"/>
            <a:ext cx="2591728" cy="0"/>
          </a:xfrm>
          <a:prstGeom xmlns:a="http://schemas.openxmlformats.org/drawingml/2006/main" prst="line">
            <a:avLst/>
          </a:prstGeom>
          <a:ln xmlns:a="http://schemas.openxmlformats.org/drawingml/2006/main" w="28575">
            <a:solidFill>
              <a:schemeClr val="bg1">
                <a:lumMod val="95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6" name="직선 연결선 25">
            <a:extLst xmlns:a="http://schemas.openxmlformats.org/drawingml/2006/main">
              <a:ext uri="{FF2B5EF4-FFF2-40B4-BE49-F238E27FC236}">
                <a16:creationId xmlns:a16="http://schemas.microsoft.com/office/drawing/2014/main" id="{072C1394-538A-4BCF-9224-0784E0A04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5856" y="548680"/>
            <a:ext cx="5328592" cy="0"/>
          </a:xfrm>
          <a:prstGeom xmlns:a="http://schemas.openxmlformats.org/drawingml/2006/main" prst="line">
            <a:avLst/>
          </a:prstGeom>
          <a:ln xmlns:a="http://schemas.openxmlformats.org/drawingml/2006/main" w="28575">
            <a:solidFill>
              <a:srgbClr val="3B5AA8"/>
            </a:solidFill>
          </a:ln>
        </p:spPr>
        <p:style>
          <a:lnRef xmlns:a="http://schemas.openxmlformats.org/drawingml/2006/main" idx="1">
            <a:schemeClr val="accent4"/>
          </a:lnRef>
          <a:fillRef xmlns:a="http://schemas.openxmlformats.org/drawingml/2006/main" idx="0">
            <a:schemeClr val="accent4"/>
          </a:fillRef>
          <a:effectRef xmlns:a="http://schemas.openxmlformats.org/drawingml/2006/main" idx="0">
            <a:schemeClr val="accent4"/>
          </a:effectRef>
          <a:fontRef xmlns:a="http://schemas.openxmlformats.org/drawingml/2006/main" idx="minor">
            <a:schemeClr val="tx1"/>
          </a:fontRef>
        </p:style>
      </p:sp>
      <p:sp>
        <p:nvSpPr>
          <p:cNvPr id="27" name="제목 12">
            <a:extLst xmlns:a="http://schemas.openxmlformats.org/drawingml/2006/main">
              <a:ext uri="{FF2B5EF4-FFF2-40B4-BE49-F238E27FC236}">
                <a16:creationId xmlns:a16="http://schemas.microsoft.com/office/drawing/2014/main" id="{99D20B54-FBA0-40C2-B7F4-249D25DD9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528" y="692696"/>
            <a:ext cx="2880320" cy="29663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 defTabSz="91440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 sz="17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defRPr>
            </a:pPr>
            <a:r>
              <a:rPr sz="1700" b="1" i="0" u="none" cap="none" spc="0">
                <a:ln>
                  <a:noFill/>
                </a:ln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화면 설계서</a:t>
            </a:r>
            <a:endParaRPr sz="1700" b="0" i="0" u="none" kern="1200" cap="none" spc="-50" baseline="0">
              <a:ln>
                <a:noFill/>
              </a:ln>
              <a:solidFill>
                <a:schemeClr val="bg1"/>
              </a:solidFill>
              <a:latin typeface="+mn-ea"/>
              <a:ea typeface="+mn-ea"/>
              <a:cs typeface="+mn-ea"/>
            </a:endParaRPr>
          </a:p>
        </p:txBody>
      </p:sp>
      <p:pic>
        <p:nvPicPr>
          <p:cNvPr id="106" name="Pictur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0cdeef9d314715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676456" y="476671"/>
            <a:ext cx="454960" cy="158965"/>
          </a:xfrm>
          <a:prstGeom xmlns:a="http://schemas.openxmlformats.org/drawingml/2006/main" prst="rect">
            <a:avLst/>
          </a:prstGeom>
          <a:ln xmlns:a="http://schemas.openxmlformats.org/drawingml/2006/main" w="9525">
            <a:noFill/>
            <a:miter/>
          </a:ln>
        </p:spPr>
      </p:pic>
      <p:sp>
        <p:nvSpPr>
          <p:cNvPr id="32" name="막힌 원호 31">
            <a:extLst xmlns:a="http://schemas.openxmlformats.org/drawingml/2006/main">
              <a:ext uri="{FF2B5EF4-FFF2-40B4-BE49-F238E27FC236}">
                <a16:creationId xmlns:a16="http://schemas.microsoft.com/office/drawing/2014/main" id="{9618B776-B49F-4D0C-880D-07488DEBF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-577697" y="-576001"/>
            <a:ext cx="1181047" cy="1167213"/>
          </a:xfrm>
          <a:prstGeom xmlns:a="http://schemas.openxmlformats.org/drawingml/2006/main" prst="blockArc">
            <a:avLst>
              <a:gd name="adj1" fmla="val 16158679"/>
              <a:gd name="adj2" fmla="val 0"/>
              <a:gd name="adj3" fmla="val 25000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solidFill>
                <a:schemeClr val="tx1"/>
              </a:solidFill>
            </a:endParaRP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D9897B39-756D-4067-87CA-EDF14F999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38250"/>
            <a:ext cx="8324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24292F"/>
                </a:solidFill>
                <a:latin typeface="맑은 고딕"/>
                <a:ea typeface="맑은 고딕"/>
                <a:cs typeface="맑은 고딕"/>
              </a:defRPr>
            </a:pPr>
            <a:r>
              <a:rPr sz="2100" b="1">
                <a:solidFill>
                  <a:srgbClr val="24292F"/>
                </a:solidFill>
                <a:latin typeface="맑은 고딕"/>
                <a:ea typeface="맑은 고딕"/>
                <a:cs typeface="맑은 고딕"/>
              </a:rPr>
              <a:t>딥 인터뷰와 목표 분류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4228C868-2B8E-4C65-B708-292849813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48425"/>
            <a:ext cx="69532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B6570"/>
                </a:solidFill>
                <a:latin typeface="맑은 고딕"/>
                <a:ea typeface="맑은 고딕"/>
                <a:cs typeface="맑은 고딕"/>
              </a:defRPr>
            </a:pPr>
            <a:r>
              <a:rPr sz="900" b="0">
                <a:solidFill>
                  <a:srgbClr val="5B6570"/>
                </a:solidFill>
                <a:latin typeface="맑은 고딕"/>
                <a:ea typeface="맑은 고딕"/>
                <a:cs typeface="맑은 고딕"/>
              </a:rPr>
              <a:t>RE:ACTION  /  제작설계서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B8FB3295-BE1D-40BE-8873-E95B30580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6448425"/>
            <a:ext cx="4000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B6570"/>
                </a:solidFill>
                <a:latin typeface="맑은 고딕"/>
                <a:ea typeface="맑은 고딕"/>
                <a:cs typeface="맑은 고딕"/>
              </a:defRPr>
            </a:pPr>
            <a:r>
              <a:rPr sz="900" b="0">
                <a:solidFill>
                  <a:srgbClr val="5B6570"/>
                </a:solidFill>
                <a:latin typeface="맑은 고딕"/>
                <a:ea typeface="맑은 고딕"/>
                <a:cs typeface="맑은 고딕"/>
              </a:rPr>
              <a:t>06</a:t>
            </a:r>
          </a:p>
        </p:txBody>
      </p:sp>
      <p:pic>
        <p:nvPicPr>
          <p:cNvPr id="1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ce5743afd64b66"/>
          <a:stretch xmlns:a="http://schemas.openxmlformats.org/drawingml/2006/main"/>
        </p:blipFill>
        <p:spPr>
          <a:xfrm xmlns:a="http://schemas.openxmlformats.org/drawingml/2006/main">
            <a:off x="445734" y="1819275"/>
            <a:ext cx="2042232" cy="4419600"/>
          </a:xfrm>
          <a:prstGeom xmlns:a="http://schemas.openxmlformats.org/drawingml/2006/main" prst="rect">
            <a:avLst/>
          </a:prstGeom>
        </p:spPr>
      </p:pic>
      <p:pic>
        <p:nvPicPr>
          <p:cNvPr id="1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395353070c4de8"/>
          <a:stretch xmlns:a="http://schemas.openxmlformats.org/drawingml/2006/main"/>
        </p:blipFill>
        <p:spPr>
          <a:xfrm xmlns:a="http://schemas.openxmlformats.org/drawingml/2006/main">
            <a:off x="2674584" y="1819275"/>
            <a:ext cx="2042232" cy="4419600"/>
          </a:xfrm>
          <a:prstGeom xmlns:a="http://schemas.openxmlformats.org/drawingml/2006/main" prst="rect">
            <a:avLst/>
          </a:prstGeom>
        </p:spPr>
      </p:pic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C8B341F9-9CDF-46F0-81E6-331ACE152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191250"/>
            <a:ext cx="20955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B6570"/>
                </a:solidFill>
                <a:latin typeface="맑은 고딕"/>
                <a:ea typeface="맑은 고딕"/>
                <a:cs typeface="맑은 고딕"/>
              </a:defRPr>
            </a:pPr>
            <a:r>
              <a:rPr sz="900" b="0">
                <a:solidFill>
                  <a:srgbClr val="5B6570"/>
                </a:solidFill>
                <a:latin typeface="맑은 고딕"/>
                <a:ea typeface="맑은 고딕"/>
                <a:cs typeface="맑은 고딕"/>
              </a:rPr>
              <a:t>① 목표와 조건에 답하기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70EB008A-80AF-403C-B109-6001DB9A7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6191250"/>
            <a:ext cx="20955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B6570"/>
                </a:solidFill>
                <a:latin typeface="맑은 고딕"/>
                <a:ea typeface="맑은 고딕"/>
                <a:cs typeface="맑은 고딕"/>
              </a:defRPr>
            </a:pPr>
            <a:r>
              <a:rPr sz="900" b="0">
                <a:solidFill>
                  <a:srgbClr val="5B6570"/>
                </a:solidFill>
                <a:latin typeface="맑은 고딕"/>
                <a:ea typeface="맑은 고딕"/>
                <a:cs typeface="맑은 고딕"/>
              </a:rPr>
              <a:t>② 집중, 유지, 보류 정하기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91E29D55-30A1-4675-8D3D-E7CB3D82E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1876425"/>
            <a:ext cx="37242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3B5AA8"/>
                </a:solidFill>
                <a:latin typeface="맑은 고딕"/>
                <a:ea typeface="맑은 고딕"/>
                <a:cs typeface="맑은 고딕"/>
              </a:defRPr>
            </a:pPr>
            <a:r>
              <a:rPr sz="1650" b="1">
                <a:solidFill>
                  <a:srgbClr val="3B5AA8"/>
                </a:solidFill>
                <a:latin typeface="맑은 고딕"/>
                <a:ea typeface="맑은 고딕"/>
                <a:cs typeface="맑은 고딕"/>
              </a:rPr>
              <a:t>목표와 가능한 시간을 답한다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5A76A711-3CA1-485B-BE43-56E3557D4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2247900"/>
            <a:ext cx="3724275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defRPr>
            </a:pPr>
            <a:r>
              <a:rPr sz="1575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rPr>
              <a:t>목표, 기한, 가용 시간과 방해 조건을</a:t>
            </a:r>
          </a:p>
          <a:p xmlns:a="http://schemas.openxmlformats.org/drawingml/2006/main">
            <a:pPr>
              <a:defRPr sz="1575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defRPr>
            </a:pPr>
            <a:r>
              <a:rPr sz="1575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rPr>
              <a:t>입력한다. 부족한 항목이 있으면</a:t>
            </a:r>
          </a:p>
          <a:p xmlns:a="http://schemas.openxmlformats.org/drawingml/2006/main">
            <a:pPr>
              <a:defRPr sz="1575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defRPr>
            </a:pPr>
            <a:r>
              <a:rPr sz="1575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rPr>
              <a:t>앱이 필요한 질문을 이어서 보여준다.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A5952607-69E1-428D-B99E-6F9961B3B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3362325"/>
            <a:ext cx="37242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FEA"/>
          </a:solidFill>
          <a:ln xmlns:a="http://schemas.openxmlformats.org/drawingml/2006/main" w="0">
            <a:noFill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D4C93328-6BAF-4AAD-A97C-91B744EB6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3562350"/>
            <a:ext cx="37242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3B5AA8"/>
                </a:solidFill>
                <a:latin typeface="맑은 고딕"/>
                <a:ea typeface="맑은 고딕"/>
                <a:cs typeface="맑은 고딕"/>
              </a:defRPr>
            </a:pPr>
            <a:r>
              <a:rPr sz="1650" b="1">
                <a:solidFill>
                  <a:srgbClr val="3B5AA8"/>
                </a:solidFill>
                <a:latin typeface="맑은 고딕"/>
                <a:ea typeface="맑은 고딕"/>
                <a:cs typeface="맑은 고딕"/>
              </a:rPr>
              <a:t>실행할 목표를 직접 정한다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91BA2CC9-2CB1-4E65-BA17-6E5B39FB6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3933825"/>
            <a:ext cx="37242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defRPr>
            </a:pPr>
            <a:r>
              <a:rPr sz="1575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rPr>
              <a:t>답변에서 찾은 목표 후보를 확인하고</a:t>
            </a:r>
          </a:p>
          <a:p xmlns:a="http://schemas.openxmlformats.org/drawingml/2006/main">
            <a:pPr>
              <a:defRPr sz="1575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defRPr>
            </a:pPr>
            <a:r>
              <a:rPr sz="1575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rPr>
              <a:t>집중, 유지, 보류로 조정한다.</a:t>
            </a:r>
          </a:p>
          <a:p xmlns:a="http://schemas.openxmlformats.org/drawingml/2006/main">
            <a:pPr>
              <a:defRPr sz="1575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defRPr>
            </a:pPr>
            <a:r>
              <a:rPr sz="1575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rPr>
              <a:t>보류한 목표는 일정에 넣지 않는다.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9DE5F0AD-4953-4502-80BB-D3E7E5528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5000625"/>
            <a:ext cx="37242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3B5AA8"/>
                </a:solidFill>
                <a:latin typeface="맑은 고딕"/>
                <a:ea typeface="맑은 고딕"/>
                <a:cs typeface="맑은 고딕"/>
              </a:defRPr>
            </a:pPr>
            <a:r>
              <a:rPr sz="1650" b="1">
                <a:solidFill>
                  <a:srgbClr val="3B5AA8"/>
                </a:solidFill>
                <a:latin typeface="맑은 고딕"/>
                <a:ea typeface="맑은 고딕"/>
                <a:cs typeface="맑은 고딕"/>
              </a:rPr>
              <a:t>처리 핵심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F4D1470D-2208-41F6-A54F-ECE670AA3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5362575"/>
            <a:ext cx="37242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defRPr>
            </a:pPr>
            <a:r>
              <a:rPr sz="1575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rPr>
              <a:t>질문과 목표 후보를 나누어 받는다.</a:t>
            </a:r>
          </a:p>
          <a:p xmlns:a="http://schemas.openxmlformats.org/drawingml/2006/main">
            <a:pPr>
              <a:defRPr sz="1575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defRPr>
            </a:pPr>
            <a:r>
              <a:rPr sz="1575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rPr>
              <a:t>사용자가 분류를 확인한 뒤 계획한다.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268264E6-D3B2-4E72-AFFD-72A4AB210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61531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B6570"/>
                </a:solidFill>
                <a:latin typeface="맑은 고딕"/>
                <a:ea typeface="맑은 고딕"/>
                <a:cs typeface="맑은 고딕"/>
              </a:defRPr>
            </a:pPr>
            <a:r>
              <a:rPr sz="900" b="0">
                <a:solidFill>
                  <a:srgbClr val="5B6570"/>
                </a:solidFill>
                <a:latin typeface="맑은 고딕"/>
                <a:ea typeface="맑은 고딕"/>
                <a:cs typeface="맑은 고딕"/>
              </a:rPr>
              <a:t>화면의 일정과 수치는 시연용 예시입니다.</a:t>
            </a:r>
          </a:p>
        </p:txBody>
      </p:sp>
    </p:spTree>
    <p:extLst>
      <p:ext uri="{BB962C8B-B14F-4D97-AF65-F5344CB8AC3E}">
        <p14:creationId xmlns:p14="http://schemas.microsoft.com/office/powerpoint/2010/main" val="3195766679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직사각형 23">
            <a:extLst xmlns:a="http://schemas.openxmlformats.org/drawingml/2006/main">
              <a:ext uri="{FF2B5EF4-FFF2-40B4-BE49-F238E27FC236}">
                <a16:creationId xmlns:a16="http://schemas.microsoft.com/office/drawing/2014/main" id="{87FE247D-BCD8-49C9-AB08-42C204606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504" y="0"/>
            <a:ext cx="3096344" cy="1124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5AA8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5" name="직선 연결선 24">
            <a:extLst xmlns:a="http://schemas.openxmlformats.org/drawingml/2006/main">
              <a:ext uri="{FF2B5EF4-FFF2-40B4-BE49-F238E27FC236}">
                <a16:creationId xmlns:a16="http://schemas.microsoft.com/office/drawing/2014/main" id="{56E72A93-616C-44BF-B205-95E477EF8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356" y="541195"/>
            <a:ext cx="2591728" cy="0"/>
          </a:xfrm>
          <a:prstGeom xmlns:a="http://schemas.openxmlformats.org/drawingml/2006/main" prst="line">
            <a:avLst/>
          </a:prstGeom>
          <a:ln xmlns:a="http://schemas.openxmlformats.org/drawingml/2006/main" w="28575">
            <a:solidFill>
              <a:schemeClr val="bg1">
                <a:lumMod val="95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6" name="직선 연결선 25">
            <a:extLst xmlns:a="http://schemas.openxmlformats.org/drawingml/2006/main">
              <a:ext uri="{FF2B5EF4-FFF2-40B4-BE49-F238E27FC236}">
                <a16:creationId xmlns:a16="http://schemas.microsoft.com/office/drawing/2014/main" id="{072C1394-538A-4BCF-9224-0784E0A04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5856" y="548680"/>
            <a:ext cx="5328592" cy="0"/>
          </a:xfrm>
          <a:prstGeom xmlns:a="http://schemas.openxmlformats.org/drawingml/2006/main" prst="line">
            <a:avLst/>
          </a:prstGeom>
          <a:ln xmlns:a="http://schemas.openxmlformats.org/drawingml/2006/main" w="28575">
            <a:solidFill>
              <a:srgbClr val="3B5AA8"/>
            </a:solidFill>
          </a:ln>
        </p:spPr>
        <p:style>
          <a:lnRef xmlns:a="http://schemas.openxmlformats.org/drawingml/2006/main" idx="1">
            <a:schemeClr val="accent4"/>
          </a:lnRef>
          <a:fillRef xmlns:a="http://schemas.openxmlformats.org/drawingml/2006/main" idx="0">
            <a:schemeClr val="accent4"/>
          </a:fillRef>
          <a:effectRef xmlns:a="http://schemas.openxmlformats.org/drawingml/2006/main" idx="0">
            <a:schemeClr val="accent4"/>
          </a:effectRef>
          <a:fontRef xmlns:a="http://schemas.openxmlformats.org/drawingml/2006/main" idx="minor">
            <a:schemeClr val="tx1"/>
          </a:fontRef>
        </p:style>
      </p:sp>
      <p:sp>
        <p:nvSpPr>
          <p:cNvPr id="27" name="제목 12">
            <a:extLst xmlns:a="http://schemas.openxmlformats.org/drawingml/2006/main">
              <a:ext uri="{FF2B5EF4-FFF2-40B4-BE49-F238E27FC236}">
                <a16:creationId xmlns:a16="http://schemas.microsoft.com/office/drawing/2014/main" id="{99D20B54-FBA0-40C2-B7F4-249D25DD9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528" y="692696"/>
            <a:ext cx="2880320" cy="29663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 defTabSz="91440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 sz="17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defRPr>
            </a:pPr>
            <a:r>
              <a:rPr sz="1700" b="1" i="0" u="none" cap="none" spc="0">
                <a:ln>
                  <a:noFill/>
                </a:ln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화면 설계서</a:t>
            </a:r>
            <a:endParaRPr sz="1700" b="0" i="0" u="none" kern="1200" cap="none" spc="-50" baseline="0">
              <a:ln>
                <a:noFill/>
              </a:ln>
              <a:solidFill>
                <a:schemeClr val="bg1"/>
              </a:solidFill>
              <a:latin typeface="+mn-ea"/>
              <a:ea typeface="+mn-ea"/>
              <a:cs typeface="+mn-ea"/>
            </a:endParaRPr>
          </a:p>
        </p:txBody>
      </p:sp>
      <p:pic>
        <p:nvPicPr>
          <p:cNvPr id="104" name="Pictur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fb9bde1d5d42b7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676456" y="476671"/>
            <a:ext cx="454960" cy="158965"/>
          </a:xfrm>
          <a:prstGeom xmlns:a="http://schemas.openxmlformats.org/drawingml/2006/main" prst="rect">
            <a:avLst/>
          </a:prstGeom>
          <a:ln xmlns:a="http://schemas.openxmlformats.org/drawingml/2006/main" w="9525">
            <a:noFill/>
            <a:miter/>
          </a:ln>
        </p:spPr>
      </p:pic>
      <p:sp>
        <p:nvSpPr>
          <p:cNvPr id="32" name="막힌 원호 31">
            <a:extLst xmlns:a="http://schemas.openxmlformats.org/drawingml/2006/main">
              <a:ext uri="{FF2B5EF4-FFF2-40B4-BE49-F238E27FC236}">
                <a16:creationId xmlns:a16="http://schemas.microsoft.com/office/drawing/2014/main" id="{9618B776-B49F-4D0C-880D-07488DEBF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-577697" y="-576001"/>
            <a:ext cx="1181047" cy="1167213"/>
          </a:xfrm>
          <a:prstGeom xmlns:a="http://schemas.openxmlformats.org/drawingml/2006/main" prst="blockArc">
            <a:avLst>
              <a:gd name="adj1" fmla="val 16158679"/>
              <a:gd name="adj2" fmla="val 0"/>
              <a:gd name="adj3" fmla="val 25000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solidFill>
                <a:schemeClr val="tx1"/>
              </a:solidFill>
            </a:endParaRP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CFFE5139-0005-4B54-9D32-A7942BD52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38250"/>
            <a:ext cx="8324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24292F"/>
                </a:solidFill>
                <a:latin typeface="맑은 고딕"/>
                <a:ea typeface="맑은 고딕"/>
                <a:cs typeface="맑은 고딕"/>
              </a:defRPr>
            </a:pPr>
            <a:r>
              <a:rPr sz="2100" b="1">
                <a:solidFill>
                  <a:srgbClr val="24292F"/>
                </a:solidFill>
                <a:latin typeface="맑은 고딕"/>
                <a:ea typeface="맑은 고딕"/>
                <a:cs typeface="맑은 고딕"/>
              </a:rPr>
              <a:t>AI 주간 계획 생성과 승인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8E7AF5B6-BBB1-44CA-AB6D-ECF9DDCAB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48425"/>
            <a:ext cx="69532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B6570"/>
                </a:solidFill>
                <a:latin typeface="맑은 고딕"/>
                <a:ea typeface="맑은 고딕"/>
                <a:cs typeface="맑은 고딕"/>
              </a:defRPr>
            </a:pPr>
            <a:r>
              <a:rPr sz="900" b="0">
                <a:solidFill>
                  <a:srgbClr val="5B6570"/>
                </a:solidFill>
                <a:latin typeface="맑은 고딕"/>
                <a:ea typeface="맑은 고딕"/>
                <a:cs typeface="맑은 고딕"/>
              </a:rPr>
              <a:t>RE:ACTION  /  제작설계서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D6FBA6AC-12E2-46A7-A820-A34FEB71C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6448425"/>
            <a:ext cx="4000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B6570"/>
                </a:solidFill>
                <a:latin typeface="맑은 고딕"/>
                <a:ea typeface="맑은 고딕"/>
                <a:cs typeface="맑은 고딕"/>
              </a:defRPr>
            </a:pPr>
            <a:r>
              <a:rPr sz="900" b="0">
                <a:solidFill>
                  <a:srgbClr val="5B6570"/>
                </a:solidFill>
                <a:latin typeface="맑은 고딕"/>
                <a:ea typeface="맑은 고딕"/>
                <a:cs typeface="맑은 고딕"/>
              </a:rPr>
              <a:t>07</a:t>
            </a:r>
          </a:p>
        </p:txBody>
      </p:sp>
      <p:pic>
        <p:nvPicPr>
          <p:cNvPr id="10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fac3cae5bd4c17"/>
          <a:stretch xmlns:a="http://schemas.openxmlformats.org/drawingml/2006/main"/>
        </p:blipFill>
        <p:spPr>
          <a:xfrm xmlns:a="http://schemas.openxmlformats.org/drawingml/2006/main">
            <a:off x="594455" y="1800225"/>
            <a:ext cx="2068640" cy="4476750"/>
          </a:xfrm>
          <a:prstGeom xmlns:a="http://schemas.openxmlformats.org/drawingml/2006/main" prst="rect">
            <a:avLst/>
          </a:prstGeom>
        </p:spPr>
      </p:pic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514FFA30-E053-4411-8E41-8B7423ACB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00775"/>
            <a:ext cx="23431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B6570"/>
                </a:solidFill>
                <a:latin typeface="맑은 고딕"/>
                <a:ea typeface="맑은 고딕"/>
                <a:cs typeface="맑은 고딕"/>
              </a:defRPr>
            </a:pPr>
            <a:r>
              <a:rPr sz="900" b="0">
                <a:solidFill>
                  <a:srgbClr val="5B6570"/>
                </a:solidFill>
                <a:latin typeface="맑은 고딕"/>
                <a:ea typeface="맑은 고딕"/>
                <a:cs typeface="맑은 고딕"/>
              </a:rPr>
              <a:t>주간 계획 초안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B123D787-AAF3-4C09-A8F7-E730B556D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7075" y="1885950"/>
            <a:ext cx="54006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3B5AA8"/>
                </a:solidFill>
                <a:latin typeface="맑은 고딕"/>
                <a:ea typeface="맑은 고딕"/>
                <a:cs typeface="맑은 고딕"/>
              </a:defRPr>
            </a:pPr>
            <a:r>
              <a:rPr sz="1650" b="1">
                <a:solidFill>
                  <a:srgbClr val="3B5AA8"/>
                </a:solidFill>
                <a:latin typeface="맑은 고딕"/>
                <a:ea typeface="맑은 고딕"/>
                <a:cs typeface="맑은 고딕"/>
              </a:rPr>
              <a:t>1. 계획에 쓸 조건을 확인한다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E2E8FDAF-E89A-4503-83DB-41FB92656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7075" y="2257425"/>
            <a:ext cx="5400675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defRPr>
            </a:pPr>
            <a:r>
              <a:rPr sz="1650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rPr>
              <a:t>목표의 큰 단계, 고정 일정, 가능한 시간과</a:t>
            </a:r>
          </a:p>
          <a:p xmlns:a="http://schemas.openxmlformats.org/drawingml/2006/main">
            <a:pPr>
              <a:defRPr sz="1650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defRPr>
            </a:pPr>
            <a:r>
              <a:rPr sz="1650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rPr>
              <a:t>참고 자료를 확인한다. 자료가 없으면</a:t>
            </a:r>
          </a:p>
          <a:p xmlns:a="http://schemas.openxmlformats.org/drawingml/2006/main">
            <a:pPr>
              <a:defRPr sz="1650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defRPr>
            </a:pPr>
            <a:r>
              <a:rPr sz="1650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rPr>
              <a:t>건너뛰고 계획을 만들 수 있다.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7731F030-0F97-4492-BE7C-B2053A317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7075" y="3371850"/>
            <a:ext cx="54006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FEA"/>
          </a:solidFill>
          <a:ln xmlns:a="http://schemas.openxmlformats.org/drawingml/2006/main" w="0">
            <a:noFill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800FD4A6-B91B-4BAF-B593-9D26E7A06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7075" y="3571875"/>
            <a:ext cx="54006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3B5AA8"/>
                </a:solidFill>
                <a:latin typeface="맑은 고딕"/>
                <a:ea typeface="맑은 고딕"/>
                <a:cs typeface="맑은 고딕"/>
              </a:defRPr>
            </a:pPr>
            <a:r>
              <a:rPr sz="1650" b="1">
                <a:solidFill>
                  <a:srgbClr val="3B5AA8"/>
                </a:solidFill>
                <a:latin typeface="맑은 고딕"/>
                <a:ea typeface="맑은 고딕"/>
                <a:cs typeface="맑은 고딕"/>
              </a:rPr>
              <a:t>2. 제안된 할 일과 시간을 고친다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8720486B-9516-402B-9512-E58EFFADE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7075" y="3943350"/>
            <a:ext cx="540067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defRPr>
            </a:pPr>
            <a:r>
              <a:rPr sz="1650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rPr>
              <a:t>AI가 만든 할 일을 주간 시간표로 보여준다.</a:t>
            </a:r>
          </a:p>
          <a:p xmlns:a="http://schemas.openxmlformats.org/drawingml/2006/main">
            <a:pPr>
              <a:defRPr sz="1650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defRPr>
            </a:pPr>
            <a:r>
              <a:rPr sz="1650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rPr>
              <a:t>블록을 누르거나 끌어서 시간과 분량을</a:t>
            </a:r>
          </a:p>
          <a:p xmlns:a="http://schemas.openxmlformats.org/drawingml/2006/main">
            <a:pPr>
              <a:defRPr sz="1650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defRPr>
            </a:pPr>
            <a:r>
              <a:rPr sz="1650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rPr>
              <a:t>고친 뒤, 실행 가능한 계획인지 확인한다.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D3B82A14-2D35-4A38-A1CD-A9F2DC776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7075" y="5210175"/>
            <a:ext cx="54006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3B5AA8"/>
                </a:solidFill>
                <a:latin typeface="맑은 고딕"/>
                <a:ea typeface="맑은 고딕"/>
                <a:cs typeface="맑은 고딕"/>
              </a:defRPr>
            </a:pPr>
            <a:r>
              <a:rPr sz="1650" b="1">
                <a:solidFill>
                  <a:srgbClr val="3B5AA8"/>
                </a:solidFill>
                <a:latin typeface="맑은 고딕"/>
                <a:ea typeface="맑은 고딕"/>
                <a:cs typeface="맑은 고딕"/>
              </a:rPr>
              <a:t>3. 승인한 계획만 사용한다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34711BBC-F8BA-4A5B-8FBD-FBD404C95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7075" y="5591175"/>
            <a:ext cx="5400675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defRPr>
            </a:pPr>
            <a:r>
              <a:rPr sz="1650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rPr>
              <a:t>초안 생성과 최종 저장을 구분한다.</a:t>
            </a:r>
          </a:p>
          <a:p xmlns:a="http://schemas.openxmlformats.org/drawingml/2006/main">
            <a:pPr>
              <a:defRPr sz="1650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defRPr>
            </a:pPr>
            <a:r>
              <a:rPr sz="1650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rPr>
              <a:t>승인이 끝나면 오늘 실행에서 시작한다.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17C3CA09-F839-4175-AFD4-3F1D9E742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7075" y="6210300"/>
            <a:ext cx="54006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B6570"/>
                </a:solidFill>
                <a:latin typeface="맑은 고딕"/>
                <a:ea typeface="맑은 고딕"/>
                <a:cs typeface="맑은 고딕"/>
              </a:defRPr>
            </a:pPr>
            <a:r>
              <a:rPr sz="900" b="0">
                <a:solidFill>
                  <a:srgbClr val="5B6570"/>
                </a:solidFill>
                <a:latin typeface="맑은 고딕"/>
                <a:ea typeface="맑은 고딕"/>
                <a:cs typeface="맑은 고딕"/>
              </a:rPr>
              <a:t>화면의 일정과 수치는 시연용 예시입니다.</a:t>
            </a:r>
          </a:p>
        </p:txBody>
      </p:sp>
    </p:spTree>
    <p:extLst>
      <p:ext uri="{BB962C8B-B14F-4D97-AF65-F5344CB8AC3E}">
        <p14:creationId xmlns:p14="http://schemas.microsoft.com/office/powerpoint/2010/main" val="3195766679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직사각형 23">
            <a:extLst xmlns:a="http://schemas.openxmlformats.org/drawingml/2006/main">
              <a:ext uri="{FF2B5EF4-FFF2-40B4-BE49-F238E27FC236}">
                <a16:creationId xmlns:a16="http://schemas.microsoft.com/office/drawing/2014/main" id="{87FE247D-BCD8-49C9-AB08-42C204606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504" y="0"/>
            <a:ext cx="3096344" cy="1124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5AA8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5" name="직선 연결선 24">
            <a:extLst xmlns:a="http://schemas.openxmlformats.org/drawingml/2006/main">
              <a:ext uri="{FF2B5EF4-FFF2-40B4-BE49-F238E27FC236}">
                <a16:creationId xmlns:a16="http://schemas.microsoft.com/office/drawing/2014/main" id="{56E72A93-616C-44BF-B205-95E477EF8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356" y="541195"/>
            <a:ext cx="2591728" cy="0"/>
          </a:xfrm>
          <a:prstGeom xmlns:a="http://schemas.openxmlformats.org/drawingml/2006/main" prst="line">
            <a:avLst/>
          </a:prstGeom>
          <a:ln xmlns:a="http://schemas.openxmlformats.org/drawingml/2006/main" w="28575">
            <a:solidFill>
              <a:schemeClr val="bg1">
                <a:lumMod val="95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6" name="직선 연결선 25">
            <a:extLst xmlns:a="http://schemas.openxmlformats.org/drawingml/2006/main">
              <a:ext uri="{FF2B5EF4-FFF2-40B4-BE49-F238E27FC236}">
                <a16:creationId xmlns:a16="http://schemas.microsoft.com/office/drawing/2014/main" id="{072C1394-538A-4BCF-9224-0784E0A04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5856" y="548680"/>
            <a:ext cx="5328592" cy="0"/>
          </a:xfrm>
          <a:prstGeom xmlns:a="http://schemas.openxmlformats.org/drawingml/2006/main" prst="line">
            <a:avLst/>
          </a:prstGeom>
          <a:ln xmlns:a="http://schemas.openxmlformats.org/drawingml/2006/main" w="28575">
            <a:solidFill>
              <a:srgbClr val="3B5AA8"/>
            </a:solidFill>
          </a:ln>
        </p:spPr>
        <p:style>
          <a:lnRef xmlns:a="http://schemas.openxmlformats.org/drawingml/2006/main" idx="1">
            <a:schemeClr val="accent4"/>
          </a:lnRef>
          <a:fillRef xmlns:a="http://schemas.openxmlformats.org/drawingml/2006/main" idx="0">
            <a:schemeClr val="accent4"/>
          </a:fillRef>
          <a:effectRef xmlns:a="http://schemas.openxmlformats.org/drawingml/2006/main" idx="0">
            <a:schemeClr val="accent4"/>
          </a:effectRef>
          <a:fontRef xmlns:a="http://schemas.openxmlformats.org/drawingml/2006/main" idx="minor">
            <a:schemeClr val="tx1"/>
          </a:fontRef>
        </p:style>
      </p:sp>
      <p:sp>
        <p:nvSpPr>
          <p:cNvPr id="27" name="제목 12">
            <a:extLst xmlns:a="http://schemas.openxmlformats.org/drawingml/2006/main">
              <a:ext uri="{FF2B5EF4-FFF2-40B4-BE49-F238E27FC236}">
                <a16:creationId xmlns:a16="http://schemas.microsoft.com/office/drawing/2014/main" id="{99D20B54-FBA0-40C2-B7F4-249D25DD9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528" y="692696"/>
            <a:ext cx="2880320" cy="29663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 defTabSz="91440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 sz="17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defRPr>
            </a:pPr>
            <a:r>
              <a:rPr sz="1700" b="1" i="0" u="none" cap="none" spc="0">
                <a:ln>
                  <a:noFill/>
                </a:ln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화면 설계서</a:t>
            </a:r>
            <a:endParaRPr sz="1700" b="0" i="0" u="none" kern="1200" cap="none" spc="-50" baseline="0">
              <a:ln>
                <a:noFill/>
              </a:ln>
              <a:solidFill>
                <a:schemeClr val="bg1"/>
              </a:solidFill>
              <a:latin typeface="+mn-ea"/>
              <a:ea typeface="+mn-ea"/>
              <a:cs typeface="+mn-ea"/>
            </a:endParaRPr>
          </a:p>
        </p:txBody>
      </p:sp>
      <p:pic>
        <p:nvPicPr>
          <p:cNvPr id="106" name="Pictur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42c327ddaf409f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676456" y="476671"/>
            <a:ext cx="454960" cy="158965"/>
          </a:xfrm>
          <a:prstGeom xmlns:a="http://schemas.openxmlformats.org/drawingml/2006/main" prst="rect">
            <a:avLst/>
          </a:prstGeom>
          <a:ln xmlns:a="http://schemas.openxmlformats.org/drawingml/2006/main" w="9525">
            <a:noFill/>
            <a:miter/>
          </a:ln>
        </p:spPr>
      </p:pic>
      <p:sp>
        <p:nvSpPr>
          <p:cNvPr id="32" name="막힌 원호 31">
            <a:extLst xmlns:a="http://schemas.openxmlformats.org/drawingml/2006/main">
              <a:ext uri="{FF2B5EF4-FFF2-40B4-BE49-F238E27FC236}">
                <a16:creationId xmlns:a16="http://schemas.microsoft.com/office/drawing/2014/main" id="{9618B776-B49F-4D0C-880D-07488DEBF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-577697" y="-576001"/>
            <a:ext cx="1181047" cy="1167213"/>
          </a:xfrm>
          <a:prstGeom xmlns:a="http://schemas.openxmlformats.org/drawingml/2006/main" prst="blockArc">
            <a:avLst>
              <a:gd name="adj1" fmla="val 16158679"/>
              <a:gd name="adj2" fmla="val 0"/>
              <a:gd name="adj3" fmla="val 25000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solidFill>
                <a:schemeClr val="tx1"/>
              </a:solidFill>
            </a:endParaRP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4EC6B063-9A88-44E0-9FF3-09B7ABEEC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38250"/>
            <a:ext cx="8324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24292F"/>
                </a:solidFill>
                <a:latin typeface="맑은 고딕"/>
                <a:ea typeface="맑은 고딕"/>
                <a:cs typeface="맑은 고딕"/>
              </a:defRPr>
            </a:pPr>
            <a:r>
              <a:rPr sz="2100" b="1">
                <a:solidFill>
                  <a:srgbClr val="24292F"/>
                </a:solidFill>
                <a:latin typeface="맑은 고딕"/>
                <a:ea typeface="맑은 고딕"/>
                <a:cs typeface="맑은 고딕"/>
              </a:rPr>
              <a:t>궁극적 목표 인터뷰와 만다라트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5E3D4E5C-70D1-4718-8244-7FC83D0F8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48425"/>
            <a:ext cx="69532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B6570"/>
                </a:solidFill>
                <a:latin typeface="맑은 고딕"/>
                <a:ea typeface="맑은 고딕"/>
                <a:cs typeface="맑은 고딕"/>
              </a:defRPr>
            </a:pPr>
            <a:r>
              <a:rPr sz="900" b="0">
                <a:solidFill>
                  <a:srgbClr val="5B6570"/>
                </a:solidFill>
                <a:latin typeface="맑은 고딕"/>
                <a:ea typeface="맑은 고딕"/>
                <a:cs typeface="맑은 고딕"/>
              </a:rPr>
              <a:t>RE:ACTION  /  제작설계서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A7E6031E-9598-4DC1-BFD8-20273EF04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6448425"/>
            <a:ext cx="4000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B6570"/>
                </a:solidFill>
                <a:latin typeface="맑은 고딕"/>
                <a:ea typeface="맑은 고딕"/>
                <a:cs typeface="맑은 고딕"/>
              </a:defRPr>
            </a:pPr>
            <a:r>
              <a:rPr sz="900" b="0">
                <a:solidFill>
                  <a:srgbClr val="5B6570"/>
                </a:solidFill>
                <a:latin typeface="맑은 고딕"/>
                <a:ea typeface="맑은 고딕"/>
                <a:cs typeface="맑은 고딕"/>
              </a:rPr>
              <a:t>08</a:t>
            </a:r>
          </a:p>
        </p:txBody>
      </p:sp>
      <p:pic>
        <p:nvPicPr>
          <p:cNvPr id="1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acfa845076408d"/>
          <a:stretch xmlns:a="http://schemas.openxmlformats.org/drawingml/2006/main"/>
        </p:blipFill>
        <p:spPr>
          <a:xfrm xmlns:a="http://schemas.openxmlformats.org/drawingml/2006/main">
            <a:off x="445734" y="1819275"/>
            <a:ext cx="2042232" cy="4419600"/>
          </a:xfrm>
          <a:prstGeom xmlns:a="http://schemas.openxmlformats.org/drawingml/2006/main" prst="rect">
            <a:avLst/>
          </a:prstGeom>
        </p:spPr>
      </p:pic>
      <p:pic>
        <p:nvPicPr>
          <p:cNvPr id="1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5b0b0e6cd34380"/>
          <a:stretch xmlns:a="http://schemas.openxmlformats.org/drawingml/2006/main"/>
        </p:blipFill>
        <p:spPr>
          <a:xfrm xmlns:a="http://schemas.openxmlformats.org/drawingml/2006/main">
            <a:off x="2674584" y="1819275"/>
            <a:ext cx="2042232" cy="4419600"/>
          </a:xfrm>
          <a:prstGeom xmlns:a="http://schemas.openxmlformats.org/drawingml/2006/main" prst="rect">
            <a:avLst/>
          </a:prstGeom>
        </p:spPr>
      </p:pic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C419BED2-DA41-45A1-B88E-5909A1191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191250"/>
            <a:ext cx="20955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B6570"/>
                </a:solidFill>
                <a:latin typeface="맑은 고딕"/>
                <a:ea typeface="맑은 고딕"/>
                <a:cs typeface="맑은 고딕"/>
              </a:defRPr>
            </a:pPr>
            <a:r>
              <a:rPr sz="900" b="0">
                <a:solidFill>
                  <a:srgbClr val="5B6570"/>
                </a:solidFill>
                <a:latin typeface="맑은 고딕"/>
                <a:ea typeface="맑은 고딕"/>
                <a:cs typeface="맑은 고딕"/>
              </a:rPr>
              <a:t>① 장기적으로 원하는 방향 정하기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3F1A9BF7-27F1-4B2A-81C7-34C9904B5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6191250"/>
            <a:ext cx="20955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B6570"/>
                </a:solidFill>
                <a:latin typeface="맑은 고딕"/>
                <a:ea typeface="맑은 고딕"/>
                <a:cs typeface="맑은 고딕"/>
              </a:defRPr>
            </a:pPr>
            <a:r>
              <a:rPr sz="900" b="0">
                <a:solidFill>
                  <a:srgbClr val="5B6570"/>
                </a:solidFill>
                <a:latin typeface="맑은 고딕"/>
                <a:ea typeface="맑은 고딕"/>
                <a:cs typeface="맑은 고딕"/>
              </a:rPr>
              <a:t>② 영역별 행동 확인하기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12F0D26C-27B7-48E8-903A-99CB30ABC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1876425"/>
            <a:ext cx="37242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3B5AA8"/>
                </a:solidFill>
                <a:latin typeface="맑은 고딕"/>
                <a:ea typeface="맑은 고딕"/>
                <a:cs typeface="맑은 고딕"/>
              </a:defRPr>
            </a:pPr>
            <a:r>
              <a:rPr sz="1650" b="1">
                <a:solidFill>
                  <a:srgbClr val="3B5AA8"/>
                </a:solidFill>
                <a:latin typeface="맑은 고딕"/>
                <a:ea typeface="맑은 고딕"/>
                <a:cs typeface="맑은 고딕"/>
              </a:rPr>
              <a:t>장기적인 방향을 먼저 정한다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7616189A-7106-4001-93CE-BDFB8B5F2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2247900"/>
            <a:ext cx="3724275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defRPr>
            </a:pPr>
            <a:r>
              <a:rPr sz="1575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rPr>
              <a:t>목표 관리에서 궁극적 목표 인터뷰를</a:t>
            </a:r>
          </a:p>
          <a:p xmlns:a="http://schemas.openxmlformats.org/drawingml/2006/main">
            <a:pPr>
              <a:defRPr sz="1575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defRPr>
            </a:pPr>
            <a:r>
              <a:rPr sz="1575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rPr>
              <a:t>시작한다. 이번 주 일정이 아니라</a:t>
            </a:r>
          </a:p>
          <a:p xmlns:a="http://schemas.openxmlformats.org/drawingml/2006/main">
            <a:pPr>
              <a:defRPr sz="1575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defRPr>
            </a:pPr>
            <a:r>
              <a:rPr sz="1575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rPr>
              <a:t>장기적으로 원하는 방향을 구체화한다.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F4975B50-ADA0-40AA-BB56-024D0AEA7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3390900"/>
            <a:ext cx="37242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FEA"/>
          </a:solidFill>
          <a:ln xmlns:a="http://schemas.openxmlformats.org/drawingml/2006/main" w="0">
            <a:noFill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7DC74E4C-BBF5-47A8-9F82-15BB8E6AC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3581400"/>
            <a:ext cx="37242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3B5AA8"/>
                </a:solidFill>
                <a:latin typeface="맑은 고딕"/>
                <a:ea typeface="맑은 고딕"/>
                <a:cs typeface="맑은 고딕"/>
              </a:defRPr>
            </a:pPr>
            <a:r>
              <a:rPr sz="1650" b="1">
                <a:solidFill>
                  <a:srgbClr val="3B5AA8"/>
                </a:solidFill>
                <a:latin typeface="맑은 고딕"/>
                <a:ea typeface="맑은 고딕"/>
                <a:cs typeface="맑은 고딕"/>
              </a:rPr>
              <a:t>큰 목표를 구체적인 행동으로 나눈다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378D2463-48A9-4675-AC72-0F9661AE4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3952875"/>
            <a:ext cx="3724275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defRPr>
            </a:pPr>
            <a:r>
              <a:rPr sz="1575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rPr>
              <a:t>중심 목표 1개에서 하위 8개 영역,</a:t>
            </a:r>
          </a:p>
          <a:p xmlns:a="http://schemas.openxmlformats.org/drawingml/2006/main">
            <a:pPr>
              <a:defRPr sz="1575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defRPr>
            </a:pPr>
            <a:r>
              <a:rPr sz="1575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rPr>
              <a:t>영역마다 최대 8개 행동을 만든다.</a:t>
            </a:r>
          </a:p>
          <a:p xmlns:a="http://schemas.openxmlformats.org/drawingml/2006/main">
            <a:pPr>
              <a:defRPr sz="1575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defRPr>
            </a:pPr>
            <a:r>
              <a:rPr sz="1575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rPr>
              <a:t>초안을 고치고 승인한 뒤 관리한다.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0EE112C1-D166-455C-8C50-1D3A42A12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5000625"/>
            <a:ext cx="37242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3B5AA8"/>
                </a:solidFill>
                <a:latin typeface="맑은 고딕"/>
                <a:ea typeface="맑은 고딕"/>
                <a:cs typeface="맑은 고딕"/>
              </a:defRPr>
            </a:pPr>
            <a:r>
              <a:rPr sz="1650" b="1">
                <a:solidFill>
                  <a:srgbClr val="3B5AA8"/>
                </a:solidFill>
                <a:latin typeface="맑은 고딕"/>
                <a:ea typeface="맑은 고딕"/>
                <a:cs typeface="맑은 고딕"/>
              </a:rPr>
              <a:t>처리 핵심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7F6FB6D6-B176-471B-8F56-4839A693A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5362575"/>
            <a:ext cx="372427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defRPr>
            </a:pPr>
            <a:r>
              <a:rPr sz="1500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rPr>
              <a:t>직접 고친 내용을 남겨두고 필요한</a:t>
            </a:r>
          </a:p>
          <a:p xmlns:a="http://schemas.openxmlformats.org/drawingml/2006/main">
            <a:pPr>
              <a:defRPr sz="1500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defRPr>
            </a:pPr>
            <a:r>
              <a:rPr sz="1500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rPr>
              <a:t>영역을 다시 만든다. 각 칸의 완료와</a:t>
            </a:r>
          </a:p>
          <a:p xmlns:a="http://schemas.openxmlformats.org/drawingml/2006/main">
            <a:pPr>
              <a:defRPr sz="1500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defRPr>
            </a:pPr>
            <a:r>
              <a:rPr sz="1500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rPr>
              <a:t>진행 상황을 따로 확인할 수 있다.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1AC48CC2-5C3A-4F82-BCB3-51F22A289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61531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B6570"/>
                </a:solidFill>
                <a:latin typeface="맑은 고딕"/>
                <a:ea typeface="맑은 고딕"/>
                <a:cs typeface="맑은 고딕"/>
              </a:defRPr>
            </a:pPr>
            <a:r>
              <a:rPr sz="900" b="0">
                <a:solidFill>
                  <a:srgbClr val="5B6570"/>
                </a:solidFill>
                <a:latin typeface="맑은 고딕"/>
                <a:ea typeface="맑은 고딕"/>
                <a:cs typeface="맑은 고딕"/>
              </a:rPr>
              <a:t>화면의 일정과 수치는 시연용 예시입니다.</a:t>
            </a:r>
          </a:p>
        </p:txBody>
      </p:sp>
    </p:spTree>
    <p:extLst>
      <p:ext uri="{BB962C8B-B14F-4D97-AF65-F5344CB8AC3E}">
        <p14:creationId xmlns:p14="http://schemas.microsoft.com/office/powerpoint/2010/main" val="3195766679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직사각형 23">
            <a:extLst xmlns:a="http://schemas.openxmlformats.org/drawingml/2006/main">
              <a:ext uri="{FF2B5EF4-FFF2-40B4-BE49-F238E27FC236}">
                <a16:creationId xmlns:a16="http://schemas.microsoft.com/office/drawing/2014/main" id="{87FE247D-BCD8-49C9-AB08-42C204606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504" y="0"/>
            <a:ext cx="3096344" cy="1124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5AA8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5" name="직선 연결선 24">
            <a:extLst xmlns:a="http://schemas.openxmlformats.org/drawingml/2006/main">
              <a:ext uri="{FF2B5EF4-FFF2-40B4-BE49-F238E27FC236}">
                <a16:creationId xmlns:a16="http://schemas.microsoft.com/office/drawing/2014/main" id="{56E72A93-616C-44BF-B205-95E477EF8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356" y="541195"/>
            <a:ext cx="2591728" cy="0"/>
          </a:xfrm>
          <a:prstGeom xmlns:a="http://schemas.openxmlformats.org/drawingml/2006/main" prst="line">
            <a:avLst/>
          </a:prstGeom>
          <a:ln xmlns:a="http://schemas.openxmlformats.org/drawingml/2006/main" w="28575">
            <a:solidFill>
              <a:schemeClr val="bg1">
                <a:lumMod val="95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6" name="직선 연결선 25">
            <a:extLst xmlns:a="http://schemas.openxmlformats.org/drawingml/2006/main">
              <a:ext uri="{FF2B5EF4-FFF2-40B4-BE49-F238E27FC236}">
                <a16:creationId xmlns:a16="http://schemas.microsoft.com/office/drawing/2014/main" id="{072C1394-538A-4BCF-9224-0784E0A04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5856" y="548680"/>
            <a:ext cx="5328592" cy="0"/>
          </a:xfrm>
          <a:prstGeom xmlns:a="http://schemas.openxmlformats.org/drawingml/2006/main" prst="line">
            <a:avLst/>
          </a:prstGeom>
          <a:ln xmlns:a="http://schemas.openxmlformats.org/drawingml/2006/main" w="28575">
            <a:solidFill>
              <a:srgbClr val="3B5AA8"/>
            </a:solidFill>
          </a:ln>
        </p:spPr>
        <p:style>
          <a:lnRef xmlns:a="http://schemas.openxmlformats.org/drawingml/2006/main" idx="1">
            <a:schemeClr val="accent4"/>
          </a:lnRef>
          <a:fillRef xmlns:a="http://schemas.openxmlformats.org/drawingml/2006/main" idx="0">
            <a:schemeClr val="accent4"/>
          </a:fillRef>
          <a:effectRef xmlns:a="http://schemas.openxmlformats.org/drawingml/2006/main" idx="0">
            <a:schemeClr val="accent4"/>
          </a:effectRef>
          <a:fontRef xmlns:a="http://schemas.openxmlformats.org/drawingml/2006/main" idx="minor">
            <a:schemeClr val="tx1"/>
          </a:fontRef>
        </p:style>
      </p:sp>
      <p:sp>
        <p:nvSpPr>
          <p:cNvPr id="27" name="제목 12">
            <a:extLst xmlns:a="http://schemas.openxmlformats.org/drawingml/2006/main">
              <a:ext uri="{FF2B5EF4-FFF2-40B4-BE49-F238E27FC236}">
                <a16:creationId xmlns:a16="http://schemas.microsoft.com/office/drawing/2014/main" id="{99D20B54-FBA0-40C2-B7F4-249D25DD9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528" y="692696"/>
            <a:ext cx="2880320" cy="29663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 defTabSz="91440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 sz="17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defRPr>
            </a:pPr>
            <a:r>
              <a:rPr sz="1700" b="1" i="0" u="none" cap="none" spc="0">
                <a:ln>
                  <a:noFill/>
                </a:ln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화면 설계서</a:t>
            </a:r>
            <a:endParaRPr sz="1700" b="0" i="0" u="none" kern="1200" cap="none" spc="-50" baseline="0">
              <a:ln>
                <a:noFill/>
              </a:ln>
              <a:solidFill>
                <a:schemeClr val="bg1"/>
              </a:solidFill>
              <a:latin typeface="+mn-ea"/>
              <a:ea typeface="+mn-ea"/>
              <a:cs typeface="+mn-ea"/>
            </a:endParaRPr>
          </a:p>
        </p:txBody>
      </p:sp>
      <p:pic>
        <p:nvPicPr>
          <p:cNvPr id="106" name="Pictur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6faf5210be4831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676456" y="476671"/>
            <a:ext cx="454960" cy="158965"/>
          </a:xfrm>
          <a:prstGeom xmlns:a="http://schemas.openxmlformats.org/drawingml/2006/main" prst="rect">
            <a:avLst/>
          </a:prstGeom>
          <a:ln xmlns:a="http://schemas.openxmlformats.org/drawingml/2006/main" w="9525">
            <a:noFill/>
            <a:miter/>
          </a:ln>
        </p:spPr>
      </p:pic>
      <p:sp>
        <p:nvSpPr>
          <p:cNvPr id="32" name="막힌 원호 31">
            <a:extLst xmlns:a="http://schemas.openxmlformats.org/drawingml/2006/main">
              <a:ext uri="{FF2B5EF4-FFF2-40B4-BE49-F238E27FC236}">
                <a16:creationId xmlns:a16="http://schemas.microsoft.com/office/drawing/2014/main" id="{9618B776-B49F-4D0C-880D-07488DEBF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-577697" y="-576001"/>
            <a:ext cx="1181047" cy="1167213"/>
          </a:xfrm>
          <a:prstGeom xmlns:a="http://schemas.openxmlformats.org/drawingml/2006/main" prst="blockArc">
            <a:avLst>
              <a:gd name="adj1" fmla="val 16158679"/>
              <a:gd name="adj2" fmla="val 0"/>
              <a:gd name="adj3" fmla="val 25000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solidFill>
                <a:schemeClr val="tx1"/>
              </a:solidFill>
            </a:endParaRP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DA7099BE-5337-4C25-B6DA-E30B4FB40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38250"/>
            <a:ext cx="8324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24292F"/>
                </a:solidFill>
                <a:latin typeface="맑은 고딕"/>
                <a:ea typeface="맑은 고딕"/>
                <a:cs typeface="맑은 고딕"/>
              </a:defRPr>
            </a:pPr>
            <a:r>
              <a:rPr sz="2100" b="1">
                <a:solidFill>
                  <a:srgbClr val="24292F"/>
                </a:solidFill>
                <a:latin typeface="맑은 고딕"/>
                <a:ea typeface="맑은 고딕"/>
                <a:cs typeface="맑은 고딕"/>
              </a:rPr>
              <a:t>오늘 할 일 실행과 집중 기록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952162EC-1F53-4DD9-BA29-C7F9DAF3A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48425"/>
            <a:ext cx="69532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B6570"/>
                </a:solidFill>
                <a:latin typeface="맑은 고딕"/>
                <a:ea typeface="맑은 고딕"/>
                <a:cs typeface="맑은 고딕"/>
              </a:defRPr>
            </a:pPr>
            <a:r>
              <a:rPr sz="900" b="0">
                <a:solidFill>
                  <a:srgbClr val="5B6570"/>
                </a:solidFill>
                <a:latin typeface="맑은 고딕"/>
                <a:ea typeface="맑은 고딕"/>
                <a:cs typeface="맑은 고딕"/>
              </a:rPr>
              <a:t>RE:ACTION  /  제작설계서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74D95D1B-EC2B-45F6-8954-9952619BC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6448425"/>
            <a:ext cx="4000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B6570"/>
                </a:solidFill>
                <a:latin typeface="맑은 고딕"/>
                <a:ea typeface="맑은 고딕"/>
                <a:cs typeface="맑은 고딕"/>
              </a:defRPr>
            </a:pPr>
            <a:r>
              <a:rPr sz="900" b="0">
                <a:solidFill>
                  <a:srgbClr val="5B6570"/>
                </a:solidFill>
                <a:latin typeface="맑은 고딕"/>
                <a:ea typeface="맑은 고딕"/>
                <a:cs typeface="맑은 고딕"/>
              </a:rPr>
              <a:t>09</a:t>
            </a:r>
          </a:p>
        </p:txBody>
      </p:sp>
      <p:pic>
        <p:nvPicPr>
          <p:cNvPr id="1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69748e1518435e"/>
          <a:stretch xmlns:a="http://schemas.openxmlformats.org/drawingml/2006/main"/>
        </p:blipFill>
        <p:spPr>
          <a:xfrm xmlns:a="http://schemas.openxmlformats.org/drawingml/2006/main">
            <a:off x="445734" y="1819275"/>
            <a:ext cx="2042232" cy="4419600"/>
          </a:xfrm>
          <a:prstGeom xmlns:a="http://schemas.openxmlformats.org/drawingml/2006/main" prst="rect">
            <a:avLst/>
          </a:prstGeom>
        </p:spPr>
      </p:pic>
      <p:pic>
        <p:nvPicPr>
          <p:cNvPr id="1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93ffe4db2947f6"/>
          <a:stretch xmlns:a="http://schemas.openxmlformats.org/drawingml/2006/main"/>
        </p:blipFill>
        <p:spPr>
          <a:xfrm xmlns:a="http://schemas.openxmlformats.org/drawingml/2006/main">
            <a:off x="2674584" y="1819275"/>
            <a:ext cx="2042232" cy="4419600"/>
          </a:xfrm>
          <a:prstGeom xmlns:a="http://schemas.openxmlformats.org/drawingml/2006/main" prst="rect">
            <a:avLst/>
          </a:prstGeom>
        </p:spPr>
      </p:pic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55157941-0618-4CA9-8C61-B0B4CB1F5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191250"/>
            <a:ext cx="20955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B6570"/>
                </a:solidFill>
                <a:latin typeface="맑은 고딕"/>
                <a:ea typeface="맑은 고딕"/>
                <a:cs typeface="맑은 고딕"/>
              </a:defRPr>
            </a:pPr>
            <a:r>
              <a:rPr sz="900" b="0">
                <a:solidFill>
                  <a:srgbClr val="5B6570"/>
                </a:solidFill>
                <a:latin typeface="맑은 고딕"/>
                <a:ea typeface="맑은 고딕"/>
                <a:cs typeface="맑은 고딕"/>
              </a:rPr>
              <a:t>① 오늘 할 일 선택하기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D11C1C02-F250-4784-89A0-2CB9394D2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6191250"/>
            <a:ext cx="20955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B6570"/>
                </a:solidFill>
                <a:latin typeface="맑은 고딕"/>
                <a:ea typeface="맑은 고딕"/>
                <a:cs typeface="맑은 고딕"/>
              </a:defRPr>
            </a:pPr>
            <a:r>
              <a:rPr sz="900" b="0">
                <a:solidFill>
                  <a:srgbClr val="5B6570"/>
                </a:solidFill>
                <a:latin typeface="맑은 고딕"/>
                <a:ea typeface="맑은 고딕"/>
                <a:cs typeface="맑은 고딕"/>
              </a:rPr>
              <a:t>② 집중하고 결과 남기기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6C4EE3A2-EAD3-437C-BF1E-6B72214B8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1876425"/>
            <a:ext cx="37242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3B5AA8"/>
                </a:solidFill>
                <a:latin typeface="맑은 고딕"/>
                <a:ea typeface="맑은 고딕"/>
                <a:cs typeface="맑은 고딕"/>
              </a:defRPr>
            </a:pPr>
            <a:r>
              <a:rPr sz="1650" b="1">
                <a:solidFill>
                  <a:srgbClr val="3B5AA8"/>
                </a:solidFill>
                <a:latin typeface="맑은 고딕"/>
                <a:ea typeface="맑은 고딕"/>
                <a:cs typeface="맑은 고딕"/>
              </a:rPr>
              <a:t>지금 할 일을 바로 고른다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23B17F40-8739-4580-87DC-3B23B2656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2247900"/>
            <a:ext cx="3724275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defRPr>
            </a:pPr>
            <a:r>
              <a:rPr sz="1575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rPr>
              <a:t>진행 중인 일을 먼저 보여주고,</a:t>
            </a:r>
          </a:p>
          <a:p xmlns:a="http://schemas.openxmlformats.org/drawingml/2006/main">
            <a:pPr>
              <a:defRPr sz="1575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defRPr>
            </a:pPr>
            <a:r>
              <a:rPr sz="1575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rPr>
              <a:t>없으면 우선순위와 시작 시간을</a:t>
            </a:r>
          </a:p>
          <a:p xmlns:a="http://schemas.openxmlformats.org/drawingml/2006/main">
            <a:pPr>
              <a:defRPr sz="1575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defRPr>
            </a:pPr>
            <a:r>
              <a:rPr sz="1575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rPr>
              <a:t>기준으로 다음 할 일을 제시한다.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2EB1749F-4878-4077-8473-324491FF0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3362325"/>
            <a:ext cx="37242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FEA"/>
          </a:solidFill>
          <a:ln xmlns:a="http://schemas.openxmlformats.org/drawingml/2006/main" w="0">
            <a:noFill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83090CA1-CC91-4C64-AC82-726625459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3562350"/>
            <a:ext cx="37242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3B5AA8"/>
                </a:solidFill>
                <a:latin typeface="맑은 고딕"/>
                <a:ea typeface="맑은 고딕"/>
                <a:cs typeface="맑은 고딕"/>
              </a:defRPr>
            </a:pPr>
            <a:r>
              <a:rPr sz="1650" b="1">
                <a:solidFill>
                  <a:srgbClr val="3B5AA8"/>
                </a:solidFill>
                <a:latin typeface="맑은 고딕"/>
                <a:ea typeface="맑은 고딕"/>
                <a:cs typeface="맑은 고딕"/>
              </a:rPr>
              <a:t>집중한 시간과 결과를 남긴다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3603229C-3D00-4431-860A-20D73323F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3933825"/>
            <a:ext cx="37242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defRPr>
            </a:pPr>
            <a:r>
              <a:rPr sz="1575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rPr>
              <a:t>집중 모드에서 시작, 일시정지,</a:t>
            </a:r>
          </a:p>
          <a:p xmlns:a="http://schemas.openxmlformats.org/drawingml/2006/main">
            <a:pPr>
              <a:defRPr sz="1575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defRPr>
            </a:pPr>
            <a:r>
              <a:rPr sz="1575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rPr>
              <a:t>재개를 선택한다. 끝나면 완료,</a:t>
            </a:r>
          </a:p>
          <a:p xmlns:a="http://schemas.openxmlformats.org/drawingml/2006/main">
            <a:pPr>
              <a:defRPr sz="1575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defRPr>
            </a:pPr>
            <a:r>
              <a:rPr sz="1575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rPr>
              <a:t>일부 완료, 실패를 구분해 기록한다.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99DB06F1-5693-42DB-86C6-05D4C9CCF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5000625"/>
            <a:ext cx="37242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3B5AA8"/>
                </a:solidFill>
                <a:latin typeface="맑은 고딕"/>
                <a:ea typeface="맑은 고딕"/>
                <a:cs typeface="맑은 고딕"/>
              </a:defRPr>
            </a:pPr>
            <a:r>
              <a:rPr sz="1650" b="1">
                <a:solidFill>
                  <a:srgbClr val="3B5AA8"/>
                </a:solidFill>
                <a:latin typeface="맑은 고딕"/>
                <a:ea typeface="맑은 고딕"/>
                <a:cs typeface="맑은 고딕"/>
              </a:rPr>
              <a:t>처리 핵심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AC558D98-1D46-4496-8A05-E15398142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5362575"/>
            <a:ext cx="37242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defRPr>
            </a:pPr>
            <a:r>
              <a:rPr sz="1500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rPr>
              <a:t>같은 실행 번호로 결과를 저장한다.</a:t>
            </a:r>
          </a:p>
          <a:p xmlns:a="http://schemas.openxmlformats.org/drawingml/2006/main">
            <a:pPr>
              <a:defRPr sz="1500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defRPr>
            </a:pPr>
            <a:r>
              <a:rPr sz="1500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rPr>
              <a:t>일시정지는 실패로 남기지 않는다.</a:t>
            </a:r>
          </a:p>
          <a:p xmlns:a="http://schemas.openxmlformats.org/drawingml/2006/main">
            <a:pPr>
              <a:defRPr sz="1500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defRPr>
            </a:pPr>
            <a:r>
              <a:rPr sz="1500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rPr>
              <a:t>일부 완료와 실패는 회복으로 잇는다.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D6230C07-B593-400E-A196-2A882CBC2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61531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B6570"/>
                </a:solidFill>
                <a:latin typeface="맑은 고딕"/>
                <a:ea typeface="맑은 고딕"/>
                <a:cs typeface="맑은 고딕"/>
              </a:defRPr>
            </a:pPr>
            <a:r>
              <a:rPr sz="900" b="0">
                <a:solidFill>
                  <a:srgbClr val="5B6570"/>
                </a:solidFill>
                <a:latin typeface="맑은 고딕"/>
                <a:ea typeface="맑은 고딕"/>
                <a:cs typeface="맑은 고딕"/>
              </a:rPr>
              <a:t>화면의 일정과 수치는 시연용 예시입니다.</a:t>
            </a:r>
          </a:p>
        </p:txBody>
      </p:sp>
    </p:spTree>
    <p:extLst>
      <p:ext uri="{BB962C8B-B14F-4D97-AF65-F5344CB8AC3E}">
        <p14:creationId xmlns:p14="http://schemas.microsoft.com/office/powerpoint/2010/main" val="3195766679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직사각형 23">
            <a:extLst xmlns:a="http://schemas.openxmlformats.org/drawingml/2006/main">
              <a:ext uri="{FF2B5EF4-FFF2-40B4-BE49-F238E27FC236}">
                <a16:creationId xmlns:a16="http://schemas.microsoft.com/office/drawing/2014/main" id="{87FE247D-BCD8-49C9-AB08-42C204606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504" y="0"/>
            <a:ext cx="3096344" cy="1124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5AA8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5" name="직선 연결선 24">
            <a:extLst xmlns:a="http://schemas.openxmlformats.org/drawingml/2006/main">
              <a:ext uri="{FF2B5EF4-FFF2-40B4-BE49-F238E27FC236}">
                <a16:creationId xmlns:a16="http://schemas.microsoft.com/office/drawing/2014/main" id="{56E72A93-616C-44BF-B205-95E477EF8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356" y="541195"/>
            <a:ext cx="2591728" cy="0"/>
          </a:xfrm>
          <a:prstGeom xmlns:a="http://schemas.openxmlformats.org/drawingml/2006/main" prst="line">
            <a:avLst/>
          </a:prstGeom>
          <a:ln xmlns:a="http://schemas.openxmlformats.org/drawingml/2006/main" w="28575">
            <a:solidFill>
              <a:schemeClr val="bg1">
                <a:lumMod val="95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6" name="직선 연결선 25">
            <a:extLst xmlns:a="http://schemas.openxmlformats.org/drawingml/2006/main">
              <a:ext uri="{FF2B5EF4-FFF2-40B4-BE49-F238E27FC236}">
                <a16:creationId xmlns:a16="http://schemas.microsoft.com/office/drawing/2014/main" id="{072C1394-538A-4BCF-9224-0784E0A04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5856" y="548680"/>
            <a:ext cx="5328592" cy="0"/>
          </a:xfrm>
          <a:prstGeom xmlns:a="http://schemas.openxmlformats.org/drawingml/2006/main" prst="line">
            <a:avLst/>
          </a:prstGeom>
          <a:ln xmlns:a="http://schemas.openxmlformats.org/drawingml/2006/main" w="28575">
            <a:solidFill>
              <a:srgbClr val="3B5AA8"/>
            </a:solidFill>
          </a:ln>
        </p:spPr>
        <p:style>
          <a:lnRef xmlns:a="http://schemas.openxmlformats.org/drawingml/2006/main" idx="1">
            <a:schemeClr val="accent4"/>
          </a:lnRef>
          <a:fillRef xmlns:a="http://schemas.openxmlformats.org/drawingml/2006/main" idx="0">
            <a:schemeClr val="accent4"/>
          </a:fillRef>
          <a:effectRef xmlns:a="http://schemas.openxmlformats.org/drawingml/2006/main" idx="0">
            <a:schemeClr val="accent4"/>
          </a:effectRef>
          <a:fontRef xmlns:a="http://schemas.openxmlformats.org/drawingml/2006/main" idx="minor">
            <a:schemeClr val="tx1"/>
          </a:fontRef>
        </p:style>
      </p:sp>
      <p:sp>
        <p:nvSpPr>
          <p:cNvPr id="27" name="제목 12">
            <a:extLst xmlns:a="http://schemas.openxmlformats.org/drawingml/2006/main">
              <a:ext uri="{FF2B5EF4-FFF2-40B4-BE49-F238E27FC236}">
                <a16:creationId xmlns:a16="http://schemas.microsoft.com/office/drawing/2014/main" id="{99D20B54-FBA0-40C2-B7F4-249D25DD9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528" y="692696"/>
            <a:ext cx="2880320" cy="29663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 defTabSz="91440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 sz="17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defRPr>
            </a:pPr>
            <a:r>
              <a:rPr sz="1700" b="1" i="0" u="none" cap="none" spc="0">
                <a:ln>
                  <a:noFill/>
                </a:ln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화면 설계서</a:t>
            </a:r>
            <a:endParaRPr sz="1700" b="0" i="0" u="none" kern="1200" cap="none" spc="-50" baseline="0">
              <a:ln>
                <a:noFill/>
              </a:ln>
              <a:solidFill>
                <a:schemeClr val="bg1"/>
              </a:solidFill>
              <a:latin typeface="+mn-ea"/>
              <a:ea typeface="+mn-ea"/>
              <a:cs typeface="+mn-ea"/>
            </a:endParaRPr>
          </a:p>
        </p:txBody>
      </p:sp>
      <p:pic>
        <p:nvPicPr>
          <p:cNvPr id="106" name="Pictur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e3044b0d0944db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676456" y="476671"/>
            <a:ext cx="454960" cy="158965"/>
          </a:xfrm>
          <a:prstGeom xmlns:a="http://schemas.openxmlformats.org/drawingml/2006/main" prst="rect">
            <a:avLst/>
          </a:prstGeom>
          <a:ln xmlns:a="http://schemas.openxmlformats.org/drawingml/2006/main" w="9525">
            <a:noFill/>
            <a:miter/>
          </a:ln>
        </p:spPr>
      </p:pic>
      <p:sp>
        <p:nvSpPr>
          <p:cNvPr id="32" name="막힌 원호 31">
            <a:extLst xmlns:a="http://schemas.openxmlformats.org/drawingml/2006/main">
              <a:ext uri="{FF2B5EF4-FFF2-40B4-BE49-F238E27FC236}">
                <a16:creationId xmlns:a16="http://schemas.microsoft.com/office/drawing/2014/main" id="{9618B776-B49F-4D0C-880D-07488DEBF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-577697" y="-576001"/>
            <a:ext cx="1181047" cy="1167213"/>
          </a:xfrm>
          <a:prstGeom xmlns:a="http://schemas.openxmlformats.org/drawingml/2006/main" prst="blockArc">
            <a:avLst>
              <a:gd name="adj1" fmla="val 16158679"/>
              <a:gd name="adj2" fmla="val 0"/>
              <a:gd name="adj3" fmla="val 25000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solidFill>
                <a:schemeClr val="tx1"/>
              </a:solidFill>
            </a:endParaRP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DD4A559E-A123-4AC4-A17C-3F5E99663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38250"/>
            <a:ext cx="8324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24292F"/>
                </a:solidFill>
                <a:latin typeface="맑은 고딕"/>
                <a:ea typeface="맑은 고딕"/>
                <a:cs typeface="맑은 고딕"/>
              </a:defRPr>
            </a:pPr>
            <a:r>
              <a:rPr sz="2100" b="1">
                <a:solidFill>
                  <a:srgbClr val="24292F"/>
                </a:solidFill>
                <a:latin typeface="맑은 고딕"/>
                <a:ea typeface="맑은 고딕"/>
                <a:cs typeface="맑은 고딕"/>
              </a:rPr>
              <a:t>실패 원인에 맞춘 회복과 리플랜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CE89B624-4193-42E5-BB5E-35D81B793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48425"/>
            <a:ext cx="69532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B6570"/>
                </a:solidFill>
                <a:latin typeface="맑은 고딕"/>
                <a:ea typeface="맑은 고딕"/>
                <a:cs typeface="맑은 고딕"/>
              </a:defRPr>
            </a:pPr>
            <a:r>
              <a:rPr sz="900" b="0">
                <a:solidFill>
                  <a:srgbClr val="5B6570"/>
                </a:solidFill>
                <a:latin typeface="맑은 고딕"/>
                <a:ea typeface="맑은 고딕"/>
                <a:cs typeface="맑은 고딕"/>
              </a:rPr>
              <a:t>RE:ACTION  /  제작설계서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9056B695-78B3-4BFA-BEA1-AE11EEE20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6448425"/>
            <a:ext cx="4000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B6570"/>
                </a:solidFill>
                <a:latin typeface="맑은 고딕"/>
                <a:ea typeface="맑은 고딕"/>
                <a:cs typeface="맑은 고딕"/>
              </a:defRPr>
            </a:pPr>
            <a:r>
              <a:rPr sz="900" b="0">
                <a:solidFill>
                  <a:srgbClr val="5B6570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  <p:pic>
        <p:nvPicPr>
          <p:cNvPr id="1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82ac84a9284a1b"/>
          <a:stretch xmlns:a="http://schemas.openxmlformats.org/drawingml/2006/main"/>
        </p:blipFill>
        <p:spPr>
          <a:xfrm xmlns:a="http://schemas.openxmlformats.org/drawingml/2006/main">
            <a:off x="445734" y="1819275"/>
            <a:ext cx="2042232" cy="4419600"/>
          </a:xfrm>
          <a:prstGeom xmlns:a="http://schemas.openxmlformats.org/drawingml/2006/main" prst="rect">
            <a:avLst/>
          </a:prstGeom>
        </p:spPr>
      </p:pic>
      <p:pic>
        <p:nvPicPr>
          <p:cNvPr id="1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7798df48144b46"/>
          <a:stretch xmlns:a="http://schemas.openxmlformats.org/drawingml/2006/main"/>
        </p:blipFill>
        <p:spPr>
          <a:xfrm xmlns:a="http://schemas.openxmlformats.org/drawingml/2006/main">
            <a:off x="2674584" y="1819275"/>
            <a:ext cx="2042232" cy="4419600"/>
          </a:xfrm>
          <a:prstGeom xmlns:a="http://schemas.openxmlformats.org/drawingml/2006/main" prst="rect">
            <a:avLst/>
          </a:prstGeom>
        </p:spPr>
      </p:pic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B9B75DBD-E50B-404F-8F77-E4DF55AE4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191250"/>
            <a:ext cx="20955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B6570"/>
                </a:solidFill>
                <a:latin typeface="맑은 고딕"/>
                <a:ea typeface="맑은 고딕"/>
                <a:cs typeface="맑은 고딕"/>
              </a:defRPr>
            </a:pPr>
            <a:r>
              <a:rPr sz="900" b="0">
                <a:solidFill>
                  <a:srgbClr val="5B6570"/>
                </a:solidFill>
                <a:latin typeface="맑은 고딕"/>
                <a:ea typeface="맑은 고딕"/>
                <a:cs typeface="맑은 고딕"/>
              </a:rPr>
              <a:t>① 다시 할 수 있는 제안 고르기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EBC73A2C-8E54-45A2-9D59-8568BE032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6191250"/>
            <a:ext cx="20955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B6570"/>
                </a:solidFill>
                <a:latin typeface="맑은 고딕"/>
                <a:ea typeface="맑은 고딕"/>
                <a:cs typeface="맑은 고딕"/>
              </a:defRPr>
            </a:pPr>
            <a:r>
              <a:rPr sz="900" b="0">
                <a:solidFill>
                  <a:srgbClr val="5B6570"/>
                </a:solidFill>
                <a:latin typeface="맑은 고딕"/>
                <a:ea typeface="맑은 고딕"/>
                <a:cs typeface="맑은 고딕"/>
              </a:rPr>
              <a:t>② 변경 전후 확인하기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67B01D29-7D91-429A-80D3-A41B7A569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1866900"/>
            <a:ext cx="37242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3B5AA8"/>
                </a:solidFill>
                <a:latin typeface="맑은 고딕"/>
                <a:ea typeface="맑은 고딕"/>
                <a:cs typeface="맑은 고딕"/>
              </a:defRPr>
            </a:pPr>
            <a:r>
              <a:rPr sz="1650" b="1">
                <a:solidFill>
                  <a:srgbClr val="3B5AA8"/>
                </a:solidFill>
                <a:latin typeface="맑은 고딕"/>
                <a:ea typeface="맑은 고딕"/>
                <a:cs typeface="맑은 고딕"/>
              </a:rPr>
              <a:t>못한 이유를 바탕으로 다시 정한다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D83B8FDC-9071-4D56-AAB2-D8C5ABABB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2238375"/>
            <a:ext cx="3724275" cy="1247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38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defRPr>
            </a:pPr>
            <a:r>
              <a:rPr sz="1538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rPr>
              <a:t>실패 원인을 1~2개 선택해 남긴다.</a:t>
            </a:r>
          </a:p>
          <a:p xmlns:a="http://schemas.openxmlformats.org/drawingml/2006/main">
            <a:pPr>
              <a:defRPr sz="1538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defRPr>
            </a:pPr>
            <a:r>
              <a:rPr sz="1538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rPr>
              <a:t>회복 화면에서는 분량 줄이기,</a:t>
            </a:r>
          </a:p>
          <a:p xmlns:a="http://schemas.openxmlformats.org/drawingml/2006/main">
            <a:pPr>
              <a:defRPr sz="1538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defRPr>
            </a:pPr>
            <a:r>
              <a:rPr sz="1538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rPr>
              <a:t>시간 변경, 내일 이어 하기, 보류 중</a:t>
            </a:r>
          </a:p>
          <a:p xmlns:a="http://schemas.openxmlformats.org/drawingml/2006/main">
            <a:pPr>
              <a:defRPr sz="1538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defRPr>
            </a:pPr>
            <a:r>
              <a:rPr sz="1538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rPr>
              <a:t>현재 상황에 맞는 제안을 고른다.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2F6335A0-5F35-464B-9191-950C6DA48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3581400"/>
            <a:ext cx="37242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FEA"/>
          </a:solidFill>
          <a:ln xmlns:a="http://schemas.openxmlformats.org/drawingml/2006/main" w="0">
            <a:noFill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BBE5867D-8E80-40F0-8E79-F65FF72F1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3771900"/>
            <a:ext cx="37242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3B5AA8"/>
                </a:solidFill>
                <a:latin typeface="맑은 고딕"/>
                <a:ea typeface="맑은 고딕"/>
                <a:cs typeface="맑은 고딕"/>
              </a:defRPr>
            </a:pPr>
            <a:r>
              <a:rPr sz="1650" b="1">
                <a:solidFill>
                  <a:srgbClr val="3B5AA8"/>
                </a:solidFill>
                <a:latin typeface="맑은 고딕"/>
                <a:ea typeface="맑은 고딕"/>
                <a:cs typeface="맑은 고딕"/>
              </a:rPr>
              <a:t>달라질 내용을 보고 반영한다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87F02B80-A51E-4A4D-9F6A-9BCFD0D31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4143375"/>
            <a:ext cx="3724275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38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defRPr>
            </a:pPr>
            <a:r>
              <a:rPr sz="1538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rPr>
              <a:t>바뀌는 할 일, 분량과 시간을 확인한다.</a:t>
            </a:r>
          </a:p>
          <a:p xmlns:a="http://schemas.openxmlformats.org/drawingml/2006/main">
            <a:pPr>
              <a:defRPr sz="1538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defRPr>
            </a:pPr>
            <a:r>
              <a:rPr sz="1538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rPr>
              <a:t>승인 요청이 성공한 뒤에</a:t>
            </a:r>
          </a:p>
          <a:p xmlns:a="http://schemas.openxmlformats.org/drawingml/2006/main">
            <a:pPr>
              <a:defRPr sz="1538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defRPr>
            </a:pPr>
            <a:r>
              <a:rPr sz="1538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rPr>
              <a:t>오늘 실행으로 돌아간다.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EE42BD04-303A-4D76-B319-F81CF029E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5019675"/>
            <a:ext cx="37242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3B5AA8"/>
                </a:solidFill>
                <a:latin typeface="맑은 고딕"/>
                <a:ea typeface="맑은 고딕"/>
                <a:cs typeface="맑은 고딕"/>
              </a:defRPr>
            </a:pPr>
            <a:r>
              <a:rPr sz="1650" b="1">
                <a:solidFill>
                  <a:srgbClr val="3B5AA8"/>
                </a:solidFill>
                <a:latin typeface="맑은 고딕"/>
                <a:ea typeface="맑은 고딕"/>
                <a:cs typeface="맑은 고딕"/>
              </a:rPr>
              <a:t>처리 핵심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1158A996-0103-4A7B-AE7B-203C488A2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5381625"/>
            <a:ext cx="3724275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38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defRPr>
            </a:pPr>
            <a:r>
              <a:rPr sz="1538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rPr>
              <a:t>결과와 원인 저장 → 회복 제안 조회</a:t>
            </a:r>
          </a:p>
          <a:p xmlns:a="http://schemas.openxmlformats.org/drawingml/2006/main">
            <a:pPr>
              <a:defRPr sz="1538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defRPr>
            </a:pPr>
            <a:r>
              <a:rPr sz="1538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rPr>
              <a:t>→ 선택 저장 → 변경 확인 → 승인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FA6D4C5E-AA35-4FEE-A70F-9904C0153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61531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B6570"/>
                </a:solidFill>
                <a:latin typeface="맑은 고딕"/>
                <a:ea typeface="맑은 고딕"/>
                <a:cs typeface="맑은 고딕"/>
              </a:defRPr>
            </a:pPr>
            <a:r>
              <a:rPr sz="900" b="0">
                <a:solidFill>
                  <a:srgbClr val="5B6570"/>
                </a:solidFill>
                <a:latin typeface="맑은 고딕"/>
                <a:ea typeface="맑은 고딕"/>
                <a:cs typeface="맑은 고딕"/>
              </a:rPr>
              <a:t>화면의 일정과 수치는 시연용 예시입니다.</a:t>
            </a:r>
          </a:p>
        </p:txBody>
      </p:sp>
    </p:spTree>
    <p:extLst>
      <p:ext uri="{BB962C8B-B14F-4D97-AF65-F5344CB8AC3E}">
        <p14:creationId xmlns:p14="http://schemas.microsoft.com/office/powerpoint/2010/main" val="3195766679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직사각형 23">
            <a:extLst xmlns:a="http://schemas.openxmlformats.org/drawingml/2006/main">
              <a:ext uri="{FF2B5EF4-FFF2-40B4-BE49-F238E27FC236}">
                <a16:creationId xmlns:a16="http://schemas.microsoft.com/office/drawing/2014/main" id="{87FE247D-BCD8-49C9-AB08-42C204606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504" y="0"/>
            <a:ext cx="3096344" cy="1124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5AA8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5" name="직선 연결선 24">
            <a:extLst xmlns:a="http://schemas.openxmlformats.org/drawingml/2006/main">
              <a:ext uri="{FF2B5EF4-FFF2-40B4-BE49-F238E27FC236}">
                <a16:creationId xmlns:a16="http://schemas.microsoft.com/office/drawing/2014/main" id="{56E72A93-616C-44BF-B205-95E477EF8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356" y="541195"/>
            <a:ext cx="2591728" cy="0"/>
          </a:xfrm>
          <a:prstGeom xmlns:a="http://schemas.openxmlformats.org/drawingml/2006/main" prst="line">
            <a:avLst/>
          </a:prstGeom>
          <a:ln xmlns:a="http://schemas.openxmlformats.org/drawingml/2006/main" w="28575">
            <a:solidFill>
              <a:schemeClr val="bg1">
                <a:lumMod val="95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6" name="직선 연결선 25">
            <a:extLst xmlns:a="http://schemas.openxmlformats.org/drawingml/2006/main">
              <a:ext uri="{FF2B5EF4-FFF2-40B4-BE49-F238E27FC236}">
                <a16:creationId xmlns:a16="http://schemas.microsoft.com/office/drawing/2014/main" id="{072C1394-538A-4BCF-9224-0784E0A04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5856" y="548680"/>
            <a:ext cx="5328592" cy="0"/>
          </a:xfrm>
          <a:prstGeom xmlns:a="http://schemas.openxmlformats.org/drawingml/2006/main" prst="line">
            <a:avLst/>
          </a:prstGeom>
          <a:ln xmlns:a="http://schemas.openxmlformats.org/drawingml/2006/main" w="28575">
            <a:solidFill>
              <a:srgbClr val="3B5AA8"/>
            </a:solidFill>
          </a:ln>
        </p:spPr>
        <p:style>
          <a:lnRef xmlns:a="http://schemas.openxmlformats.org/drawingml/2006/main" idx="1">
            <a:schemeClr val="accent4"/>
          </a:lnRef>
          <a:fillRef xmlns:a="http://schemas.openxmlformats.org/drawingml/2006/main" idx="0">
            <a:schemeClr val="accent4"/>
          </a:fillRef>
          <a:effectRef xmlns:a="http://schemas.openxmlformats.org/drawingml/2006/main" idx="0">
            <a:schemeClr val="accent4"/>
          </a:effectRef>
          <a:fontRef xmlns:a="http://schemas.openxmlformats.org/drawingml/2006/main" idx="minor">
            <a:schemeClr val="tx1"/>
          </a:fontRef>
        </p:style>
      </p:sp>
      <p:sp>
        <p:nvSpPr>
          <p:cNvPr id="27" name="제목 12">
            <a:extLst xmlns:a="http://schemas.openxmlformats.org/drawingml/2006/main">
              <a:ext uri="{FF2B5EF4-FFF2-40B4-BE49-F238E27FC236}">
                <a16:creationId xmlns:a16="http://schemas.microsoft.com/office/drawing/2014/main" id="{99D20B54-FBA0-40C2-B7F4-249D25DD9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528" y="692696"/>
            <a:ext cx="2880320" cy="29663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 defTabSz="91440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 sz="17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defRPr>
            </a:pPr>
            <a:r>
              <a:rPr sz="1700" b="1" i="0" u="none" cap="none" spc="0">
                <a:ln>
                  <a:noFill/>
                </a:ln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화면 설계서</a:t>
            </a:r>
            <a:endParaRPr sz="1700" b="0" i="0" u="none" kern="1200" cap="none" spc="-50" baseline="0">
              <a:ln>
                <a:noFill/>
              </a:ln>
              <a:solidFill>
                <a:schemeClr val="bg1"/>
              </a:solidFill>
              <a:latin typeface="+mn-ea"/>
              <a:ea typeface="+mn-ea"/>
              <a:cs typeface="+mn-ea"/>
            </a:endParaRPr>
          </a:p>
        </p:txBody>
      </p:sp>
      <p:pic>
        <p:nvPicPr>
          <p:cNvPr id="106" name="Pictur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02214353d545cc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676456" y="476671"/>
            <a:ext cx="454960" cy="158965"/>
          </a:xfrm>
          <a:prstGeom xmlns:a="http://schemas.openxmlformats.org/drawingml/2006/main" prst="rect">
            <a:avLst/>
          </a:prstGeom>
          <a:ln xmlns:a="http://schemas.openxmlformats.org/drawingml/2006/main" w="9525">
            <a:noFill/>
            <a:miter/>
          </a:ln>
        </p:spPr>
      </p:pic>
      <p:sp>
        <p:nvSpPr>
          <p:cNvPr id="32" name="막힌 원호 31">
            <a:extLst xmlns:a="http://schemas.openxmlformats.org/drawingml/2006/main">
              <a:ext uri="{FF2B5EF4-FFF2-40B4-BE49-F238E27FC236}">
                <a16:creationId xmlns:a16="http://schemas.microsoft.com/office/drawing/2014/main" id="{9618B776-B49F-4D0C-880D-07488DEBF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-577697" y="-576001"/>
            <a:ext cx="1181047" cy="1167213"/>
          </a:xfrm>
          <a:prstGeom xmlns:a="http://schemas.openxmlformats.org/drawingml/2006/main" prst="blockArc">
            <a:avLst>
              <a:gd name="adj1" fmla="val 16158679"/>
              <a:gd name="adj2" fmla="val 0"/>
              <a:gd name="adj3" fmla="val 25000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solidFill>
                <a:schemeClr val="tx1"/>
              </a:solidFill>
            </a:endParaRP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15AF68F7-7968-435A-9D43-698CF3FC0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38250"/>
            <a:ext cx="8324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24292F"/>
                </a:solidFill>
                <a:latin typeface="맑은 고딕"/>
                <a:ea typeface="맑은 고딕"/>
                <a:cs typeface="맑은 고딕"/>
              </a:defRPr>
            </a:pPr>
            <a:r>
              <a:rPr sz="2100" b="1">
                <a:solidFill>
                  <a:srgbClr val="24292F"/>
                </a:solidFill>
                <a:latin typeface="맑은 고딕"/>
                <a:ea typeface="맑은 고딕"/>
                <a:cs typeface="맑은 고딕"/>
              </a:rPr>
              <a:t>주간 일정 수정과 주간 리뷰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F428410A-4EAD-420E-B052-1A5DBD771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48425"/>
            <a:ext cx="69532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B6570"/>
                </a:solidFill>
                <a:latin typeface="맑은 고딕"/>
                <a:ea typeface="맑은 고딕"/>
                <a:cs typeface="맑은 고딕"/>
              </a:defRPr>
            </a:pPr>
            <a:r>
              <a:rPr sz="900" b="0">
                <a:solidFill>
                  <a:srgbClr val="5B6570"/>
                </a:solidFill>
                <a:latin typeface="맑은 고딕"/>
                <a:ea typeface="맑은 고딕"/>
                <a:cs typeface="맑은 고딕"/>
              </a:rPr>
              <a:t>RE:ACTION  /  제작설계서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5A7F444D-BE81-476D-97B7-F97EFB5EB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6448425"/>
            <a:ext cx="4000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B6570"/>
                </a:solidFill>
                <a:latin typeface="맑은 고딕"/>
                <a:ea typeface="맑은 고딕"/>
                <a:cs typeface="맑은 고딕"/>
              </a:defRPr>
            </a:pPr>
            <a:r>
              <a:rPr sz="900" b="0">
                <a:solidFill>
                  <a:srgbClr val="5B6570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pic>
        <p:nvPicPr>
          <p:cNvPr id="1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6fcd7c099247c0"/>
          <a:stretch xmlns:a="http://schemas.openxmlformats.org/drawingml/2006/main"/>
        </p:blipFill>
        <p:spPr>
          <a:xfrm xmlns:a="http://schemas.openxmlformats.org/drawingml/2006/main">
            <a:off x="445734" y="1819275"/>
            <a:ext cx="2042232" cy="4419600"/>
          </a:xfrm>
          <a:prstGeom xmlns:a="http://schemas.openxmlformats.org/drawingml/2006/main" prst="rect">
            <a:avLst/>
          </a:prstGeom>
        </p:spPr>
      </p:pic>
      <p:pic>
        <p:nvPicPr>
          <p:cNvPr id="1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4ce10a6d6c44dc"/>
          <a:stretch xmlns:a="http://schemas.openxmlformats.org/drawingml/2006/main"/>
        </p:blipFill>
        <p:spPr>
          <a:xfrm xmlns:a="http://schemas.openxmlformats.org/drawingml/2006/main">
            <a:off x="2674584" y="1819275"/>
            <a:ext cx="2042232" cy="4419600"/>
          </a:xfrm>
          <a:prstGeom xmlns:a="http://schemas.openxmlformats.org/drawingml/2006/main" prst="rect">
            <a:avLst/>
          </a:prstGeom>
        </p:spPr>
      </p:pic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25039F18-B23E-43D5-8C32-D5BE7BADD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191250"/>
            <a:ext cx="20955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B6570"/>
                </a:solidFill>
                <a:latin typeface="맑은 고딕"/>
                <a:ea typeface="맑은 고딕"/>
                <a:cs typeface="맑은 고딕"/>
              </a:defRPr>
            </a:pPr>
            <a:r>
              <a:rPr sz="900" b="0">
                <a:solidFill>
                  <a:srgbClr val="5B6570"/>
                </a:solidFill>
                <a:latin typeface="맑은 고딕"/>
                <a:ea typeface="맑은 고딕"/>
                <a:cs typeface="맑은 고딕"/>
              </a:rPr>
              <a:t>① 한 주 일정 확인하고 고치기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BBEA978D-413C-4C59-B15B-E67282505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6191250"/>
            <a:ext cx="20955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B6570"/>
                </a:solidFill>
                <a:latin typeface="맑은 고딕"/>
                <a:ea typeface="맑은 고딕"/>
                <a:cs typeface="맑은 고딕"/>
              </a:defRPr>
            </a:pPr>
            <a:r>
              <a:rPr sz="900" b="0">
                <a:solidFill>
                  <a:srgbClr val="5B6570"/>
                </a:solidFill>
                <a:latin typeface="맑은 고딕"/>
                <a:ea typeface="맑은 고딕"/>
                <a:cs typeface="맑은 고딕"/>
              </a:rPr>
              <a:t>② 실행 기록과 습관 돌아보기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7AECF649-E859-452A-994F-80D199F7D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1876425"/>
            <a:ext cx="37242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3B5AA8"/>
                </a:solidFill>
                <a:latin typeface="맑은 고딕"/>
                <a:ea typeface="맑은 고딕"/>
                <a:cs typeface="맑은 고딕"/>
              </a:defRPr>
            </a:pPr>
            <a:r>
              <a:rPr sz="1650" b="1">
                <a:solidFill>
                  <a:srgbClr val="3B5AA8"/>
                </a:solidFill>
                <a:latin typeface="맑은 고딕"/>
                <a:ea typeface="맑은 고딕"/>
                <a:cs typeface="맑은 고딕"/>
              </a:rPr>
              <a:t>시간표에서 일정을 조정한다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083A7339-5E77-4D01-9F2D-6E689C6A5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2247900"/>
            <a:ext cx="3724275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defRPr>
            </a:pPr>
            <a:r>
              <a:rPr sz="1575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rPr>
              <a:t>주간 달력에서 할 일과 시간을 본다.</a:t>
            </a:r>
          </a:p>
          <a:p xmlns:a="http://schemas.openxmlformats.org/drawingml/2006/main">
            <a:pPr>
              <a:defRPr sz="1575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defRPr>
            </a:pPr>
            <a:r>
              <a:rPr sz="1575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rPr>
              <a:t>블록을 눌러 내용을 고치거나,</a:t>
            </a:r>
          </a:p>
          <a:p xmlns:a="http://schemas.openxmlformats.org/drawingml/2006/main">
            <a:pPr>
              <a:defRPr sz="1575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defRPr>
            </a:pPr>
            <a:r>
              <a:rPr sz="1575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rPr>
              <a:t>끌어서 15분 단위로 시간을 옮긴다.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9D69C6E9-DAFE-454F-BB1F-CC93AB76E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3362325"/>
            <a:ext cx="37242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FEA"/>
          </a:solidFill>
          <a:ln xmlns:a="http://schemas.openxmlformats.org/drawingml/2006/main" w="0">
            <a:noFill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0EAAB4B8-CC35-4C16-B596-628709EC6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3562350"/>
            <a:ext cx="37242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3B5AA8"/>
                </a:solidFill>
                <a:latin typeface="맑은 고딕"/>
                <a:ea typeface="맑은 고딕"/>
                <a:cs typeface="맑은 고딕"/>
              </a:defRPr>
            </a:pPr>
            <a:r>
              <a:rPr sz="1650" b="1">
                <a:solidFill>
                  <a:srgbClr val="3B5AA8"/>
                </a:solidFill>
                <a:latin typeface="맑은 고딕"/>
                <a:ea typeface="맑은 고딕"/>
                <a:cs typeface="맑은 고딕"/>
              </a:rPr>
              <a:t>기록을 보고 다음 실행을 조정한다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BF1098A6-1153-4EE3-925A-04BCAFE4E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3933825"/>
            <a:ext cx="3724275" cy="1038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defRPr>
            </a:pPr>
            <a:r>
              <a:rPr sz="1575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rPr>
              <a:t>주간 실행 결과와 회복 기록을 읽는다.</a:t>
            </a:r>
          </a:p>
          <a:p xmlns:a="http://schemas.openxmlformats.org/drawingml/2006/main">
            <a:pPr>
              <a:defRPr sz="1575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defRPr>
            </a:pPr>
            <a:r>
              <a:rPr sz="1575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rPr>
              <a:t>최근 3주 습관 기록을 바탕으로</a:t>
            </a:r>
          </a:p>
          <a:p xmlns:a="http://schemas.openxmlformats.org/drawingml/2006/main">
            <a:pPr>
              <a:defRPr sz="1575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defRPr>
            </a:pPr>
            <a:r>
              <a:rPr sz="1575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rPr>
              <a:t>횟수 조정 제안을 확인한다.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AB79636C-EFF1-4405-90A9-63655AE73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5000625"/>
            <a:ext cx="37242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3B5AA8"/>
                </a:solidFill>
                <a:latin typeface="맑은 고딕"/>
                <a:ea typeface="맑은 고딕"/>
                <a:cs typeface="맑은 고딕"/>
              </a:defRPr>
            </a:pPr>
            <a:r>
              <a:rPr sz="1650" b="1">
                <a:solidFill>
                  <a:srgbClr val="3B5AA8"/>
                </a:solidFill>
                <a:latin typeface="맑은 고딕"/>
                <a:ea typeface="맑은 고딕"/>
                <a:cs typeface="맑은 고딕"/>
              </a:rPr>
              <a:t>처리 핵심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9CDC3874-4DC6-471B-83EC-69D8B46C8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5362575"/>
            <a:ext cx="37242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defRPr>
            </a:pPr>
            <a:r>
              <a:rPr sz="1500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rPr>
              <a:t>받아온 기록만 통계로 표시한다.</a:t>
            </a:r>
          </a:p>
          <a:p xmlns:a="http://schemas.openxmlformats.org/drawingml/2006/main">
            <a:pPr>
              <a:defRPr sz="1500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defRPr>
            </a:pPr>
            <a:r>
              <a:rPr sz="1500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rPr>
              <a:t>겹치는 일정은 나란히 배치해</a:t>
            </a:r>
          </a:p>
          <a:p xmlns:a="http://schemas.openxmlformats.org/drawingml/2006/main">
            <a:pPr>
              <a:defRPr sz="1500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defRPr>
            </a:pPr>
            <a:r>
              <a:rPr sz="1500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rPr>
              <a:t>같은 시간의 계획을 확인하게 한다.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AD50B2D5-0BE1-4157-B880-E37913D79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61531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B6570"/>
                </a:solidFill>
                <a:latin typeface="맑은 고딕"/>
                <a:ea typeface="맑은 고딕"/>
                <a:cs typeface="맑은 고딕"/>
              </a:defRPr>
            </a:pPr>
            <a:r>
              <a:rPr sz="900" b="0">
                <a:solidFill>
                  <a:srgbClr val="5B6570"/>
                </a:solidFill>
                <a:latin typeface="맑은 고딕"/>
                <a:ea typeface="맑은 고딕"/>
                <a:cs typeface="맑은 고딕"/>
              </a:rPr>
              <a:t>화면의 일정과 수치는 시연용 예시입니다.</a:t>
            </a:r>
          </a:p>
        </p:txBody>
      </p:sp>
    </p:spTree>
    <p:extLst>
      <p:ext uri="{BB962C8B-B14F-4D97-AF65-F5344CB8AC3E}">
        <p14:creationId xmlns:p14="http://schemas.microsoft.com/office/powerpoint/2010/main" val="3195766679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직사각형 23">
            <a:extLst xmlns:a="http://schemas.openxmlformats.org/drawingml/2006/main">
              <a:ext uri="{FF2B5EF4-FFF2-40B4-BE49-F238E27FC236}">
                <a16:creationId xmlns:a16="http://schemas.microsoft.com/office/drawing/2014/main" id="{87FE247D-BCD8-49C9-AB08-42C204606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504" y="0"/>
            <a:ext cx="3096344" cy="1124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5AA8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5" name="직선 연결선 24">
            <a:extLst xmlns:a="http://schemas.openxmlformats.org/drawingml/2006/main">
              <a:ext uri="{FF2B5EF4-FFF2-40B4-BE49-F238E27FC236}">
                <a16:creationId xmlns:a16="http://schemas.microsoft.com/office/drawing/2014/main" id="{56E72A93-616C-44BF-B205-95E477EF8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356" y="541195"/>
            <a:ext cx="2591728" cy="0"/>
          </a:xfrm>
          <a:prstGeom xmlns:a="http://schemas.openxmlformats.org/drawingml/2006/main" prst="line">
            <a:avLst/>
          </a:prstGeom>
          <a:ln xmlns:a="http://schemas.openxmlformats.org/drawingml/2006/main" w="28575">
            <a:solidFill>
              <a:schemeClr val="bg1">
                <a:lumMod val="95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6" name="직선 연결선 25">
            <a:extLst xmlns:a="http://schemas.openxmlformats.org/drawingml/2006/main">
              <a:ext uri="{FF2B5EF4-FFF2-40B4-BE49-F238E27FC236}">
                <a16:creationId xmlns:a16="http://schemas.microsoft.com/office/drawing/2014/main" id="{072C1394-538A-4BCF-9224-0784E0A04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5856" y="548680"/>
            <a:ext cx="5328592" cy="0"/>
          </a:xfrm>
          <a:prstGeom xmlns:a="http://schemas.openxmlformats.org/drawingml/2006/main" prst="line">
            <a:avLst/>
          </a:prstGeom>
          <a:ln xmlns:a="http://schemas.openxmlformats.org/drawingml/2006/main" w="28575">
            <a:solidFill>
              <a:srgbClr val="3B5AA8"/>
            </a:solidFill>
          </a:ln>
        </p:spPr>
        <p:style>
          <a:lnRef xmlns:a="http://schemas.openxmlformats.org/drawingml/2006/main" idx="1">
            <a:schemeClr val="accent4"/>
          </a:lnRef>
          <a:fillRef xmlns:a="http://schemas.openxmlformats.org/drawingml/2006/main" idx="0">
            <a:schemeClr val="accent4"/>
          </a:fillRef>
          <a:effectRef xmlns:a="http://schemas.openxmlformats.org/drawingml/2006/main" idx="0">
            <a:schemeClr val="accent4"/>
          </a:effectRef>
          <a:fontRef xmlns:a="http://schemas.openxmlformats.org/drawingml/2006/main" idx="minor">
            <a:schemeClr val="tx1"/>
          </a:fontRef>
        </p:style>
      </p:sp>
      <p:sp>
        <p:nvSpPr>
          <p:cNvPr id="27" name="제목 12">
            <a:extLst xmlns:a="http://schemas.openxmlformats.org/drawingml/2006/main">
              <a:ext uri="{FF2B5EF4-FFF2-40B4-BE49-F238E27FC236}">
                <a16:creationId xmlns:a16="http://schemas.microsoft.com/office/drawing/2014/main" id="{99D20B54-FBA0-40C2-B7F4-249D25DD9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528" y="692696"/>
            <a:ext cx="2880320" cy="29663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 defTabSz="91440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 sz="17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defRPr>
            </a:pPr>
            <a:r>
              <a:rPr sz="1700" b="1" i="0" u="none" cap="none" spc="0">
                <a:ln>
                  <a:noFill/>
                </a:ln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화면 설계서</a:t>
            </a:r>
            <a:endParaRPr sz="1700" b="0" i="0" u="none" kern="1200" cap="none" spc="-50" baseline="0">
              <a:ln>
                <a:noFill/>
              </a:ln>
              <a:solidFill>
                <a:schemeClr val="bg1"/>
              </a:solidFill>
              <a:latin typeface="+mn-ea"/>
              <a:ea typeface="+mn-ea"/>
              <a:cs typeface="+mn-ea"/>
            </a:endParaRPr>
          </a:p>
        </p:txBody>
      </p:sp>
      <p:pic>
        <p:nvPicPr>
          <p:cNvPr id="106" name="Pictur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c3fc08806142a0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676456" y="476671"/>
            <a:ext cx="454960" cy="158965"/>
          </a:xfrm>
          <a:prstGeom xmlns:a="http://schemas.openxmlformats.org/drawingml/2006/main" prst="rect">
            <a:avLst/>
          </a:prstGeom>
          <a:ln xmlns:a="http://schemas.openxmlformats.org/drawingml/2006/main" w="9525">
            <a:noFill/>
            <a:miter/>
          </a:ln>
        </p:spPr>
      </p:pic>
      <p:sp>
        <p:nvSpPr>
          <p:cNvPr id="32" name="막힌 원호 31">
            <a:extLst xmlns:a="http://schemas.openxmlformats.org/drawingml/2006/main">
              <a:ext uri="{FF2B5EF4-FFF2-40B4-BE49-F238E27FC236}">
                <a16:creationId xmlns:a16="http://schemas.microsoft.com/office/drawing/2014/main" id="{9618B776-B49F-4D0C-880D-07488DEBF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-577697" y="-576001"/>
            <a:ext cx="1181047" cy="1167213"/>
          </a:xfrm>
          <a:prstGeom xmlns:a="http://schemas.openxmlformats.org/drawingml/2006/main" prst="blockArc">
            <a:avLst>
              <a:gd name="adj1" fmla="val 16158679"/>
              <a:gd name="adj2" fmla="val 0"/>
              <a:gd name="adj3" fmla="val 25000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solidFill>
                <a:schemeClr val="tx1"/>
              </a:solidFill>
            </a:endParaRP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36E26F35-ECAB-4F8B-A652-2326B3656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38250"/>
            <a:ext cx="8324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24292F"/>
                </a:solidFill>
                <a:latin typeface="맑은 고딕"/>
                <a:ea typeface="맑은 고딕"/>
                <a:cs typeface="맑은 고딕"/>
              </a:defRPr>
            </a:pPr>
            <a:r>
              <a:rPr sz="2100" b="1">
                <a:solidFill>
                  <a:srgbClr val="24292F"/>
                </a:solidFill>
                <a:latin typeface="맑은 고딕"/>
                <a:ea typeface="맑은 고딕"/>
                <a:cs typeface="맑은 고딕"/>
              </a:rPr>
              <a:t>인박스 기록을 목표와 할 일로 전환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25FCFA80-C1F6-4CBF-871A-E0F112516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48425"/>
            <a:ext cx="69532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B6570"/>
                </a:solidFill>
                <a:latin typeface="맑은 고딕"/>
                <a:ea typeface="맑은 고딕"/>
                <a:cs typeface="맑은 고딕"/>
              </a:defRPr>
            </a:pPr>
            <a:r>
              <a:rPr sz="900" b="0">
                <a:solidFill>
                  <a:srgbClr val="5B6570"/>
                </a:solidFill>
                <a:latin typeface="맑은 고딕"/>
                <a:ea typeface="맑은 고딕"/>
                <a:cs typeface="맑은 고딕"/>
              </a:rPr>
              <a:t>RE:ACTION  /  제작설계서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34931A9D-B750-4556-A72F-2380470F5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6448425"/>
            <a:ext cx="4000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B6570"/>
                </a:solidFill>
                <a:latin typeface="맑은 고딕"/>
                <a:ea typeface="맑은 고딕"/>
                <a:cs typeface="맑은 고딕"/>
              </a:defRPr>
            </a:pPr>
            <a:r>
              <a:rPr sz="900" b="0">
                <a:solidFill>
                  <a:srgbClr val="5B6570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pic>
        <p:nvPicPr>
          <p:cNvPr id="1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974b5e71e046e4"/>
          <a:stretch xmlns:a="http://schemas.openxmlformats.org/drawingml/2006/main"/>
        </p:blipFill>
        <p:spPr>
          <a:xfrm xmlns:a="http://schemas.openxmlformats.org/drawingml/2006/main">
            <a:off x="594455" y="1809750"/>
            <a:ext cx="2068640" cy="4476750"/>
          </a:xfrm>
          <a:prstGeom xmlns:a="http://schemas.openxmlformats.org/drawingml/2006/main" prst="rect">
            <a:avLst/>
          </a:prstGeom>
        </p:spPr>
      </p:pic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D4EC5755-25C3-453B-B86F-E84BCD282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00775"/>
            <a:ext cx="25527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B6570"/>
                </a:solidFill>
                <a:latin typeface="맑은 고딕"/>
                <a:ea typeface="맑은 고딕"/>
                <a:cs typeface="맑은 고딕"/>
              </a:defRPr>
            </a:pPr>
            <a:r>
              <a:rPr sz="900" b="0">
                <a:solidFill>
                  <a:srgbClr val="5B6570"/>
                </a:solidFill>
                <a:latin typeface="맑은 고딕"/>
                <a:ea typeface="맑은 고딕"/>
                <a:cs typeface="맑은 고딕"/>
              </a:rPr>
              <a:t>기록과 자료를 모아두는 인박스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4199E707-25F8-4786-8599-C9D3DF42E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7075" y="1866900"/>
            <a:ext cx="54006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3B5AA8"/>
                </a:solidFill>
                <a:latin typeface="맑은 고딕"/>
                <a:ea typeface="맑은 고딕"/>
                <a:cs typeface="맑은 고딕"/>
              </a:defRPr>
            </a:pPr>
            <a:r>
              <a:rPr sz="1650" b="1">
                <a:solidFill>
                  <a:srgbClr val="3B5AA8"/>
                </a:solidFill>
                <a:latin typeface="맑은 고딕"/>
                <a:ea typeface="맑은 고딕"/>
                <a:cs typeface="맑은 고딕"/>
              </a:rPr>
              <a:t>떠오른 생각은 먼저 적어둔다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79A2D0B7-75A7-4F58-A890-DF74BE514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7075" y="2238375"/>
            <a:ext cx="540067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defRPr>
            </a:pPr>
            <a:r>
              <a:rPr sz="1650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rPr>
              <a:t>메모와 자료를 인박스에 저장하고 분류한다.</a:t>
            </a:r>
          </a:p>
          <a:p xmlns:a="http://schemas.openxmlformats.org/drawingml/2006/main">
            <a:pPr>
              <a:defRPr sz="1650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defRPr>
            </a:pPr>
            <a:r>
              <a:rPr sz="1650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rPr>
              <a:t>아직 실행할 필요가 없는 내용도 지우지 않고</a:t>
            </a:r>
          </a:p>
          <a:p xmlns:a="http://schemas.openxmlformats.org/drawingml/2006/main">
            <a:pPr>
              <a:defRPr sz="1650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defRPr>
            </a:pPr>
            <a:r>
              <a:rPr sz="1650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rPr>
              <a:t>보관했다가 다시 꺼낼 수 있다.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FC91E57F-7F77-4B72-BE63-6039C1C86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7075" y="3600450"/>
            <a:ext cx="15525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A"/>
          </a:solidFill>
          <a:ln xmlns:a="http://schemas.openxmlformats.org/drawingml/2006/main" w="9525">
            <a:solidFill>
              <a:srgbClr val="3B5AA8"/>
            </a:solidFill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4292F"/>
                </a:solidFill>
                <a:latin typeface="맑은 고딕"/>
                <a:ea typeface="맑은 고딕"/>
                <a:cs typeface="맑은 고딕"/>
              </a:defRPr>
            </a:pPr>
            <a:r>
              <a:rPr sz="1650" b="1">
                <a:solidFill>
                  <a:srgbClr val="24292F"/>
                </a:solidFill>
                <a:latin typeface="맑은 고딕"/>
                <a:ea typeface="맑은 고딕"/>
                <a:cs typeface="맑은 고딕"/>
              </a:rPr>
              <a:t>원문 기록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8FDCF781-200E-4ED6-82EB-9FF081609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91175" y="3257550"/>
            <a:ext cx="1447800" cy="542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A"/>
          </a:solidFill>
          <a:ln xmlns:a="http://schemas.openxmlformats.org/drawingml/2006/main" w="9525">
            <a:solidFill>
              <a:srgbClr val="3B5AA8"/>
            </a:solidFill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defRPr>
            </a:pPr>
            <a:r>
              <a:rPr sz="1650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rPr>
              <a:t>목표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32188CB5-4739-4314-92D5-D1ACA03BB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91175" y="4105275"/>
            <a:ext cx="1447800" cy="542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A"/>
          </a:solidFill>
          <a:ln xmlns:a="http://schemas.openxmlformats.org/drawingml/2006/main" w="9525">
            <a:solidFill>
              <a:srgbClr val="3B5AA8"/>
            </a:solidFill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defRPr>
            </a:pPr>
            <a:r>
              <a:rPr sz="1650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rPr>
              <a:t>할 일</a:t>
            </a:r>
          </a:p>
        </p:txBody>
      </p:sp>
      <p:cxnSp>
        <p:nvCxnSpPr>
          <p:cNvPr id="118" name=""/>
          <p:cNvCxnSpPr>
            <a:stCxn xmlns:a="http://schemas.openxmlformats.org/drawingml/2006/main" id="94" idx="3"/>
            <a:endCxn xmlns:a="http://schemas.openxmlformats.org/drawingml/2006/main" id="95" idx="1"/>
          </p:cNvCxnSpPr>
          <p:nvPr/>
        </p:nvCxnSpPr>
        <p:spPr>
          <a:xfrm xmlns:a="http://schemas.openxmlformats.org/drawingml/2006/main" flipV="1">
            <a:off x="4819650" y="3529013"/>
            <a:ext cx="771525" cy="385763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4288">
            <a:solidFill>
              <a:srgbClr val="3B5AA8"/>
            </a:solidFill>
            <a:tailEnd type="triangle" w="med" len="med"/>
          </a:ln>
        </p:spPr>
      </p:cxnSp>
      <p:cxnSp>
        <p:nvCxnSpPr>
          <p:cNvPr id="119" name=""/>
          <p:cNvCxnSpPr>
            <a:stCxn xmlns:a="http://schemas.openxmlformats.org/drawingml/2006/main" id="94" idx="3"/>
            <a:endCxn xmlns:a="http://schemas.openxmlformats.org/drawingml/2006/main" id="96" idx="1"/>
          </p:cNvCxnSpPr>
          <p:nvPr/>
        </p:nvCxnSpPr>
        <p:spPr>
          <a:xfrm xmlns:a="http://schemas.openxmlformats.org/drawingml/2006/main">
            <a:off x="4819650" y="3914775"/>
            <a:ext cx="771525" cy="461963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4288">
            <a:solidFill>
              <a:srgbClr val="3B5AA8"/>
            </a:solidFill>
            <a:tailEnd type="triangle" w="med" len="med"/>
          </a:ln>
        </p:spPr>
      </p:cxn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187DD68B-9710-434C-B98B-EDEC58D04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7075" y="5105400"/>
            <a:ext cx="54006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3B5AA8"/>
                </a:solidFill>
                <a:latin typeface="맑은 고딕"/>
                <a:ea typeface="맑은 고딕"/>
                <a:cs typeface="맑은 고딕"/>
              </a:defRPr>
            </a:pPr>
            <a:r>
              <a:rPr sz="1650" b="1">
                <a:solidFill>
                  <a:srgbClr val="3B5AA8"/>
                </a:solidFill>
                <a:latin typeface="맑은 고딕"/>
                <a:ea typeface="맑은 고딕"/>
                <a:cs typeface="맑은 고딕"/>
              </a:rPr>
              <a:t>필요한 내용만 실행에 사용한다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DB894234-E54B-4556-8DBC-552FCA2DB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7075" y="5476875"/>
            <a:ext cx="54006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defRPr>
            </a:pPr>
            <a:r>
              <a:rPr sz="1575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rPr>
              <a:t>기록 상세에서 목표나 할 일로 전환한다.</a:t>
            </a:r>
          </a:p>
          <a:p xmlns:a="http://schemas.openxmlformats.org/drawingml/2006/main">
            <a:pPr>
              <a:defRPr sz="1575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defRPr>
            </a:pPr>
            <a:r>
              <a:rPr sz="1575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rPr>
              <a:t>자료는 필요한 단계를 골라 오늘 할 일에 넣는다.</a:t>
            </a:r>
          </a:p>
          <a:p xmlns:a="http://schemas.openxmlformats.org/drawingml/2006/main">
            <a:pPr>
              <a:defRPr sz="1575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defRPr>
            </a:pPr>
            <a:r>
              <a:rPr sz="1575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rPr>
              <a:t>전환 뒤에도 원문을 남겨 맥락을 확인할 수 있다.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8AD2B12E-418D-41AE-B17C-05A99A730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7075" y="6200775"/>
            <a:ext cx="54006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B6570"/>
                </a:solidFill>
                <a:latin typeface="맑은 고딕"/>
                <a:ea typeface="맑은 고딕"/>
                <a:cs typeface="맑은 고딕"/>
              </a:defRPr>
            </a:pPr>
            <a:r>
              <a:rPr sz="900" b="0">
                <a:solidFill>
                  <a:srgbClr val="5B6570"/>
                </a:solidFill>
                <a:latin typeface="맑은 고딕"/>
                <a:ea typeface="맑은 고딕"/>
                <a:cs typeface="맑은 고딕"/>
              </a:rPr>
              <a:t>화면의 일정과 수치는 시연용 예시입니다.</a:t>
            </a:r>
          </a:p>
        </p:txBody>
      </p:sp>
    </p:spTree>
    <p:extLst>
      <p:ext uri="{BB962C8B-B14F-4D97-AF65-F5344CB8AC3E}">
        <p14:creationId xmlns:p14="http://schemas.microsoft.com/office/powerpoint/2010/main" val="3195766679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직사각형 23">
            <a:extLst xmlns:a="http://schemas.openxmlformats.org/drawingml/2006/main">
              <a:ext uri="{FF2B5EF4-FFF2-40B4-BE49-F238E27FC236}">
                <a16:creationId xmlns:a16="http://schemas.microsoft.com/office/drawing/2014/main" id="{87FE247D-BCD8-49C9-AB08-42C204606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504" y="0"/>
            <a:ext cx="3096344" cy="1124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5AA8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5" name="직선 연결선 24">
            <a:extLst xmlns:a="http://schemas.openxmlformats.org/drawingml/2006/main">
              <a:ext uri="{FF2B5EF4-FFF2-40B4-BE49-F238E27FC236}">
                <a16:creationId xmlns:a16="http://schemas.microsoft.com/office/drawing/2014/main" id="{56E72A93-616C-44BF-B205-95E477EF8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356" y="541195"/>
            <a:ext cx="2591728" cy="0"/>
          </a:xfrm>
          <a:prstGeom xmlns:a="http://schemas.openxmlformats.org/drawingml/2006/main" prst="line">
            <a:avLst/>
          </a:prstGeom>
          <a:ln xmlns:a="http://schemas.openxmlformats.org/drawingml/2006/main" w="28575">
            <a:solidFill>
              <a:schemeClr val="bg1">
                <a:lumMod val="95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6" name="직선 연결선 25">
            <a:extLst xmlns:a="http://schemas.openxmlformats.org/drawingml/2006/main">
              <a:ext uri="{FF2B5EF4-FFF2-40B4-BE49-F238E27FC236}">
                <a16:creationId xmlns:a16="http://schemas.microsoft.com/office/drawing/2014/main" id="{072C1394-538A-4BCF-9224-0784E0A04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5856" y="548680"/>
            <a:ext cx="5328592" cy="0"/>
          </a:xfrm>
          <a:prstGeom xmlns:a="http://schemas.openxmlformats.org/drawingml/2006/main" prst="line">
            <a:avLst/>
          </a:prstGeom>
          <a:ln xmlns:a="http://schemas.openxmlformats.org/drawingml/2006/main" w="28575">
            <a:solidFill>
              <a:srgbClr val="3B5AA8"/>
            </a:solidFill>
          </a:ln>
        </p:spPr>
        <p:style>
          <a:lnRef xmlns:a="http://schemas.openxmlformats.org/drawingml/2006/main" idx="1">
            <a:schemeClr val="accent4"/>
          </a:lnRef>
          <a:fillRef xmlns:a="http://schemas.openxmlformats.org/drawingml/2006/main" idx="0">
            <a:schemeClr val="accent4"/>
          </a:fillRef>
          <a:effectRef xmlns:a="http://schemas.openxmlformats.org/drawingml/2006/main" idx="0">
            <a:schemeClr val="accent4"/>
          </a:effectRef>
          <a:fontRef xmlns:a="http://schemas.openxmlformats.org/drawingml/2006/main" idx="minor">
            <a:schemeClr val="tx1"/>
          </a:fontRef>
        </p:style>
      </p:sp>
      <p:sp>
        <p:nvSpPr>
          <p:cNvPr id="27" name="제목 12">
            <a:extLst xmlns:a="http://schemas.openxmlformats.org/drawingml/2006/main">
              <a:ext uri="{FF2B5EF4-FFF2-40B4-BE49-F238E27FC236}">
                <a16:creationId xmlns:a16="http://schemas.microsoft.com/office/drawing/2014/main" id="{99D20B54-FBA0-40C2-B7F4-249D25DD9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528" y="692696"/>
            <a:ext cx="2880320" cy="29663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 defTabSz="91440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 sz="17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defRPr>
            </a:pPr>
            <a:r>
              <a:rPr sz="1700" b="1" i="0" u="none" cap="none" spc="0">
                <a:ln>
                  <a:noFill/>
                </a:ln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프론트엔드 설계</a:t>
            </a:r>
            <a:endParaRPr sz="1700" b="0" i="0" u="none" kern="1200" cap="none" spc="-50" baseline="0">
              <a:ln>
                <a:noFill/>
              </a:ln>
              <a:solidFill>
                <a:schemeClr val="bg1"/>
              </a:solidFill>
              <a:latin typeface="+mn-ea"/>
              <a:ea typeface="+mn-ea"/>
              <a:cs typeface="+mn-ea"/>
            </a:endParaRPr>
          </a:p>
        </p:txBody>
      </p:sp>
      <p:pic>
        <p:nvPicPr>
          <p:cNvPr id="104" name="Pictur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68f58a5de84651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676456" y="476671"/>
            <a:ext cx="454960" cy="158965"/>
          </a:xfrm>
          <a:prstGeom xmlns:a="http://schemas.openxmlformats.org/drawingml/2006/main" prst="rect">
            <a:avLst/>
          </a:prstGeom>
          <a:ln xmlns:a="http://schemas.openxmlformats.org/drawingml/2006/main" w="9525">
            <a:noFill/>
            <a:miter/>
          </a:ln>
        </p:spPr>
      </p:pic>
      <p:sp>
        <p:nvSpPr>
          <p:cNvPr id="32" name="막힌 원호 31">
            <a:extLst xmlns:a="http://schemas.openxmlformats.org/drawingml/2006/main">
              <a:ext uri="{FF2B5EF4-FFF2-40B4-BE49-F238E27FC236}">
                <a16:creationId xmlns:a16="http://schemas.microsoft.com/office/drawing/2014/main" id="{9618B776-B49F-4D0C-880D-07488DEBF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-577697" y="-576001"/>
            <a:ext cx="1181047" cy="1167213"/>
          </a:xfrm>
          <a:prstGeom xmlns:a="http://schemas.openxmlformats.org/drawingml/2006/main" prst="blockArc">
            <a:avLst>
              <a:gd name="adj1" fmla="val 16158679"/>
              <a:gd name="adj2" fmla="val 0"/>
              <a:gd name="adj3" fmla="val 25000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solidFill>
                <a:schemeClr val="tx1"/>
              </a:solidFill>
            </a:endParaRP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9EB52429-89D2-42F7-92B5-2F10CE0D2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38250"/>
            <a:ext cx="8324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24292F"/>
                </a:solidFill>
                <a:latin typeface="맑은 고딕"/>
                <a:ea typeface="맑은 고딕"/>
                <a:cs typeface="맑은 고딕"/>
              </a:defRPr>
            </a:pPr>
            <a:r>
              <a:rPr sz="2100" b="1">
                <a:solidFill>
                  <a:srgbClr val="24292F"/>
                </a:solidFill>
                <a:latin typeface="맑은 고딕"/>
                <a:ea typeface="맑은 고딕"/>
                <a:cs typeface="맑은 고딕"/>
              </a:rPr>
              <a:t>화면이 바뀌어도 입력과 실행 기록을 유지한다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F156CEF2-7B92-45B5-96B9-4294C606B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48425"/>
            <a:ext cx="69532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B6570"/>
                </a:solidFill>
                <a:latin typeface="맑은 고딕"/>
                <a:ea typeface="맑은 고딕"/>
                <a:cs typeface="맑은 고딕"/>
              </a:defRPr>
            </a:pPr>
            <a:r>
              <a:rPr sz="900" b="0">
                <a:solidFill>
                  <a:srgbClr val="5B6570"/>
                </a:solidFill>
                <a:latin typeface="맑은 고딕"/>
                <a:ea typeface="맑은 고딕"/>
                <a:cs typeface="맑은 고딕"/>
              </a:rPr>
              <a:t>RE:ACTION  /  제작설계서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75DE86DD-2929-4843-A1B2-44EF531DF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6448425"/>
            <a:ext cx="4000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B6570"/>
                </a:solidFill>
                <a:latin typeface="맑은 고딕"/>
                <a:ea typeface="맑은 고딕"/>
                <a:cs typeface="맑은 고딕"/>
              </a:defRPr>
            </a:pPr>
            <a:r>
              <a:rPr sz="900" b="0">
                <a:solidFill>
                  <a:srgbClr val="5B6570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B0888E0C-6FFF-47AD-B76B-51195B7E5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028825"/>
            <a:ext cx="18859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A"/>
          </a:solidFill>
          <a:ln xmlns:a="http://schemas.openxmlformats.org/drawingml/2006/main" w="9525">
            <a:solidFill>
              <a:srgbClr val="3B5AA8"/>
            </a:solidFill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24292F"/>
                </a:solidFill>
                <a:latin typeface="맑은 고딕"/>
                <a:ea typeface="맑은 고딕"/>
                <a:cs typeface="맑은 고딕"/>
              </a:defRPr>
            </a:pPr>
            <a:r>
              <a:rPr sz="1725" b="1">
                <a:solidFill>
                  <a:srgbClr val="24292F"/>
                </a:solidFill>
                <a:latin typeface="맑은 고딕"/>
                <a:ea typeface="맑은 고딕"/>
                <a:cs typeface="맑은 고딕"/>
              </a:rPr>
              <a:t>입력과 초안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4DFCFCF0-EA65-4674-9595-95E87807F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028825"/>
            <a:ext cx="18859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A"/>
          </a:solidFill>
          <a:ln xmlns:a="http://schemas.openxmlformats.org/drawingml/2006/main" w="9525">
            <a:solidFill>
              <a:srgbClr val="3B5AA8"/>
            </a:solidFill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24292F"/>
                </a:solidFill>
                <a:latin typeface="맑은 고딕"/>
                <a:ea typeface="맑은 고딕"/>
                <a:cs typeface="맑은 고딕"/>
              </a:defRPr>
            </a:pPr>
            <a:r>
              <a:rPr sz="1725" b="1">
                <a:solidFill>
                  <a:srgbClr val="24292F"/>
                </a:solidFill>
                <a:latin typeface="맑은 고딕"/>
                <a:ea typeface="맑은 고딕"/>
                <a:cs typeface="맑은 고딕"/>
              </a:rPr>
              <a:t>사용자 확인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5CD2B2B5-CF88-4FF6-BD6E-9A79424B3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028825"/>
            <a:ext cx="18859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A"/>
          </a:solidFill>
          <a:ln xmlns:a="http://schemas.openxmlformats.org/drawingml/2006/main" w="9525">
            <a:solidFill>
              <a:srgbClr val="3B5AA8"/>
            </a:solidFill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24292F"/>
                </a:solidFill>
                <a:latin typeface="맑은 고딕"/>
                <a:ea typeface="맑은 고딕"/>
                <a:cs typeface="맑은 고딕"/>
              </a:defRPr>
            </a:pPr>
            <a:r>
              <a:rPr sz="1725" b="1">
                <a:solidFill>
                  <a:srgbClr val="24292F"/>
                </a:solidFill>
                <a:latin typeface="맑은 고딕"/>
                <a:ea typeface="맑은 고딕"/>
                <a:cs typeface="맑은 고딕"/>
              </a:rPr>
              <a:t>저장 요청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A4A32AA2-42E4-48B4-951C-3C4B71C02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028825"/>
            <a:ext cx="18859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A"/>
          </a:solidFill>
          <a:ln xmlns:a="http://schemas.openxmlformats.org/drawingml/2006/main" w="9525">
            <a:solidFill>
              <a:srgbClr val="3B5AA8"/>
            </a:solidFill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24292F"/>
                </a:solidFill>
                <a:latin typeface="맑은 고딕"/>
                <a:ea typeface="맑은 고딕"/>
                <a:cs typeface="맑은 고딕"/>
              </a:defRPr>
            </a:pPr>
            <a:r>
              <a:rPr sz="1725" b="1">
                <a:solidFill>
                  <a:srgbClr val="24292F"/>
                </a:solidFill>
                <a:latin typeface="맑은 고딕"/>
                <a:ea typeface="맑은 고딕"/>
                <a:cs typeface="맑은 고딕"/>
              </a:rPr>
              <a:t>완료 화면</a:t>
            </a:r>
          </a:p>
        </p:txBody>
      </p:sp>
      <p:cxnSp>
        <p:nvCxnSpPr>
          <p:cNvPr id="113" name=""/>
          <p:cNvCxnSpPr>
            <a:stCxn xmlns:a="http://schemas.openxmlformats.org/drawingml/2006/main" id="90" idx="3"/>
            <a:endCxn xmlns:a="http://schemas.openxmlformats.org/drawingml/2006/main" id="91" idx="1"/>
          </p:cNvCxnSpPr>
          <p:nvPr/>
        </p:nvCxnSpPr>
        <p:spPr>
          <a:xfrm xmlns:a="http://schemas.openxmlformats.org/drawingml/2006/main">
            <a:off x="2305050" y="2324100"/>
            <a:ext cx="24765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3B5AA8"/>
            </a:solidFill>
            <a:tailEnd type="triangle" w="med" len="med"/>
          </a:ln>
        </p:spPr>
      </p:cxnSp>
      <p:cxnSp>
        <p:nvCxnSpPr>
          <p:cNvPr id="114" name=""/>
          <p:cNvCxnSpPr>
            <a:stCxn xmlns:a="http://schemas.openxmlformats.org/drawingml/2006/main" id="91" idx="3"/>
            <a:endCxn xmlns:a="http://schemas.openxmlformats.org/drawingml/2006/main" id="92" idx="1"/>
          </p:cNvCxnSpPr>
          <p:nvPr/>
        </p:nvCxnSpPr>
        <p:spPr>
          <a:xfrm xmlns:a="http://schemas.openxmlformats.org/drawingml/2006/main">
            <a:off x="4438650" y="2324100"/>
            <a:ext cx="24765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3B5AA8"/>
            </a:solidFill>
            <a:tailEnd type="triangle" w="med" len="med"/>
          </a:ln>
        </p:spPr>
      </p:cxnSp>
      <p:cxnSp>
        <p:nvCxnSpPr>
          <p:cNvPr id="115" name=""/>
          <p:cNvCxnSpPr>
            <a:stCxn xmlns:a="http://schemas.openxmlformats.org/drawingml/2006/main" id="92" idx="3"/>
            <a:endCxn xmlns:a="http://schemas.openxmlformats.org/drawingml/2006/main" id="93" idx="1"/>
          </p:cNvCxnSpPr>
          <p:nvPr/>
        </p:nvCxnSpPr>
        <p:spPr>
          <a:xfrm xmlns:a="http://schemas.openxmlformats.org/drawingml/2006/main">
            <a:off x="6572250" y="2324100"/>
            <a:ext cx="24765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3B5AA8"/>
            </a:solidFill>
            <a:tailEnd type="triangle" w="med" len="med"/>
          </a:ln>
        </p:spPr>
      </p:cxn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448CC66E-E396-4197-9CCE-FA92741DC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781300"/>
            <a:ext cx="1962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3B5AA8"/>
                </a:solidFill>
                <a:latin typeface="맑은 고딕"/>
                <a:ea typeface="맑은 고딕"/>
                <a:cs typeface="맑은 고딕"/>
              </a:defRPr>
            </a:pPr>
            <a:r>
              <a:rPr sz="1275" b="0">
                <a:solidFill>
                  <a:srgbClr val="3B5AA8"/>
                </a:solidFill>
                <a:latin typeface="맑은 고딕"/>
                <a:ea typeface="맑은 고딕"/>
                <a:cs typeface="맑은 고딕"/>
              </a:rPr>
              <a:t>저장 성공 후 이동</a:t>
            </a:r>
          </a:p>
        </p:txBody>
      </p:sp>
      <p:graphicFrame>
        <p:nvGraphicFramePr>
          <p:cNvPr id="117" name=""/>
          <p:cNvGraphicFramePr/>
          <p:nvPr/>
        </p:nvGraphicFramePr>
        <p:xfrm>
          <a:off xmlns:a="http://schemas.openxmlformats.org/drawingml/2006/main" x="419100" y="3324225"/>
          <a:ext xmlns:a="http://schemas.openxmlformats.org/drawingml/2006/main" cx="8305800" cy="251460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114550"/>
                <a:gridCol w="6191250"/>
              </a:tblGrid>
              <a:tr h="400050">
                <a:tc>
                  <a:txBody>
                    <a:bodyPr wrap="square">
                      <a:noAutofit/>
                    </a:bodyPr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처리 기준</a:t>
                      </a:r>
                    </a:p>
                  </a:txBody>
                  <a:tcPr marL="91440" marR="91440" marT="45720" marB="45720">
                    <a:solidFill>
                      <a:srgbClr val="3B5AA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화면에서 지키는 동작</a:t>
                      </a:r>
                    </a:p>
                  </a:txBody>
                  <a:tcPr marL="91440" marR="91440" marT="45720" marB="45720">
                    <a:solidFill>
                      <a:srgbClr val="3B5AA8"/>
                    </a:solidFill>
                  </a:tcPr>
                </a:tc>
              </a:tr>
              <a:tr h="704850">
                <a:tc>
                  <a:txBody>
                    <a:bodyPr wrap="square">
                      <a:noAutofit/>
                    </a:bodyPr>
                    <a:lstStyle/>
                    <a:p>
                      <a:r>
                        <a:rPr sz="1500" b="1">
                          <a:solidFill>
                            <a:srgbClr val="24292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생성과 승인을 분리</a:t>
                      </a:r>
                    </a:p>
                  </a:txBody>
                  <a:tcPr marL="91440" marR="91440" marT="45720" marB="45720">
                    <a:solidFill>
                      <a:srgbClr val="F1F4FA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r>
                        <a:rPr sz="1500" b="0">
                          <a:solidFill>
                            <a:srgbClr val="24292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계획이나 회복안을 만들었다고 바로 확정하지 않는다.</a:t>
                      </a:r>
                    </a:p>
                    <a:p>
                      <a:r>
                        <a:rPr sz="1500" b="0">
                          <a:solidFill>
                            <a:srgbClr val="24292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사용자가 내용을 확인하고 승인한 뒤 반영한다.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04850">
                <a:tc>
                  <a:txBody>
                    <a:bodyPr wrap="square">
                      <a:noAutofit/>
                    </a:bodyPr>
                    <a:lstStyle/>
                    <a:p>
                      <a:r>
                        <a:rPr sz="1500" b="1">
                          <a:solidFill>
                            <a:srgbClr val="24292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실행 번호 유지</a:t>
                      </a:r>
                    </a:p>
                  </a:txBody>
                  <a:tcPr marL="91440" marR="91440" marT="45720" marB="45720">
                    <a:solidFill>
                      <a:srgbClr val="F1F4FA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r>
                        <a:rPr sz="1500" b="0">
                          <a:solidFill>
                            <a:srgbClr val="24292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실행 번호를 집중, 결과 기록, 회복에서 함께 사용한다.</a:t>
                      </a:r>
                    </a:p>
                    <a:p>
                      <a:r>
                        <a:rPr sz="1500" b="0">
                          <a:solidFill>
                            <a:srgbClr val="24292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회복 화면에 다시 들어와도 새 실패 기록을 만들지 않는다.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04850">
                <a:tc>
                  <a:txBody>
                    <a:bodyPr wrap="square">
                      <a:noAutofit/>
                    </a:bodyPr>
                    <a:lstStyle/>
                    <a:p>
                      <a:r>
                        <a:rPr sz="1500" b="1">
                          <a:solidFill>
                            <a:srgbClr val="24292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실패하면 상태를 유지</a:t>
                      </a:r>
                    </a:p>
                  </a:txBody>
                  <a:tcPr marL="91440" marR="91440" marT="45720" marB="45720">
                    <a:solidFill>
                      <a:srgbClr val="F1F4FA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r>
                        <a:rPr sz="1500" b="0">
                          <a:solidFill>
                            <a:srgbClr val="24292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초안과 입력을 유지하고 다시 시도할 수 있게 한다.</a:t>
                      </a:r>
                    </a:p>
                    <a:p>
                      <a:r>
                        <a:rPr sz="1500" b="0">
                          <a:solidFill>
                            <a:srgbClr val="24292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회복 승인 재시도에는 같은 실행 번호의 요청 키를 쓴다.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7EDD873E-AF57-4F99-A059-0C6D74DAF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096000"/>
            <a:ext cx="828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3B5AA8"/>
                </a:solidFill>
                <a:latin typeface="맑은 고딕"/>
                <a:ea typeface="맑은 고딕"/>
                <a:cs typeface="맑은 고딕"/>
              </a:defRPr>
            </a:pPr>
            <a:r>
              <a:rPr sz="1650" b="1">
                <a:solidFill>
                  <a:srgbClr val="3B5AA8"/>
                </a:solidFill>
                <a:latin typeface="맑은 고딕"/>
                <a:ea typeface="맑은 고딕"/>
                <a:cs typeface="맑은 고딕"/>
              </a:rPr>
              <a:t>핵심은 화면 전환보다 저장 결과를 먼저 확인하는 것이다.</a:t>
            </a:r>
          </a:p>
        </p:txBody>
      </p:sp>
    </p:spTree>
    <p:extLst>
      <p:ext uri="{BB962C8B-B14F-4D97-AF65-F5344CB8AC3E}">
        <p14:creationId xmlns:p14="http://schemas.microsoft.com/office/powerpoint/2010/main" val="3195766679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직사각형 23">
            <a:extLst xmlns:a="http://schemas.openxmlformats.org/drawingml/2006/main">
              <a:ext uri="{FF2B5EF4-FFF2-40B4-BE49-F238E27FC236}">
                <a16:creationId xmlns:a16="http://schemas.microsoft.com/office/drawing/2014/main" id="{87FE247D-BCD8-49C9-AB08-42C204606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504" y="0"/>
            <a:ext cx="3096344" cy="1124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5AA8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5" name="직선 연결선 24">
            <a:extLst xmlns:a="http://schemas.openxmlformats.org/drawingml/2006/main">
              <a:ext uri="{FF2B5EF4-FFF2-40B4-BE49-F238E27FC236}">
                <a16:creationId xmlns:a16="http://schemas.microsoft.com/office/drawing/2014/main" id="{56E72A93-616C-44BF-B205-95E477EF8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356" y="541195"/>
            <a:ext cx="2591728" cy="0"/>
          </a:xfrm>
          <a:prstGeom xmlns:a="http://schemas.openxmlformats.org/drawingml/2006/main" prst="line">
            <a:avLst/>
          </a:prstGeom>
          <a:ln xmlns:a="http://schemas.openxmlformats.org/drawingml/2006/main" w="28575">
            <a:solidFill>
              <a:schemeClr val="bg1">
                <a:lumMod val="95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6" name="직선 연결선 25">
            <a:extLst xmlns:a="http://schemas.openxmlformats.org/drawingml/2006/main">
              <a:ext uri="{FF2B5EF4-FFF2-40B4-BE49-F238E27FC236}">
                <a16:creationId xmlns:a16="http://schemas.microsoft.com/office/drawing/2014/main" id="{072C1394-538A-4BCF-9224-0784E0A04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5856" y="548680"/>
            <a:ext cx="5328592" cy="0"/>
          </a:xfrm>
          <a:prstGeom xmlns:a="http://schemas.openxmlformats.org/drawingml/2006/main" prst="line">
            <a:avLst/>
          </a:prstGeom>
          <a:ln xmlns:a="http://schemas.openxmlformats.org/drawingml/2006/main" w="28575">
            <a:solidFill>
              <a:srgbClr val="3B5AA8"/>
            </a:solidFill>
          </a:ln>
        </p:spPr>
        <p:style>
          <a:lnRef xmlns:a="http://schemas.openxmlformats.org/drawingml/2006/main" idx="1">
            <a:schemeClr val="accent4"/>
          </a:lnRef>
          <a:fillRef xmlns:a="http://schemas.openxmlformats.org/drawingml/2006/main" idx="0">
            <a:schemeClr val="accent4"/>
          </a:fillRef>
          <a:effectRef xmlns:a="http://schemas.openxmlformats.org/drawingml/2006/main" idx="0">
            <a:schemeClr val="accent4"/>
          </a:effectRef>
          <a:fontRef xmlns:a="http://schemas.openxmlformats.org/drawingml/2006/main" idx="minor">
            <a:schemeClr val="tx1"/>
          </a:fontRef>
        </p:style>
      </p:sp>
      <p:sp>
        <p:nvSpPr>
          <p:cNvPr id="27" name="제목 12">
            <a:extLst xmlns:a="http://schemas.openxmlformats.org/drawingml/2006/main">
              <a:ext uri="{FF2B5EF4-FFF2-40B4-BE49-F238E27FC236}">
                <a16:creationId xmlns:a16="http://schemas.microsoft.com/office/drawing/2014/main" id="{99D20B54-FBA0-40C2-B7F4-249D25DD9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528" y="692696"/>
            <a:ext cx="2880320" cy="29663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 defTabSz="91440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 sz="17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defRPr>
            </a:pPr>
            <a:r>
              <a:rPr sz="1700" b="1" i="0" u="none" cap="none" spc="0">
                <a:ln>
                  <a:noFill/>
                </a:ln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구현 범위</a:t>
            </a:r>
            <a:endParaRPr sz="1700" b="0" i="0" u="none" kern="1200" cap="none" spc="-50" baseline="0">
              <a:ln>
                <a:noFill/>
              </a:ln>
              <a:solidFill>
                <a:schemeClr val="bg1"/>
              </a:solidFill>
              <a:latin typeface="+mn-ea"/>
              <a:ea typeface="+mn-ea"/>
              <a:cs typeface="+mn-ea"/>
            </a:endParaRPr>
          </a:p>
        </p:txBody>
      </p:sp>
      <p:pic>
        <p:nvPicPr>
          <p:cNvPr id="98" name="Pictur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f6c01316da4a0c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676456" y="476671"/>
            <a:ext cx="454960" cy="158965"/>
          </a:xfrm>
          <a:prstGeom xmlns:a="http://schemas.openxmlformats.org/drawingml/2006/main" prst="rect">
            <a:avLst/>
          </a:prstGeom>
          <a:ln xmlns:a="http://schemas.openxmlformats.org/drawingml/2006/main" w="9525">
            <a:noFill/>
            <a:miter/>
          </a:ln>
        </p:spPr>
      </p:pic>
      <p:sp>
        <p:nvSpPr>
          <p:cNvPr id="32" name="막힌 원호 31">
            <a:extLst xmlns:a="http://schemas.openxmlformats.org/drawingml/2006/main">
              <a:ext uri="{FF2B5EF4-FFF2-40B4-BE49-F238E27FC236}">
                <a16:creationId xmlns:a16="http://schemas.microsoft.com/office/drawing/2014/main" id="{9618B776-B49F-4D0C-880D-07488DEBF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-577697" y="-576001"/>
            <a:ext cx="1181047" cy="1167213"/>
          </a:xfrm>
          <a:prstGeom xmlns:a="http://schemas.openxmlformats.org/drawingml/2006/main" prst="blockArc">
            <a:avLst>
              <a:gd name="adj1" fmla="val 16158679"/>
              <a:gd name="adj2" fmla="val 0"/>
              <a:gd name="adj3" fmla="val 25000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solidFill>
                <a:schemeClr val="tx1"/>
              </a:solidFill>
            </a:endParaRP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ADB8ABB9-2581-400D-8258-3EEBD1C82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38250"/>
            <a:ext cx="8324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24292F"/>
                </a:solidFill>
                <a:latin typeface="맑은 고딕"/>
                <a:ea typeface="맑은 고딕"/>
                <a:cs typeface="맑은 고딕"/>
              </a:defRPr>
            </a:pPr>
            <a:r>
              <a:rPr sz="2100" b="1">
                <a:solidFill>
                  <a:srgbClr val="24292F"/>
                </a:solidFill>
                <a:latin typeface="맑은 고딕"/>
                <a:ea typeface="맑은 고딕"/>
                <a:cs typeface="맑은 고딕"/>
              </a:rPr>
              <a:t>보조 기능과 아직 완성하지 않은 부분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DB38DE3F-D1A5-46DA-8585-2F31ACFB7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48425"/>
            <a:ext cx="69532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B6570"/>
                </a:solidFill>
                <a:latin typeface="맑은 고딕"/>
                <a:ea typeface="맑은 고딕"/>
                <a:cs typeface="맑은 고딕"/>
              </a:defRPr>
            </a:pPr>
            <a:r>
              <a:rPr sz="900" b="0">
                <a:solidFill>
                  <a:srgbClr val="5B6570"/>
                </a:solidFill>
                <a:latin typeface="맑은 고딕"/>
                <a:ea typeface="맑은 고딕"/>
                <a:cs typeface="맑은 고딕"/>
              </a:rPr>
              <a:t>RE:ACTION  /  제작설계서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B67EB88F-E8D6-4094-A798-922F5D5B1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6448425"/>
            <a:ext cx="4000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B6570"/>
                </a:solidFill>
                <a:latin typeface="맑은 고딕"/>
                <a:ea typeface="맑은 고딕"/>
                <a:cs typeface="맑은 고딕"/>
              </a:defRPr>
            </a:pPr>
            <a:r>
              <a:rPr sz="900" b="0">
                <a:solidFill>
                  <a:srgbClr val="5B6570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45BEFC30-92E6-4BC8-8E0C-83346E7EA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828800"/>
            <a:ext cx="8305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3B5AA8"/>
                </a:solidFill>
                <a:latin typeface="맑은 고딕"/>
                <a:ea typeface="맑은 고딕"/>
                <a:cs typeface="맑은 고딕"/>
              </a:defRPr>
            </a:pPr>
            <a:r>
              <a:rPr sz="1650" b="1">
                <a:solidFill>
                  <a:srgbClr val="3B5AA8"/>
                </a:solidFill>
                <a:latin typeface="맑은 고딕"/>
                <a:ea typeface="맑은 고딕"/>
                <a:cs typeface="맑은 고딕"/>
              </a:rPr>
              <a:t>함께 제공하는 기능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6CA8CCF0-CDA0-41C2-AA18-A602F0E6D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247900"/>
            <a:ext cx="83058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defRPr>
            </a:pPr>
            <a:r>
              <a:rPr sz="1575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rPr>
              <a:t>생활 시간과 고정 일정 설정, 목표 재인터뷰, 습관 관리, 저녁 체크인, 내 정보.</a:t>
            </a:r>
          </a:p>
          <a:p xmlns:a="http://schemas.openxmlformats.org/drawingml/2006/main">
            <a:pPr>
              <a:defRPr sz="1575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defRPr>
            </a:pPr>
            <a:r>
              <a:rPr sz="1575" b="0">
                <a:solidFill>
                  <a:srgbClr val="24292F"/>
                </a:solidFill>
                <a:latin typeface="맑은 고딕"/>
                <a:ea typeface="맑은 고딕"/>
                <a:cs typeface="맑은 고딕"/>
              </a:rPr>
              <a:t>생활 조건을 계획에 반영하고, 목표와 실행 기록을 계속 관리한다.</a:t>
            </a:r>
          </a:p>
        </p:txBody>
      </p:sp>
      <p:graphicFrame>
        <p:nvGraphicFramePr>
          <p:cNvPr id="105" name=""/>
          <p:cNvGraphicFramePr/>
          <p:nvPr/>
        </p:nvGraphicFramePr>
        <p:xfrm>
          <a:off xmlns:a="http://schemas.openxmlformats.org/drawingml/2006/main" x="419100" y="3286125"/>
          <a:ext xmlns:a="http://schemas.openxmlformats.org/drawingml/2006/main" cx="8305800" cy="251460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114550"/>
                <a:gridCol w="6191250"/>
              </a:tblGrid>
              <a:tr h="400050">
                <a:tc>
                  <a:txBody>
                    <a:bodyPr wrap="square">
                      <a:noAutofit/>
                    </a:bodyPr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91440" marR="91440" marT="45720" marB="45720">
                    <a:solidFill>
                      <a:srgbClr val="3B5AA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남아 있는 기능</a:t>
                      </a:r>
                    </a:p>
                  </a:txBody>
                  <a:tcPr marL="91440" marR="91440" marT="45720" marB="45720">
                    <a:solidFill>
                      <a:srgbClr val="3B5AA8"/>
                    </a:solidFill>
                  </a:tcPr>
                </a:tc>
              </a:tr>
              <a:tr h="704850">
                <a:tc>
                  <a:txBody>
                    <a:bodyPr wrap="square">
                      <a:noAutofit/>
                    </a:bodyPr>
                    <a:lstStyle/>
                    <a:p>
                      <a:r>
                        <a:rPr sz="1500" b="1">
                          <a:solidFill>
                            <a:srgbClr val="24292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자료와 계획 수정</a:t>
                      </a:r>
                    </a:p>
                  </a:txBody>
                  <a:tcPr marL="91440" marR="91440" marT="45720" marB="45720">
                    <a:solidFill>
                      <a:srgbClr val="F1F4FA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r>
                        <a:rPr sz="1500" b="0">
                          <a:solidFill>
                            <a:srgbClr val="24292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도서와 영상을 단계별로 고르는 화면,</a:t>
                      </a:r>
                    </a:p>
                    <a:p>
                      <a:r>
                        <a:rPr sz="1500" b="0">
                          <a:solidFill>
                            <a:srgbClr val="24292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대화로 이미 만든 계획을 수정하는 기능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04850">
                <a:tc>
                  <a:txBody>
                    <a:bodyPr wrap="square">
                      <a:noAutofit/>
                    </a:bodyPr>
                    <a:lstStyle/>
                    <a:p>
                      <a:r>
                        <a:rPr sz="1500" b="1">
                          <a:solidFill>
                            <a:srgbClr val="24292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일정과 후속 계획</a:t>
                      </a:r>
                    </a:p>
                  </a:txBody>
                  <a:tcPr marL="91440" marR="91440" marT="45720" marB="45720">
                    <a:solidFill>
                      <a:srgbClr val="F1F4FA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r>
                        <a:rPr sz="1500" b="0">
                          <a:solidFill>
                            <a:srgbClr val="24292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달력에서 일정 삭제와 끝난 목표 정리,</a:t>
                      </a:r>
                    </a:p>
                    <a:p>
                      <a:r>
                        <a:rPr sz="1500" b="0">
                          <a:solidFill>
                            <a:srgbClr val="24292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만다라트 재구성 전 확인과 다음 2주 계획 흐름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04850">
                <a:tc>
                  <a:txBody>
                    <a:bodyPr wrap="square">
                      <a:noAutofit/>
                    </a:bodyPr>
                    <a:lstStyle/>
                    <a:p>
                      <a:r>
                        <a:rPr sz="1500" b="1">
                          <a:solidFill>
                            <a:srgbClr val="24292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설정과 외부 연동</a:t>
                      </a:r>
                    </a:p>
                  </a:txBody>
                  <a:tcPr marL="91440" marR="91440" marT="45720" marB="45720">
                    <a:solidFill>
                      <a:srgbClr val="F1F4FA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r>
                        <a:rPr sz="1500" b="0">
                          <a:solidFill>
                            <a:srgbClr val="24292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서버가 아직 지원하지 않는 설정 저장,</a:t>
                      </a:r>
                    </a:p>
                    <a:p>
                      <a:r>
                        <a:rPr sz="1500" b="0">
                          <a:solidFill>
                            <a:srgbClr val="24292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네이티브 푸시와 Google 캘린더 실제 연동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E4FC2C97-121C-4D50-9B46-F4C4D40B5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105525"/>
            <a:ext cx="830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B6570"/>
                </a:solidFill>
                <a:latin typeface="맑은 고딕"/>
                <a:ea typeface="맑은 고딕"/>
                <a:cs typeface="맑은 고딕"/>
              </a:defRPr>
            </a:pPr>
            <a:r>
              <a:rPr sz="1425" b="0">
                <a:solidFill>
                  <a:srgbClr val="5B6570"/>
                </a:solidFill>
                <a:latin typeface="맑은 고딕"/>
                <a:ea typeface="맑은 고딕"/>
                <a:cs typeface="맑은 고딕"/>
              </a:rPr>
              <a:t>위 항목은 아직 사용할 수 없거나, 전체 사용 흐름이 완성되지 않았다.</a:t>
            </a:r>
          </a:p>
        </p:txBody>
      </p:sp>
    </p:spTree>
    <p:extLst>
      <p:ext uri="{BB962C8B-B14F-4D97-AF65-F5344CB8AC3E}">
        <p14:creationId xmlns:p14="http://schemas.microsoft.com/office/powerpoint/2010/main" val="3195766679"/>
      </p:ext>
    </p:extLst>
  </p:cSld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2026-09-05T07:05:17.3580000Z</dcterms:created>
  <dcterms:modified xsi:type="dcterms:W3CDTF">2026-09-05T07:05:17.3580000Z</dcterms:modified>
</coreProperties>
</file>